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34072" y="-1280160"/>
            <a:ext cx="6035040" cy="6035040"/>
          </a:xfrm>
          <a:prstGeom prst="ellipse">
            <a:avLst/>
          </a:prstGeom>
          <a:solidFill>
            <a:srgbClr val="2E86AB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897112" y="2377440"/>
            <a:ext cx="4754880" cy="4754880"/>
          </a:xfrm>
          <a:prstGeom prst="ellipse">
            <a:avLst/>
          </a:prstGeom>
          <a:solidFill>
            <a:srgbClr val="F2A541">
              <a:alpha val="12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9202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8–9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2450592"/>
            <a:ext cx="2011680" cy="0"/>
          </a:xfrm>
          <a:prstGeom prst="line">
            <a:avLst/>
          </a:prstGeom>
          <a:noFill/>
          <a:ln w="25400">
            <a:solidFill>
              <a:srgbClr val="F2A54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2606040"/>
            <a:ext cx="8046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Software Testing and Evolution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4348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Verifying a system, then keeping it healthy after delivery — and how both feed structured prompts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CSCE 5565 — Software Engineering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 and Contents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1091672" cy="0"/>
          </a:xfrm>
          <a:prstGeom prst="line">
            <a:avLst/>
          </a:prstGeom>
          <a:noFill/>
          <a:ln w="19050">
            <a:solidFill>
              <a:srgbClr val="2E86A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Chapters 8–9 — Testing and Evolution   •   Overview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188720"/>
            <a:ext cx="5317236" cy="457200"/>
          </a:xfrm>
          <a:prstGeom prst="rect">
            <a:avLst/>
          </a:prstGeom>
          <a:solidFill>
            <a:srgbClr val="EAF2F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188720"/>
            <a:ext cx="53172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323076" y="1188720"/>
            <a:ext cx="5317236" cy="457200"/>
          </a:xfrm>
          <a:prstGeom prst="rect">
            <a:avLst/>
          </a:prstGeom>
          <a:solidFill>
            <a:srgbClr val="EAF2F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323076" y="1188720"/>
            <a:ext cx="53172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Contents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1783080"/>
            <a:ext cx="5317236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5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Design test cases with partitions, boundaries and guidelines</a:t>
            </a:r>
            <a:endParaRPr lang="en-US" sz="15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Distinguish development, release and user testing; apply TDD</a:t>
            </a:r>
            <a:endParaRPr lang="en-US" sz="15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Explain why software evolves and how change is processed</a:t>
            </a:r>
            <a:endParaRPr lang="en-US" sz="15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Apply Lehman’s laws and the three types of maintenance</a:t>
            </a:r>
            <a:endParaRPr lang="en-US" sz="15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Choose between refactoring, reengineering and replacement</a:t>
            </a:r>
            <a:endParaRPr lang="en-US" sz="15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Turn both chapters into prompt-ready inputs, steps and checks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6323076" y="1783080"/>
            <a:ext cx="5317236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5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Chapter 8: Software testing</a:t>
            </a:r>
            <a:endParaRPr lang="en-US" sz="15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   Development, TDD, release and user testing</a:t>
            </a:r>
            <a:endParaRPr lang="en-US" sz="15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Chapter 9: Software evolution</a:t>
            </a:r>
            <a:endParaRPr lang="en-US" sz="15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   Processes, laws, maintenance, legacy systems</a:t>
            </a:r>
            <a:endParaRPr lang="en-US" sz="15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Prompt view: pipeline, mapping, verification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Testing and Evolution Fit in the Prompt Pipeline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1091672" cy="0"/>
          </a:xfrm>
          <a:prstGeom prst="line">
            <a:avLst/>
          </a:prstGeom>
          <a:noFill/>
          <a:ln w="19050">
            <a:solidFill>
              <a:srgbClr val="2E86A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Chapters 8–9 — Testing and Evolution   •   Overview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188720"/>
            <a:ext cx="4023360" cy="457200"/>
          </a:xfrm>
          <a:prstGeom prst="rect">
            <a:avLst/>
          </a:prstGeom>
          <a:solidFill>
            <a:srgbClr val="EAF2F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1887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Inputs this phase works from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406640" y="1188720"/>
            <a:ext cx="4023360" cy="457200"/>
          </a:xfrm>
          <a:prstGeom prst="rect">
            <a:avLst/>
          </a:prstGeom>
          <a:solidFill>
            <a:srgbClr val="EAF2F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406640" y="11887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Artifacts this phase produces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1828800"/>
            <a:ext cx="402336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Requirements and use cases (Ch 4)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Models, architecture and design (Chs 5–7)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Code and components built so far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Change requests and bug reports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Regression suite and release history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7406640" y="1828800"/>
            <a:ext cx="402336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Test plan, test cases, automated tests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Defect and test-result reports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Impact analysis and release plan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Refactored or reengineered code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Legacy-system decision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937760" y="2926080"/>
            <a:ext cx="2103120" cy="1554480"/>
          </a:xfrm>
          <a:prstGeom prst="roundRect">
            <a:avLst>
              <a:gd name="adj" fmla="val 5882"/>
            </a:avLst>
          </a:prstGeom>
          <a:solidFill>
            <a:srgbClr val="1B2A4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937760" y="2926080"/>
            <a:ext cx="2103120" cy="15544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 →  EVOLVE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4590288" y="3703320"/>
            <a:ext cx="329184" cy="9144"/>
          </a:xfrm>
          <a:prstGeom prst="line">
            <a:avLst/>
          </a:prstGeom>
          <a:noFill/>
          <a:ln w="19050">
            <a:solidFill>
              <a:srgbClr val="2E86AB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059168" y="3703320"/>
            <a:ext cx="329184" cy="9144"/>
          </a:xfrm>
          <a:prstGeom prst="line">
            <a:avLst/>
          </a:prstGeom>
          <a:noFill/>
          <a:ln w="19050">
            <a:solidFill>
              <a:srgbClr val="2E86AB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3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37744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7200" dirty="0"/>
          </a:p>
        </p:txBody>
      </p:sp>
      <p:sp>
        <p:nvSpPr>
          <p:cNvPr id="3" name="Shape 1"/>
          <p:cNvSpPr/>
          <p:nvPr/>
        </p:nvSpPr>
        <p:spPr>
          <a:xfrm>
            <a:off x="548640" y="3611880"/>
            <a:ext cx="2194560" cy="0"/>
          </a:xfrm>
          <a:prstGeom prst="line">
            <a:avLst/>
          </a:prstGeom>
          <a:noFill/>
          <a:ln w="25400">
            <a:solidFill>
              <a:srgbClr val="F2A54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379476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Software Testing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7091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it works, and find where it does not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Chapters 8–9 — Testing and Evolution   •   Software Testing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Goals of Testing; Verification vs. Validation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1091672" cy="0"/>
          </a:xfrm>
          <a:prstGeom prst="line">
            <a:avLst/>
          </a:prstGeom>
          <a:noFill/>
          <a:ln w="19050">
            <a:solidFill>
              <a:srgbClr val="2E86A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Chapters 8–9 — Testing and Evolution   •   Ch 8 Testing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234440"/>
            <a:ext cx="11091672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Two goals</a:t>
            </a:r>
            <a:endParaRPr lang="en-US" sz="1600" dirty="0"/>
          </a:p>
          <a:p>
            <a:pPr lvl="1" indent="0" marL="0">
              <a:spcAft>
                <a:spcPts val="300"/>
              </a:spcAft>
              <a:buNone/>
            </a:pPr>
            <a:r>
              <a:rPr lang="en-US" sz="14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–  Validation testing: show the software meets its requirements</a:t>
            </a:r>
            <a:endParaRPr lang="en-US" sz="16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14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–  Defect testing: expose incorrect or undesirable behavior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Testing shows the presence of defects, never their absence (Dijkstra)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Verification: “Are we building the product right?” — conforms to the spec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Validation: “Are we building the right product?” — meets real expectations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How much testing? Depends on purpose, user expectations and the market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Inspections (static) find different defects than testing (dynamic); neither replaces the other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Inspections vs. Testing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1091672" cy="0"/>
          </a:xfrm>
          <a:prstGeom prst="line">
            <a:avLst/>
          </a:prstGeom>
          <a:noFill/>
          <a:ln w="19050">
            <a:solidFill>
              <a:srgbClr val="2E86A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Chapters 8–9 — Testing and Evolution   •   Ch 8 Testing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188720"/>
            <a:ext cx="5317236" cy="457200"/>
          </a:xfrm>
          <a:prstGeom prst="rect">
            <a:avLst/>
          </a:prstGeom>
          <a:solidFill>
            <a:srgbClr val="EAF2F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188720"/>
            <a:ext cx="53172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Inspections (static, no execution)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323076" y="1188720"/>
            <a:ext cx="5317236" cy="457200"/>
          </a:xfrm>
          <a:prstGeom prst="rect">
            <a:avLst/>
          </a:prstGeom>
          <a:solidFill>
            <a:srgbClr val="EAF2F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323076" y="1188720"/>
            <a:ext cx="53172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(dynamic, executes the code)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1783080"/>
            <a:ext cx="5317236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5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Errors cannot mask one another</a:t>
            </a:r>
            <a:endParaRPr lang="en-US" sz="15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Work on incomplete versions at no extra cost</a:t>
            </a:r>
            <a:endParaRPr lang="en-US" sz="15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Also check standards, portability, maintainability</a:t>
            </a:r>
            <a:endParaRPr lang="en-US" sz="15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Informal inspections can find over 60% of defects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6323076" y="1783080"/>
            <a:ext cx="5317236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5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Finds unexpected interactions between parts</a:t>
            </a:r>
            <a:endParaRPr lang="en-US" sz="15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Finds timing and performance problems</a:t>
            </a:r>
            <a:endParaRPr lang="en-US" sz="15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Cannot be replaced by inspection</a:t>
            </a:r>
            <a:endParaRPr lang="en-US" sz="15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Test cases = inputs + expected outputs; execution can be automated</a:t>
            </a:r>
            <a:endParaRPr lang="en-US" sz="1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Stages of Testing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1091672" cy="0"/>
          </a:xfrm>
          <a:prstGeom prst="line">
            <a:avLst/>
          </a:prstGeom>
          <a:noFill/>
          <a:ln w="19050">
            <a:solidFill>
              <a:srgbClr val="2E86A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Chapters 8–9 — Testing and Evolution   •   Ch 8 Testing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604772"/>
            <a:ext cx="585216" cy="585216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60477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362456" y="1234440"/>
            <a:ext cx="27432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Development testing</a:t>
            </a:r>
            <a:endParaRPr lang="en-US" sz="1650" dirty="0"/>
          </a:p>
        </p:txBody>
      </p:sp>
      <p:sp>
        <p:nvSpPr>
          <p:cNvPr id="9" name="Text 7"/>
          <p:cNvSpPr txBox="1"/>
          <p:nvPr/>
        </p:nvSpPr>
        <p:spPr>
          <a:xfrm>
            <a:off x="4288536" y="1234440"/>
            <a:ext cx="735177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development team: unit (objects, methods), component (interfaces) and system (integration, interactions).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548640" y="2930652"/>
            <a:ext cx="585216" cy="585216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293065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362456" y="2560320"/>
            <a:ext cx="27432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Release testing</a:t>
            </a:r>
            <a:endParaRPr lang="en-US" sz="1650" dirty="0"/>
          </a:p>
        </p:txBody>
      </p:sp>
      <p:sp>
        <p:nvSpPr>
          <p:cNvPr id="13" name="Text 11"/>
          <p:cNvSpPr txBox="1"/>
          <p:nvPr/>
        </p:nvSpPr>
        <p:spPr>
          <a:xfrm>
            <a:off x="4288536" y="2560320"/>
            <a:ext cx="735177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a separate team: is the complete release good enough for external use? Black-box, validation-focused.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548640" y="4256532"/>
            <a:ext cx="585216" cy="585216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42565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362456" y="3886200"/>
            <a:ext cx="27432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testing</a:t>
            </a:r>
            <a:endParaRPr lang="en-US" sz="1650" dirty="0"/>
          </a:p>
        </p:txBody>
      </p:sp>
      <p:sp>
        <p:nvSpPr>
          <p:cNvPr id="17" name="Text 15"/>
          <p:cNvSpPr txBox="1"/>
          <p:nvPr/>
        </p:nvSpPr>
        <p:spPr>
          <a:xfrm>
            <a:off x="4288536" y="3886200"/>
            <a:ext cx="735177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users or customers in their own environment: alpha, beta and acceptance testing.</a:t>
            </a:r>
            <a:endParaRPr lang="en-US" sz="1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Unit Testing: Automated Tests and Mocks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1091672" cy="0"/>
          </a:xfrm>
          <a:prstGeom prst="line">
            <a:avLst/>
          </a:prstGeom>
          <a:noFill/>
          <a:ln w="19050">
            <a:solidFill>
              <a:srgbClr val="2E86A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Chapters 8–9 — Testing and Evolution   •   Ch 8 Testing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31520" y="1280160"/>
            <a:ext cx="3200400" cy="1280160"/>
          </a:xfrm>
          <a:prstGeom prst="roundRect">
            <a:avLst>
              <a:gd name="adj" fmla="val 4286"/>
            </a:avLst>
          </a:prstGeom>
          <a:solidFill>
            <a:srgbClr val="EAF2FB"/>
          </a:solidFill>
          <a:ln w="15875">
            <a:solidFill>
              <a:srgbClr val="2E86A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280160"/>
            <a:ext cx="3200400" cy="12801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Setup</a:t>
            </a:r>
            <a:endParaRPr lang="en-US" sz="16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Initialize with the test inputs and expected result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968496" y="1920240"/>
            <a:ext cx="566928" cy="9144"/>
          </a:xfrm>
          <a:prstGeom prst="line">
            <a:avLst/>
          </a:prstGeom>
          <a:noFill/>
          <a:ln w="19050">
            <a:solidFill>
              <a:srgbClr val="2E86AB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572000" y="1280160"/>
            <a:ext cx="3200400" cy="1280160"/>
          </a:xfrm>
          <a:prstGeom prst="roundRect">
            <a:avLst>
              <a:gd name="adj" fmla="val 4286"/>
            </a:avLst>
          </a:prstGeom>
          <a:solidFill>
            <a:srgbClr val="EAF2FB"/>
          </a:solidFill>
          <a:ln w="15875">
            <a:solidFill>
              <a:srgbClr val="2E86A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0" y="1280160"/>
            <a:ext cx="3200400" cy="12801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Call</a:t>
            </a:r>
            <a:endParaRPr lang="en-US" sz="16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the object or method under test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808976" y="1920240"/>
            <a:ext cx="566928" cy="9144"/>
          </a:xfrm>
          <a:prstGeom prst="line">
            <a:avLst/>
          </a:prstGeom>
          <a:noFill/>
          <a:ln w="19050">
            <a:solidFill>
              <a:srgbClr val="2E86AB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8412480" y="1280160"/>
            <a:ext cx="3200400" cy="1280160"/>
          </a:xfrm>
          <a:prstGeom prst="roundRect">
            <a:avLst>
              <a:gd name="adj" fmla="val 4286"/>
            </a:avLst>
          </a:prstGeom>
          <a:solidFill>
            <a:srgbClr val="EAF2FB"/>
          </a:solidFill>
          <a:ln w="15875">
            <a:solidFill>
              <a:srgbClr val="2E86A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412480" y="1280160"/>
            <a:ext cx="3200400" cy="12801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Assertion</a:t>
            </a:r>
            <a:endParaRPr lang="en-US" sz="16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actual with expected: pass or fail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3017520"/>
            <a:ext cx="11091672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Test every operation, every attribute, and every state of an object; inheritance means re-testing in subclasses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Use an automation framework (JUnit, pytest) and mock objects for collaborators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Choose cases from partitions and guidelines so tests reveal defects, not just confirm normal use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Partition, Boundary and Guideline Testing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1091672" cy="0"/>
          </a:xfrm>
          <a:prstGeom prst="line">
            <a:avLst/>
          </a:prstGeom>
          <a:noFill/>
          <a:ln w="19050">
            <a:solidFill>
              <a:srgbClr val="2E86A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Chapters 8–9 — Testing and Evolution   •   Ch 8 Testing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188720"/>
            <a:ext cx="1109167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5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Group inputs into partitions the program treats alike; test the boundaries and the midpoint</a:t>
            </a:r>
            <a:endParaRPr lang="en-US" sz="15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Boundaries are atypical, so developers miss them and failures cluster there</a:t>
            </a:r>
            <a:endParaRPr lang="en-US" sz="15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Guidelines: single-value sequences, varied sizes, first/middle/last elements; force every error message, overflow buffers, repeat inputs</a:t>
            </a:r>
            <a:endParaRPr lang="en-US" sz="15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383280"/>
          <a:ext cx="11091672" cy="914400"/>
        </p:xfrm>
        <a:graphic>
          <a:graphicData uri="http://schemas.openxmlformats.org/drawingml/2006/table">
            <a:tbl>
              <a:tblPr/>
              <a:tblGrid>
                <a:gridCol w="4389120"/>
                <a:gridCol w="3657600"/>
                <a:gridCol w="3044952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Example: 4–10 inputs, values 10000–99999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6A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Partitions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6A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values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6A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2230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 of inputs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230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&lt;4  /  4–10  /  &gt;10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230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3, 4, 7, 10, 11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2230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 values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230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&lt;10000  /  10000–99999  /  &gt;99999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230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9999, 10000, 50000, 99999, 100000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48640" y="5120640"/>
            <a:ext cx="11091672" cy="731520"/>
          </a:xfrm>
          <a:prstGeom prst="rect">
            <a:avLst/>
          </a:prstGeom>
          <a:solidFill>
            <a:srgbClr val="FBE3BC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5120640"/>
            <a:ext cx="82296" cy="731520"/>
          </a:xfrm>
          <a:prstGeom prst="rect">
            <a:avLst/>
          </a:prstGeom>
          <a:solidFill>
            <a:srgbClr val="F2A541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77240" y="5120640"/>
            <a:ext cx="107259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Black-box partitions come from the spec; add white-box “exception partitions” found by reading the code.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Component (Interface) Testing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1091672" cy="0"/>
          </a:xfrm>
          <a:prstGeom prst="line">
            <a:avLst/>
          </a:prstGeom>
          <a:noFill/>
          <a:ln w="19050">
            <a:solidFill>
              <a:srgbClr val="2E86A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Chapters 8–9 — Testing and Evolution   •   Ch 8 Testing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234440"/>
            <a:ext cx="11091672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Test the composite component through its interface; assume unit tests of the parts are done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Four interface types</a:t>
            </a:r>
            <a:endParaRPr lang="en-US" sz="16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14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–  Parameter, shared memory, procedural, message passing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Three error classes</a:t>
            </a:r>
            <a:endParaRPr lang="en-US" sz="16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14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–  Misuse (wrong type/order), misunderstanding (wrong assumptions), timing (stale data)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Guidelines</a:t>
            </a:r>
            <a:endParaRPr lang="en-US" sz="1600" dirty="0"/>
          </a:p>
          <a:p>
            <a:pPr lvl="1" indent="0" marL="0">
              <a:spcAft>
                <a:spcPts val="300"/>
              </a:spcAft>
              <a:buNone/>
            </a:pPr>
            <a:r>
              <a:rPr lang="en-US" sz="14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–  Extreme parameter values and null pointers</a:t>
            </a:r>
            <a:endParaRPr lang="en-US" sz="16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14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–  Force failures; stress message passing; vary activation order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Testing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1091672" cy="0"/>
          </a:xfrm>
          <a:prstGeom prst="line">
            <a:avLst/>
          </a:prstGeom>
          <a:noFill/>
          <a:ln w="19050">
            <a:solidFill>
              <a:srgbClr val="2E86A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Chapters 8–9 — Testing and Evolution   •   Ch 8 Testing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234440"/>
            <a:ext cx="11091672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Integrate incrementally: add a component, test, add another; problems point at the newest component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Reusable and off-the-shelf components meet new code for the first time; often a separate testing team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Test emergent behavior</a:t>
            </a:r>
            <a:endParaRPr lang="en-US" sz="1600" dirty="0"/>
          </a:p>
          <a:p>
            <a:pPr lvl="1" indent="0" marL="0">
              <a:spcAft>
                <a:spcPts val="300"/>
              </a:spcAft>
              <a:buNone/>
            </a:pPr>
            <a:r>
              <a:rPr lang="en-US" sz="14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–  Planned (authentication + update = authorized updates only)</a:t>
            </a:r>
            <a:endParaRPr lang="en-US" sz="16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145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–  Unplanned: the system must do only what it should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Use cases and sequence diagrams drive the tests; test correct and incorrect input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Test-Driven Development and Regression Testing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1091672" cy="0"/>
          </a:xfrm>
          <a:prstGeom prst="line">
            <a:avLst/>
          </a:prstGeom>
          <a:noFill/>
          <a:ln w="19050">
            <a:solidFill>
              <a:srgbClr val="2E86A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Chapters 8–9 — Testing and Evolution   •   Ch 8 Testing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280160"/>
            <a:ext cx="1783080" cy="868680"/>
          </a:xfrm>
          <a:prstGeom prst="roundRect">
            <a:avLst>
              <a:gd name="adj" fmla="val 42105"/>
            </a:avLst>
          </a:prstGeom>
          <a:solidFill>
            <a:srgbClr val="FFFFFF"/>
          </a:solidFill>
          <a:ln w="19050">
            <a:solidFill>
              <a:srgbClr val="2E86A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280160"/>
            <a:ext cx="1783080" cy="8686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next increment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350008" y="1714500"/>
            <a:ext cx="420624" cy="9144"/>
          </a:xfrm>
          <a:prstGeom prst="line">
            <a:avLst/>
          </a:prstGeom>
          <a:noFill/>
          <a:ln w="19050">
            <a:solidFill>
              <a:srgbClr val="2E86AB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788920" y="1280160"/>
            <a:ext cx="1783080" cy="868680"/>
          </a:xfrm>
          <a:prstGeom prst="roundRect">
            <a:avLst>
              <a:gd name="adj" fmla="val 42105"/>
            </a:avLst>
          </a:prstGeom>
          <a:solidFill>
            <a:srgbClr val="FFFFFF"/>
          </a:solidFill>
          <a:ln w="19050">
            <a:solidFill>
              <a:srgbClr val="2E86A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788920" y="1280160"/>
            <a:ext cx="1783080" cy="8686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automated test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90288" y="1714500"/>
            <a:ext cx="420624" cy="9144"/>
          </a:xfrm>
          <a:prstGeom prst="line">
            <a:avLst/>
          </a:prstGeom>
          <a:noFill/>
          <a:ln w="19050">
            <a:solidFill>
              <a:srgbClr val="2E86AB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029200" y="1280160"/>
            <a:ext cx="1783080" cy="868680"/>
          </a:xfrm>
          <a:prstGeom prst="roundRect">
            <a:avLst>
              <a:gd name="adj" fmla="val 42105"/>
            </a:avLst>
          </a:prstGeom>
          <a:solidFill>
            <a:srgbClr val="FBE3BC"/>
          </a:solidFill>
          <a:ln w="19050">
            <a:solidFill>
              <a:srgbClr val="2E86A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029200" y="1280160"/>
            <a:ext cx="1783080" cy="8686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Run: it fails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830568" y="1714500"/>
            <a:ext cx="420624" cy="9144"/>
          </a:xfrm>
          <a:prstGeom prst="line">
            <a:avLst/>
          </a:prstGeom>
          <a:noFill/>
          <a:ln w="19050">
            <a:solidFill>
              <a:srgbClr val="2E86AB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269480" y="1280160"/>
            <a:ext cx="1783080" cy="868680"/>
          </a:xfrm>
          <a:prstGeom prst="roundRect">
            <a:avLst>
              <a:gd name="adj" fmla="val 42105"/>
            </a:avLst>
          </a:prstGeom>
          <a:solidFill>
            <a:srgbClr val="FFFFFF"/>
          </a:solidFill>
          <a:ln w="19050">
            <a:solidFill>
              <a:srgbClr val="2E86A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269480" y="1280160"/>
            <a:ext cx="1783080" cy="8686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+ refactor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9070848" y="1714500"/>
            <a:ext cx="420624" cy="9144"/>
          </a:xfrm>
          <a:prstGeom prst="line">
            <a:avLst/>
          </a:prstGeom>
          <a:noFill/>
          <a:ln w="19050">
            <a:solidFill>
              <a:srgbClr val="2E86AB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9509760" y="1280160"/>
            <a:ext cx="1783080" cy="868680"/>
          </a:xfrm>
          <a:prstGeom prst="roundRect">
            <a:avLst>
              <a:gd name="adj" fmla="val 42105"/>
            </a:avLst>
          </a:prstGeom>
          <a:solidFill>
            <a:srgbClr val="FFFFFF"/>
          </a:solidFill>
          <a:ln w="19050">
            <a:solidFill>
              <a:srgbClr val="2E86A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509760" y="1280160"/>
            <a:ext cx="1783080" cy="8686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tests pass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2560320"/>
            <a:ext cx="5317236" cy="457200"/>
          </a:xfrm>
          <a:prstGeom prst="rect">
            <a:avLst/>
          </a:prstGeom>
          <a:solidFill>
            <a:srgbClr val="EAF2F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48640" y="2560320"/>
            <a:ext cx="53172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Benefits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323076" y="2560320"/>
            <a:ext cx="5317236" cy="457200"/>
          </a:xfrm>
          <a:prstGeom prst="rect">
            <a:avLst/>
          </a:prstGeom>
          <a:solidFill>
            <a:srgbClr val="EAF2FB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323076" y="2560320"/>
            <a:ext cx="53172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Limits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3200400"/>
            <a:ext cx="5317236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5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Every code segment has a test</a:t>
            </a:r>
            <a:endParaRPr lang="en-US" sz="15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Regression suite grows with the program</a:t>
            </a:r>
            <a:endParaRPr lang="en-US" sz="15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Failing test points at the new code</a:t>
            </a:r>
            <a:endParaRPr lang="en-US" sz="15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Tests document intent</a:t>
            </a:r>
            <a:endParaRPr lang="en-US" sz="1550" dirty="0"/>
          </a:p>
        </p:txBody>
      </p:sp>
      <p:sp>
        <p:nvSpPr>
          <p:cNvPr id="25" name="Text 23"/>
          <p:cNvSpPr txBox="1"/>
          <p:nvPr/>
        </p:nvSpPr>
        <p:spPr>
          <a:xfrm>
            <a:off x="6323076" y="3200400"/>
            <a:ext cx="5317236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5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You cannot test what you do not understand</a:t>
            </a:r>
            <a:endParaRPr lang="en-US" sz="15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Weak for legacy code and multi-threading</a:t>
            </a:r>
            <a:endParaRPr lang="en-US" sz="15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Does not replace system testing</a:t>
            </a:r>
            <a:endParaRPr lang="en-US" sz="15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Regression: all tests pass before adding more</a:t>
            </a:r>
            <a:endParaRPr lang="en-US" sz="15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Release Testing vs. System Testing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1091672" cy="0"/>
          </a:xfrm>
          <a:prstGeom prst="line">
            <a:avLst/>
          </a:prstGeom>
          <a:noFill/>
          <a:ln w="19050">
            <a:solidFill>
              <a:srgbClr val="2E86A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Chapters 8–9 — Testing and Evolution   •   Ch 8 Testing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188720"/>
            <a:ext cx="5317236" cy="457200"/>
          </a:xfrm>
          <a:prstGeom prst="rect">
            <a:avLst/>
          </a:prstGeom>
          <a:solidFill>
            <a:srgbClr val="EAF2F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188720"/>
            <a:ext cx="53172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testing (development team)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323076" y="1188720"/>
            <a:ext cx="5317236" cy="457200"/>
          </a:xfrm>
          <a:prstGeom prst="rect">
            <a:avLst/>
          </a:prstGeom>
          <a:solidFill>
            <a:srgbClr val="EAF2F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323076" y="1188720"/>
            <a:ext cx="53172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Release testing (separate team)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1783080"/>
            <a:ext cx="5317236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5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Performed by the team that built it</a:t>
            </a:r>
            <a:endParaRPr lang="en-US" sz="15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Goal: discover bugs (defect testing)</a:t>
            </a:r>
            <a:endParaRPr lang="en-US" sz="15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May use knowledge of the code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6323076" y="1783080"/>
            <a:ext cx="5317236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5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Team not involved in development</a:t>
            </a:r>
            <a:endParaRPr lang="en-US" sz="15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Goal: show the system meets its requirements and is good enough for release (validation)</a:t>
            </a:r>
            <a:endParaRPr lang="en-US" sz="15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Black-box, from the specification</a:t>
            </a:r>
            <a:endParaRPr lang="en-US" sz="15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Covers all requirements, not just end-users’</a:t>
            </a:r>
            <a:endParaRPr lang="en-US" sz="15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Release Testing: Three Techniques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1091672" cy="0"/>
          </a:xfrm>
          <a:prstGeom prst="line">
            <a:avLst/>
          </a:prstGeom>
          <a:noFill/>
          <a:ln w="19050">
            <a:solidFill>
              <a:srgbClr val="2E86A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Chapters 8–9 — Testing and Evolution   •   Ch 8 Testing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536192"/>
            <a:ext cx="585216" cy="585216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5361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362456" y="123444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Requirements-based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288536" y="1234440"/>
            <a:ext cx="735177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 tests for each requirement (several per requirement) and keep traceability from test to requirement.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2724912"/>
            <a:ext cx="585216" cy="585216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272491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362456" y="242316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Scenario testing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288536" y="2423160"/>
            <a:ext cx="735177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Realistic, credible stories of use; run as the user, including deliberate mistakes; tests combinations of requirements.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3913632"/>
            <a:ext cx="585216" cy="585216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391363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362456" y="361188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testing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4288536" y="3611880"/>
            <a:ext cx="735177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an operational profile for expected load; stress beyond the design limit to check the system fails soft.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Testing and the Acceptance Process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1091672" cy="0"/>
          </a:xfrm>
          <a:prstGeom prst="line">
            <a:avLst/>
          </a:prstGeom>
          <a:noFill/>
          <a:ln w="19050">
            <a:solidFill>
              <a:srgbClr val="2E86A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Chapters 8–9 — Testing and Evolution   •   Ch 8 Testing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143000"/>
            <a:ext cx="1109167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5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Alpha: users work with developers at the developer’s site</a:t>
            </a:r>
            <a:endParaRPr lang="en-US" sz="15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Beta: early release to real users in many environments</a:t>
            </a:r>
            <a:endParaRPr lang="en-US" sz="15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Acceptance: customer formally decides whether to accept the system; in agile, the user is part of the team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548640" y="3154680"/>
            <a:ext cx="1691640" cy="868680"/>
          </a:xfrm>
          <a:prstGeom prst="roundRect">
            <a:avLst>
              <a:gd name="adj" fmla="val 42105"/>
            </a:avLst>
          </a:prstGeom>
          <a:solidFill>
            <a:srgbClr val="FFFFFF"/>
          </a:solidFill>
          <a:ln w="19050">
            <a:solidFill>
              <a:srgbClr val="2E86A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3154680"/>
            <a:ext cx="1691640" cy="8686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criteria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258568" y="3589020"/>
            <a:ext cx="146304" cy="9144"/>
          </a:xfrm>
          <a:prstGeom prst="line">
            <a:avLst/>
          </a:prstGeom>
          <a:noFill/>
          <a:ln w="19050">
            <a:solidFill>
              <a:srgbClr val="2E86AB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423160" y="3154680"/>
            <a:ext cx="1691640" cy="868680"/>
          </a:xfrm>
          <a:prstGeom prst="roundRect">
            <a:avLst>
              <a:gd name="adj" fmla="val 42105"/>
            </a:avLst>
          </a:prstGeom>
          <a:solidFill>
            <a:srgbClr val="FFFFFF"/>
          </a:solidFill>
          <a:ln w="19050">
            <a:solidFill>
              <a:srgbClr val="2E86A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423160" y="3154680"/>
            <a:ext cx="1691640" cy="8686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acceptance testing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133088" y="3589020"/>
            <a:ext cx="146304" cy="9144"/>
          </a:xfrm>
          <a:prstGeom prst="line">
            <a:avLst/>
          </a:prstGeom>
          <a:noFill/>
          <a:ln w="19050">
            <a:solidFill>
              <a:srgbClr val="2E86AB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297680" y="3154680"/>
            <a:ext cx="1691640" cy="868680"/>
          </a:xfrm>
          <a:prstGeom prst="roundRect">
            <a:avLst>
              <a:gd name="adj" fmla="val 42105"/>
            </a:avLst>
          </a:prstGeom>
          <a:solidFill>
            <a:srgbClr val="FFFFFF"/>
          </a:solidFill>
          <a:ln w="19050">
            <a:solidFill>
              <a:srgbClr val="2E86A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297680" y="3154680"/>
            <a:ext cx="1691640" cy="8686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 tests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007608" y="3589020"/>
            <a:ext cx="146304" cy="9144"/>
          </a:xfrm>
          <a:prstGeom prst="line">
            <a:avLst/>
          </a:prstGeom>
          <a:noFill/>
          <a:ln w="19050">
            <a:solidFill>
              <a:srgbClr val="2E86AB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172200" y="3154680"/>
            <a:ext cx="1691640" cy="868680"/>
          </a:xfrm>
          <a:prstGeom prst="roundRect">
            <a:avLst>
              <a:gd name="adj" fmla="val 42105"/>
            </a:avLst>
          </a:prstGeom>
          <a:solidFill>
            <a:srgbClr val="FFFFFF"/>
          </a:solidFill>
          <a:ln w="19050">
            <a:solidFill>
              <a:srgbClr val="2E86A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172200" y="3154680"/>
            <a:ext cx="1691640" cy="8686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tests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882128" y="3589020"/>
            <a:ext cx="146304" cy="9144"/>
          </a:xfrm>
          <a:prstGeom prst="line">
            <a:avLst/>
          </a:prstGeom>
          <a:noFill/>
          <a:ln w="19050">
            <a:solidFill>
              <a:srgbClr val="2E86AB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8046720" y="3154680"/>
            <a:ext cx="1691640" cy="868680"/>
          </a:xfrm>
          <a:prstGeom prst="roundRect">
            <a:avLst>
              <a:gd name="adj" fmla="val 42105"/>
            </a:avLst>
          </a:prstGeom>
          <a:solidFill>
            <a:srgbClr val="FFFFFF"/>
          </a:solidFill>
          <a:ln w="19050">
            <a:solidFill>
              <a:srgbClr val="2E86A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046720" y="3154680"/>
            <a:ext cx="1691640" cy="8686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Negotiate results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756648" y="3589020"/>
            <a:ext cx="146304" cy="9144"/>
          </a:xfrm>
          <a:prstGeom prst="line">
            <a:avLst/>
          </a:prstGeom>
          <a:noFill/>
          <a:ln w="19050">
            <a:solidFill>
              <a:srgbClr val="2E86AB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9921240" y="3154680"/>
            <a:ext cx="1691640" cy="868680"/>
          </a:xfrm>
          <a:prstGeom prst="roundRect">
            <a:avLst>
              <a:gd name="adj" fmla="val 42105"/>
            </a:avLst>
          </a:prstGeom>
          <a:solidFill>
            <a:srgbClr val="FFFFFF"/>
          </a:solidFill>
          <a:ln w="19050">
            <a:solidFill>
              <a:srgbClr val="2E86A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921240" y="3154680"/>
            <a:ext cx="1691640" cy="8686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or reject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4480560"/>
            <a:ext cx="11091672" cy="1097280"/>
          </a:xfrm>
          <a:prstGeom prst="rect">
            <a:avLst/>
          </a:prstGeom>
          <a:solidFill>
            <a:srgbClr val="FBE3BC"/>
          </a:solidFill>
          <a:ln/>
        </p:spPr>
      </p:sp>
      <p:sp>
        <p:nvSpPr>
          <p:cNvPr id="25" name="Shape 23"/>
          <p:cNvSpPr/>
          <p:nvPr/>
        </p:nvSpPr>
        <p:spPr>
          <a:xfrm>
            <a:off x="548640" y="4480560"/>
            <a:ext cx="82296" cy="1097280"/>
          </a:xfrm>
          <a:prstGeom prst="rect">
            <a:avLst/>
          </a:prstGeom>
          <a:solidFill>
            <a:srgbClr val="F2A541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77240" y="4480560"/>
            <a:ext cx="107259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matter because the real working environment cannot be replicated by developers. Criteria are best agreed before the contract is signed; few tests pass cleanly, so results are negotiated.</a:t>
            </a:r>
            <a:endParaRPr lang="en-US" sz="14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3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37744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7200" dirty="0"/>
          </a:p>
        </p:txBody>
      </p:sp>
      <p:sp>
        <p:nvSpPr>
          <p:cNvPr id="3" name="Shape 1"/>
          <p:cNvSpPr/>
          <p:nvPr/>
        </p:nvSpPr>
        <p:spPr>
          <a:xfrm>
            <a:off x="548640" y="3611880"/>
            <a:ext cx="2194560" cy="0"/>
          </a:xfrm>
          <a:prstGeom prst="line">
            <a:avLst/>
          </a:prstGeom>
          <a:noFill/>
          <a:ln w="25400">
            <a:solidFill>
              <a:srgbClr val="F2A54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379476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Software Evolution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7091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must change after delivery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Chapters 8–9 — Testing and Evolution   •   Software Evolution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Software Evolves: Life-Cycle Stages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1091672" cy="0"/>
          </a:xfrm>
          <a:prstGeom prst="line">
            <a:avLst/>
          </a:prstGeom>
          <a:noFill/>
          <a:ln w="19050">
            <a:solidFill>
              <a:srgbClr val="2E86A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Chapters 8–9 — Testing and Evolution   •   Ch 9 Evolution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280160"/>
            <a:ext cx="2468880" cy="822960"/>
          </a:xfrm>
          <a:prstGeom prst="roundRect">
            <a:avLst>
              <a:gd name="adj" fmla="val 44444"/>
            </a:avLst>
          </a:prstGeom>
          <a:solidFill>
            <a:srgbClr val="EAF2FB"/>
          </a:solidFill>
          <a:ln w="19050">
            <a:solidFill>
              <a:srgbClr val="2E86A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280160"/>
            <a:ext cx="2468880" cy="8229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development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035808" y="1691640"/>
            <a:ext cx="374904" cy="9144"/>
          </a:xfrm>
          <a:prstGeom prst="line">
            <a:avLst/>
          </a:prstGeom>
          <a:noFill/>
          <a:ln w="19050">
            <a:solidFill>
              <a:srgbClr val="2E86AB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429000" y="1280160"/>
            <a:ext cx="2468880" cy="822960"/>
          </a:xfrm>
          <a:prstGeom prst="roundRect">
            <a:avLst>
              <a:gd name="adj" fmla="val 44444"/>
            </a:avLst>
          </a:prstGeom>
          <a:solidFill>
            <a:srgbClr val="FBE3BC"/>
          </a:solidFill>
          <a:ln w="19050">
            <a:solidFill>
              <a:srgbClr val="2E86A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29000" y="1280160"/>
            <a:ext cx="2468880" cy="8229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Evolution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916168" y="1691640"/>
            <a:ext cx="374904" cy="9144"/>
          </a:xfrm>
          <a:prstGeom prst="line">
            <a:avLst/>
          </a:prstGeom>
          <a:noFill/>
          <a:ln w="19050">
            <a:solidFill>
              <a:srgbClr val="2E86AB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309360" y="1280160"/>
            <a:ext cx="2468880" cy="822960"/>
          </a:xfrm>
          <a:prstGeom prst="roundRect">
            <a:avLst>
              <a:gd name="adj" fmla="val 44444"/>
            </a:avLst>
          </a:prstGeom>
          <a:solidFill>
            <a:srgbClr val="EAF2FB"/>
          </a:solidFill>
          <a:ln w="19050">
            <a:solidFill>
              <a:srgbClr val="2E86A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09360" y="1280160"/>
            <a:ext cx="2468880" cy="8229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Servicing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796528" y="1691640"/>
            <a:ext cx="374904" cy="9144"/>
          </a:xfrm>
          <a:prstGeom prst="line">
            <a:avLst/>
          </a:prstGeom>
          <a:noFill/>
          <a:ln w="19050">
            <a:solidFill>
              <a:srgbClr val="2E86AB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9189720" y="1280160"/>
            <a:ext cx="2468880" cy="822960"/>
          </a:xfrm>
          <a:prstGeom prst="roundRect">
            <a:avLst>
              <a:gd name="adj" fmla="val 44444"/>
            </a:avLst>
          </a:prstGeom>
          <a:solidFill>
            <a:srgbClr val="EAF2FB"/>
          </a:solidFill>
          <a:ln w="19050">
            <a:solidFill>
              <a:srgbClr val="2E86A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189720" y="1280160"/>
            <a:ext cx="2468880" cy="8229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Phaseout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2468880"/>
            <a:ext cx="11091672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Business needs, technology and the environment keep changing; useful systems live 10 to 30+ years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Evolution: significant changes to architecture and function; Servicing: small, essential changes only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Spiral view: specification, implementation, validation and operation repeat with each release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Transition point: when structure has degraded, big changes stop being cost-effective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Evolution Process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1091672" cy="0"/>
          </a:xfrm>
          <a:prstGeom prst="line">
            <a:avLst/>
          </a:prstGeom>
          <a:noFill/>
          <a:ln w="19050">
            <a:solidFill>
              <a:srgbClr val="2E86A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Chapters 8–9 — Testing and Evolution   •   Ch 9 Evolution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280160"/>
            <a:ext cx="1828800" cy="822960"/>
          </a:xfrm>
          <a:prstGeom prst="roundRect">
            <a:avLst>
              <a:gd name="adj" fmla="val 44444"/>
            </a:avLst>
          </a:prstGeom>
          <a:solidFill>
            <a:srgbClr val="FFFFFF"/>
          </a:solidFill>
          <a:ln w="19050">
            <a:solidFill>
              <a:srgbClr val="2E86A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280160"/>
            <a:ext cx="1828800" cy="8229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requests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395728" y="1691640"/>
            <a:ext cx="420624" cy="9144"/>
          </a:xfrm>
          <a:prstGeom prst="line">
            <a:avLst/>
          </a:prstGeom>
          <a:noFill/>
          <a:ln w="19050">
            <a:solidFill>
              <a:srgbClr val="2E86AB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834640" y="1280160"/>
            <a:ext cx="1828800" cy="822960"/>
          </a:xfrm>
          <a:prstGeom prst="roundRect">
            <a:avLst>
              <a:gd name="adj" fmla="val 44444"/>
            </a:avLst>
          </a:prstGeom>
          <a:solidFill>
            <a:srgbClr val="FFFFFF"/>
          </a:solidFill>
          <a:ln w="19050">
            <a:solidFill>
              <a:srgbClr val="2E86A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834640" y="1280160"/>
            <a:ext cx="1828800" cy="8229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analysis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681728" y="1691640"/>
            <a:ext cx="420624" cy="9144"/>
          </a:xfrm>
          <a:prstGeom prst="line">
            <a:avLst/>
          </a:prstGeom>
          <a:noFill/>
          <a:ln w="19050">
            <a:solidFill>
              <a:srgbClr val="2E86AB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120640" y="1280160"/>
            <a:ext cx="1828800" cy="822960"/>
          </a:xfrm>
          <a:prstGeom prst="roundRect">
            <a:avLst>
              <a:gd name="adj" fmla="val 44444"/>
            </a:avLst>
          </a:prstGeom>
          <a:solidFill>
            <a:srgbClr val="FFFFFF"/>
          </a:solidFill>
          <a:ln w="19050">
            <a:solidFill>
              <a:srgbClr val="2E86A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120640" y="1280160"/>
            <a:ext cx="1828800" cy="8229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planning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967728" y="1691640"/>
            <a:ext cx="420624" cy="9144"/>
          </a:xfrm>
          <a:prstGeom prst="line">
            <a:avLst/>
          </a:prstGeom>
          <a:noFill/>
          <a:ln w="19050">
            <a:solidFill>
              <a:srgbClr val="2E86AB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406640" y="1280160"/>
            <a:ext cx="1828800" cy="822960"/>
          </a:xfrm>
          <a:prstGeom prst="roundRect">
            <a:avLst>
              <a:gd name="adj" fmla="val 44444"/>
            </a:avLst>
          </a:prstGeom>
          <a:solidFill>
            <a:srgbClr val="FFFFFF"/>
          </a:solidFill>
          <a:ln w="19050">
            <a:solidFill>
              <a:srgbClr val="2E86A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406640" y="1280160"/>
            <a:ext cx="1828800" cy="8229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implementation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253728" y="1691640"/>
            <a:ext cx="420624" cy="9144"/>
          </a:xfrm>
          <a:prstGeom prst="line">
            <a:avLst/>
          </a:prstGeom>
          <a:noFill/>
          <a:ln w="19050">
            <a:solidFill>
              <a:srgbClr val="2E86AB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9692640" y="1280160"/>
            <a:ext cx="1828800" cy="822960"/>
          </a:xfrm>
          <a:prstGeom prst="roundRect">
            <a:avLst>
              <a:gd name="adj" fmla="val 44444"/>
            </a:avLst>
          </a:prstGeom>
          <a:solidFill>
            <a:srgbClr val="FFFFFF"/>
          </a:solidFill>
          <a:ln w="19050">
            <a:solidFill>
              <a:srgbClr val="2E86A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692640" y="1280160"/>
            <a:ext cx="1828800" cy="8229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release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21945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planning weighs fault repair, platform adaptation and system enhancement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2743200"/>
            <a:ext cx="11091672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Proposals come from unimplemented requirements, new requests, bug reports and team ideas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Link each proposal to the components it changes so cost and impact can be assessed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Ideally, change updates specification, design and code together, starting with program understanding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Urgent Changes and Emergency Repair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1091672" cy="0"/>
          </a:xfrm>
          <a:prstGeom prst="line">
            <a:avLst/>
          </a:prstGeom>
          <a:noFill/>
          <a:ln w="19050">
            <a:solidFill>
              <a:srgbClr val="2E86A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Chapters 8–9 — Testing and Evolution   •   Ch 9 Evolution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280160"/>
            <a:ext cx="2377440" cy="822960"/>
          </a:xfrm>
          <a:prstGeom prst="roundRect">
            <a:avLst>
              <a:gd name="adj" fmla="val 44444"/>
            </a:avLst>
          </a:prstGeom>
          <a:solidFill>
            <a:srgbClr val="FFFFFF"/>
          </a:solidFill>
          <a:ln w="19050">
            <a:solidFill>
              <a:srgbClr val="2E86A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280160"/>
            <a:ext cx="2377440" cy="8229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request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944368" y="1691640"/>
            <a:ext cx="420624" cy="9144"/>
          </a:xfrm>
          <a:prstGeom prst="line">
            <a:avLst/>
          </a:prstGeom>
          <a:noFill/>
          <a:ln w="19050">
            <a:solidFill>
              <a:srgbClr val="2E86AB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383280" y="1280160"/>
            <a:ext cx="2377440" cy="822960"/>
          </a:xfrm>
          <a:prstGeom prst="roundRect">
            <a:avLst>
              <a:gd name="adj" fmla="val 44444"/>
            </a:avLst>
          </a:prstGeom>
          <a:solidFill>
            <a:srgbClr val="FBE3BC"/>
          </a:solidFill>
          <a:ln w="19050">
            <a:solidFill>
              <a:srgbClr val="2E86A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383280" y="1280160"/>
            <a:ext cx="2377440" cy="8229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source code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779008" y="1691640"/>
            <a:ext cx="420624" cy="9144"/>
          </a:xfrm>
          <a:prstGeom prst="line">
            <a:avLst/>
          </a:prstGeom>
          <a:noFill/>
          <a:ln w="19050">
            <a:solidFill>
              <a:srgbClr val="2E86AB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217920" y="1280160"/>
            <a:ext cx="2377440" cy="822960"/>
          </a:xfrm>
          <a:prstGeom prst="roundRect">
            <a:avLst>
              <a:gd name="adj" fmla="val 44444"/>
            </a:avLst>
          </a:prstGeom>
          <a:solidFill>
            <a:srgbClr val="FBE3BC"/>
          </a:solidFill>
          <a:ln w="19050">
            <a:solidFill>
              <a:srgbClr val="2E86A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17920" y="1280160"/>
            <a:ext cx="2377440" cy="8229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Modify source code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613648" y="1691640"/>
            <a:ext cx="420624" cy="9144"/>
          </a:xfrm>
          <a:prstGeom prst="line">
            <a:avLst/>
          </a:prstGeom>
          <a:noFill/>
          <a:ln w="19050">
            <a:solidFill>
              <a:srgbClr val="2E86AB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9052560" y="1280160"/>
            <a:ext cx="2377440" cy="822960"/>
          </a:xfrm>
          <a:prstGeom prst="roundRect">
            <a:avLst>
              <a:gd name="adj" fmla="val 44444"/>
            </a:avLst>
          </a:prstGeom>
          <a:solidFill>
            <a:srgbClr val="FBE3BC"/>
          </a:solidFill>
          <a:ln w="19050">
            <a:solidFill>
              <a:srgbClr val="2E86A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052560" y="1280160"/>
            <a:ext cx="2377440" cy="82296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modified system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2560320"/>
            <a:ext cx="5317236" cy="457200"/>
          </a:xfrm>
          <a:prstGeom prst="rect">
            <a:avLst/>
          </a:prstGeom>
          <a:solidFill>
            <a:srgbClr val="EAF2F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48640" y="2560320"/>
            <a:ext cx="53172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causes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323076" y="2560320"/>
            <a:ext cx="5317236" cy="457200"/>
          </a:xfrm>
          <a:prstGeom prst="rect">
            <a:avLst/>
          </a:prstGeom>
          <a:solidFill>
            <a:srgbClr val="EAF2FB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323076" y="2560320"/>
            <a:ext cx="53172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danger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3200400"/>
            <a:ext cx="5317236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5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Serious fault must be fixed to keep operating</a:t>
            </a:r>
            <a:endParaRPr lang="en-US" sz="15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Environment change disrupts operation</a:t>
            </a:r>
            <a:endParaRPr lang="en-US" sz="15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Business change: competitor, new legislation</a:t>
            </a:r>
            <a:endParaRPr lang="en-US" sz="1550" dirty="0"/>
          </a:p>
        </p:txBody>
      </p:sp>
      <p:sp>
        <p:nvSpPr>
          <p:cNvPr id="22" name="Text 20"/>
          <p:cNvSpPr txBox="1"/>
          <p:nvPr/>
        </p:nvSpPr>
        <p:spPr>
          <a:xfrm>
            <a:off x="6323076" y="3200400"/>
            <a:ext cx="5317236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5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Formal analysis is skipped</a:t>
            </a:r>
            <a:endParaRPr lang="en-US" sz="15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Requirements, design and code become inconsistent</a:t>
            </a:r>
            <a:endParaRPr lang="en-US" sz="15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Promised documentation updates get forgotten</a:t>
            </a:r>
            <a:endParaRPr lang="en-US" sz="15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Lehman’s Laws of Evolution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1091672" cy="0"/>
          </a:xfrm>
          <a:prstGeom prst="line">
            <a:avLst/>
          </a:prstGeom>
          <a:noFill/>
          <a:ln w="19050">
            <a:solidFill>
              <a:srgbClr val="2E86A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Chapters 8–9 — Testing and Evolution   •   Ch 9 Evolution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91672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7799832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Law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6A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6A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230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Continuing change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30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used program must change or become less useful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230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Increasing complexity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30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Structure degrades; effort is needed to simplify it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230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 program evolution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30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Evolution is self-regulating; size, release gaps and errors are roughly steady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230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Organizational stability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30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Development rate is roughly constant regardless of resources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230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Conservation of familiarity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30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Incremental change per release is roughly constant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230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Continuing growth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30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Functionality must keep growing to hold user satisfaction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230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Declining quality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30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Quality declines unless adapted to the environment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230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Feedback system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30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Evolution is a multi-loop feedback system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Types and Cost of Maintenance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1091672" cy="0"/>
          </a:xfrm>
          <a:prstGeom prst="line">
            <a:avLst/>
          </a:prstGeom>
          <a:noFill/>
          <a:ln w="19050">
            <a:solidFill>
              <a:srgbClr val="2E86A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Chapters 8–9 — Testing and Evolution   •   Ch 9 Evolution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2801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Functionality addition or modification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1645920"/>
            <a:ext cx="4572000" cy="41148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230368" y="164592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65%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3317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 adaptation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2697480"/>
            <a:ext cx="1266092" cy="411480"/>
          </a:xfrm>
          <a:prstGeom prst="rect">
            <a:avLst/>
          </a:prstGeom>
          <a:solidFill>
            <a:srgbClr val="F2A54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924460" y="269748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18%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3832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 repair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749040"/>
            <a:ext cx="1195754" cy="4114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854122" y="374904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17%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492240" y="1280160"/>
            <a:ext cx="51206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Fault repair, environmental adaptation, functionality addition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About two-thirds of IT budgets go to maintenance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New requirements cost more than bug fixes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Costlier than development: lost team knowledge, no incentive for maintainable code, junior staff, decayed structure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5262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Approximate distribution of maintenance effort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Maintenance Costs More Than Development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1091672" cy="0"/>
          </a:xfrm>
          <a:prstGeom prst="line">
            <a:avLst/>
          </a:prstGeom>
          <a:noFill/>
          <a:ln w="19050">
            <a:solidFill>
              <a:srgbClr val="2E86A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Chapters 8–9 — Testing and Evolution   •   Ch 9 Evolution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188720"/>
            <a:ext cx="5317236" cy="457200"/>
          </a:xfrm>
          <a:prstGeom prst="rect">
            <a:avLst/>
          </a:prstGeom>
          <a:solidFill>
            <a:srgbClr val="EAF2F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188720"/>
            <a:ext cx="53172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Organizational causes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323076" y="1188720"/>
            <a:ext cx="5317236" cy="457200"/>
          </a:xfrm>
          <a:prstGeom prst="rect">
            <a:avLst/>
          </a:prstGeom>
          <a:solidFill>
            <a:srgbClr val="EAF2F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323076" y="1188720"/>
            <a:ext cx="53172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cause and remedy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1783080"/>
            <a:ext cx="5317236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5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Team stability: developers move on</a:t>
            </a:r>
            <a:endParaRPr lang="en-US" sz="15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No incentive: separate contracts reward cutting corners</a:t>
            </a:r>
            <a:endParaRPr lang="en-US" sz="15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Staff skills: often junior staff on obsolete languages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6323076" y="1783080"/>
            <a:ext cx="5317236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5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Structure degrades with every change</a:t>
            </a:r>
            <a:endParaRPr lang="en-US" sz="15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Remedy: refactor and reengineer</a:t>
            </a:r>
            <a:endParaRPr lang="en-US" sz="15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Invest in maintainability early (spec, OO design, configuration management)</a:t>
            </a:r>
            <a:endParaRPr lang="en-US" sz="15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Predicting Maintenance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1091672" cy="0"/>
          </a:xfrm>
          <a:prstGeom prst="line">
            <a:avLst/>
          </a:prstGeom>
          <a:noFill/>
          <a:ln w="19050">
            <a:solidFill>
              <a:srgbClr val="2E86A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Chapters 8–9 — Testing and Evolution   •   Ch 9 Evolution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188720"/>
            <a:ext cx="5317236" cy="457200"/>
          </a:xfrm>
          <a:prstGeom prst="rect">
            <a:avLst/>
          </a:prstGeom>
          <a:solidFill>
            <a:srgbClr val="EAF2F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188720"/>
            <a:ext cx="53172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to predict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323076" y="1188720"/>
            <a:ext cx="5317236" cy="457200"/>
          </a:xfrm>
          <a:prstGeom prst="rect">
            <a:avLst/>
          </a:prstGeom>
          <a:solidFill>
            <a:srgbClr val="EAF2F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323076" y="1188720"/>
            <a:ext cx="53172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drives it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1783080"/>
            <a:ext cx="5317236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5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System changes: how many change requests, and where</a:t>
            </a:r>
            <a:endParaRPr lang="en-US" sz="15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Maintainability: which parts cost most to maintain</a:t>
            </a:r>
            <a:endParaRPr lang="en-US" sz="15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Maintenance costs: next year and lifetime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6323076" y="1783080"/>
            <a:ext cx="5317236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5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Number and complexity of interfaces</a:t>
            </a:r>
            <a:endParaRPr lang="en-US" sz="15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Volatile requirements (policies, procedures)</a:t>
            </a:r>
            <a:endParaRPr lang="en-US" sz="15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Business processes that use the system</a:t>
            </a:r>
            <a:endParaRPr lang="en-US" sz="15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Complexity metrics; process metrics such as time for impact analysis</a:t>
            </a:r>
            <a:endParaRPr lang="en-US" sz="15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Reengineering Process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1091672" cy="0"/>
          </a:xfrm>
          <a:prstGeom prst="line">
            <a:avLst/>
          </a:prstGeom>
          <a:noFill/>
          <a:ln w="19050">
            <a:solidFill>
              <a:srgbClr val="2E86A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Chapters 8–9 — Testing and Evolution   •   Ch 9 Evolution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188720"/>
            <a:ext cx="1920240" cy="868680"/>
          </a:xfrm>
          <a:prstGeom prst="roundRect">
            <a:avLst>
              <a:gd name="adj" fmla="val 42105"/>
            </a:avLst>
          </a:prstGeom>
          <a:solidFill>
            <a:srgbClr val="FFFFFF"/>
          </a:solidFill>
          <a:ln w="19050">
            <a:solidFill>
              <a:srgbClr val="2E86A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188720"/>
            <a:ext cx="1920240" cy="8686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code translation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487168" y="1623060"/>
            <a:ext cx="329184" cy="9144"/>
          </a:xfrm>
          <a:prstGeom prst="line">
            <a:avLst/>
          </a:prstGeom>
          <a:noFill/>
          <a:ln w="19050">
            <a:solidFill>
              <a:srgbClr val="2E86AB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834640" y="1188720"/>
            <a:ext cx="1920240" cy="868680"/>
          </a:xfrm>
          <a:prstGeom prst="roundRect">
            <a:avLst>
              <a:gd name="adj" fmla="val 42105"/>
            </a:avLst>
          </a:prstGeom>
          <a:solidFill>
            <a:srgbClr val="FFFFFF"/>
          </a:solidFill>
          <a:ln w="19050">
            <a:solidFill>
              <a:srgbClr val="2E86A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834640" y="1188720"/>
            <a:ext cx="1920240" cy="8686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engineering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73168" y="1623060"/>
            <a:ext cx="329184" cy="9144"/>
          </a:xfrm>
          <a:prstGeom prst="line">
            <a:avLst/>
          </a:prstGeom>
          <a:noFill/>
          <a:ln w="19050">
            <a:solidFill>
              <a:srgbClr val="2E86AB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120640" y="1188720"/>
            <a:ext cx="1920240" cy="868680"/>
          </a:xfrm>
          <a:prstGeom prst="roundRect">
            <a:avLst>
              <a:gd name="adj" fmla="val 42105"/>
            </a:avLst>
          </a:prstGeom>
          <a:solidFill>
            <a:srgbClr val="FFFFFF"/>
          </a:solidFill>
          <a:ln w="19050">
            <a:solidFill>
              <a:srgbClr val="2E86A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120640" y="1188720"/>
            <a:ext cx="1920240" cy="8686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improvement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059168" y="1623060"/>
            <a:ext cx="329184" cy="9144"/>
          </a:xfrm>
          <a:prstGeom prst="line">
            <a:avLst/>
          </a:prstGeom>
          <a:noFill/>
          <a:ln w="19050">
            <a:solidFill>
              <a:srgbClr val="2E86AB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406640" y="1188720"/>
            <a:ext cx="1920240" cy="868680"/>
          </a:xfrm>
          <a:prstGeom prst="roundRect">
            <a:avLst>
              <a:gd name="adj" fmla="val 42105"/>
            </a:avLst>
          </a:prstGeom>
          <a:solidFill>
            <a:srgbClr val="FFFFFF"/>
          </a:solidFill>
          <a:ln w="19050">
            <a:solidFill>
              <a:srgbClr val="2E86A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406640" y="1188720"/>
            <a:ext cx="1920240" cy="8686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Modularization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345168" y="1623060"/>
            <a:ext cx="329184" cy="9144"/>
          </a:xfrm>
          <a:prstGeom prst="line">
            <a:avLst/>
          </a:prstGeom>
          <a:noFill/>
          <a:ln w="19050">
            <a:solidFill>
              <a:srgbClr val="2E86AB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9692640" y="1188720"/>
            <a:ext cx="1920240" cy="868680"/>
          </a:xfrm>
          <a:prstGeom prst="roundRect">
            <a:avLst>
              <a:gd name="adj" fmla="val 42105"/>
            </a:avLst>
          </a:prstGeom>
          <a:solidFill>
            <a:srgbClr val="FFFFFF"/>
          </a:solidFill>
          <a:ln w="19050">
            <a:solidFill>
              <a:srgbClr val="2E86A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692640" y="1188720"/>
            <a:ext cx="1920240" cy="8686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reengineering</a:t>
            </a:r>
            <a:endParaRPr lang="en-US" sz="12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77440"/>
          <a:ext cx="1109167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6035040"/>
                <a:gridCol w="213055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Activity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6A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does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6A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6A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2230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 code translation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230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Convert to a modern language or version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230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Automated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2230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Reverse engineering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230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Extract information to document the program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230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Automated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2230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Structure improvement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230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Simplify control structure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230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Partly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2230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Modularization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230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 related parts, remove redundancy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230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2230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reengineering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230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 schemas, convert and clean data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230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Tool-supported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Reengineering vs. Refactoring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1091672" cy="0"/>
          </a:xfrm>
          <a:prstGeom prst="line">
            <a:avLst/>
          </a:prstGeom>
          <a:noFill/>
          <a:ln w="19050">
            <a:solidFill>
              <a:srgbClr val="2E86A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Chapters 8–9 — Testing and Evolution   •   Ch 9 Evolution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188720"/>
            <a:ext cx="5317236" cy="457200"/>
          </a:xfrm>
          <a:prstGeom prst="rect">
            <a:avLst/>
          </a:prstGeom>
          <a:solidFill>
            <a:srgbClr val="EAF2F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188720"/>
            <a:ext cx="53172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Reengineering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323076" y="1188720"/>
            <a:ext cx="5317236" cy="457200"/>
          </a:xfrm>
          <a:prstGeom prst="rect">
            <a:avLst/>
          </a:prstGeom>
          <a:solidFill>
            <a:srgbClr val="EAF2F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323076" y="1188720"/>
            <a:ext cx="53172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Refactoring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1783080"/>
            <a:ext cx="5317236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After the system has decayed, using automated tools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Same function, better structure and documentation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Cheaper and less risky than replacement ($12M vs. $50M example)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Limit: cannot turn a functional design into an object-oriented one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323076" y="1783080"/>
            <a:ext cx="5317236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Continuous, during development and evolution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No new functionality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Bad smells: duplicate code, long methods, switch statements, data clumps, speculative generality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Safe only with regression tests</a:t>
            </a:r>
            <a:endParaRPr lang="en-US" sz="15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Legacy Systems: Four Options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1091672" cy="0"/>
          </a:xfrm>
          <a:prstGeom prst="line">
            <a:avLst/>
          </a:prstGeom>
          <a:noFill/>
          <a:ln w="19050">
            <a:solidFill>
              <a:srgbClr val="2E86A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Chapters 8–9 — Testing and Evolution   •   Ch 9 Evolution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371600" y="1234440"/>
            <a:ext cx="2798064" cy="2066544"/>
          </a:xfrm>
          <a:prstGeom prst="rect">
            <a:avLst/>
          </a:prstGeom>
          <a:solidFill>
            <a:srgbClr val="FBE3BC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0" y="1234440"/>
            <a:ext cx="2798064" cy="2066544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quality, high value</a:t>
            </a:r>
            <a:endParaRPr lang="en-US" sz="140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Reengineer (or replace)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206240" y="1234440"/>
            <a:ext cx="2798064" cy="2066544"/>
          </a:xfrm>
          <a:prstGeom prst="rect">
            <a:avLst/>
          </a:prstGeom>
          <a:solidFill>
            <a:srgbClr val="BFDDE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206240" y="1234440"/>
            <a:ext cx="2798064" cy="2066544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quality, high value</a:t>
            </a:r>
            <a:endParaRPr lang="en-US" sz="140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and maintain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371600" y="3337560"/>
            <a:ext cx="2798064" cy="2066544"/>
          </a:xfrm>
          <a:prstGeom prst="rect">
            <a:avLst/>
          </a:prstGeom>
          <a:solidFill>
            <a:srgbClr val="EAF2F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371600" y="3337560"/>
            <a:ext cx="2798064" cy="2066544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quality, low value</a:t>
            </a:r>
            <a:endParaRPr lang="en-US" sz="140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206240" y="3337560"/>
            <a:ext cx="2798064" cy="2066544"/>
          </a:xfrm>
          <a:prstGeom prst="rect">
            <a:avLst/>
          </a:prstGeom>
          <a:solidFill>
            <a:srgbClr val="EAF2F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206240" y="3337560"/>
            <a:ext cx="2798064" cy="2066544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quality, low value</a:t>
            </a:r>
            <a:endParaRPr lang="en-US" sz="140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Maintain; scrap if costly change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548640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quality →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 rot="16200000">
            <a:off x="-822960" y="31546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value →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7498080" y="1280160"/>
            <a:ext cx="41148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Options: scrap, maintain unchanged, reengineer, replace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Different parts of one system can get different options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Decisions are often political, not purely objective</a:t>
            </a:r>
            <a:endParaRPr lang="en-US" sz="15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Assessing a Legacy System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1091672" cy="0"/>
          </a:xfrm>
          <a:prstGeom prst="line">
            <a:avLst/>
          </a:prstGeom>
          <a:noFill/>
          <a:ln w="19050">
            <a:solidFill>
              <a:srgbClr val="2E86A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Chapters 8–9 — Testing and Evolution   •   Ch 9 Evolution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91672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3749040"/>
                <a:gridCol w="3776472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value (4 questions)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6A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Environment factors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6A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Application factors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6A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2230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of the system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230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Supplier stability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230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Understandability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2230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processes supported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230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Failure rate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230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Documentation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2230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 dependability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230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230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2230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 outputs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230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Performance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230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Performance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230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 requirements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230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Programming language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230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Maintenance costs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230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Configuration management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230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Interoperability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2230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data and personnel skills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and Evolution Form a Loop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1091672" cy="0"/>
          </a:xfrm>
          <a:prstGeom prst="line">
            <a:avLst/>
          </a:prstGeom>
          <a:noFill/>
          <a:ln w="19050">
            <a:solidFill>
              <a:srgbClr val="2E86A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Chapters 8–9 — Testing and Evolution   •   Prompt view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1691640" cy="868680"/>
          </a:xfrm>
          <a:prstGeom prst="roundRect">
            <a:avLst>
              <a:gd name="adj" fmla="val 42105"/>
            </a:avLst>
          </a:prstGeom>
          <a:solidFill>
            <a:srgbClr val="FFFFFF"/>
          </a:solidFill>
          <a:ln w="19050">
            <a:solidFill>
              <a:srgbClr val="2E86A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325880"/>
            <a:ext cx="1691640" cy="8686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code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258568" y="1760220"/>
            <a:ext cx="146304" cy="9144"/>
          </a:xfrm>
          <a:prstGeom prst="line">
            <a:avLst/>
          </a:prstGeom>
          <a:noFill/>
          <a:ln w="19050">
            <a:solidFill>
              <a:srgbClr val="2E86AB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423160" y="1325880"/>
            <a:ext cx="1691640" cy="868680"/>
          </a:xfrm>
          <a:prstGeom prst="roundRect">
            <a:avLst>
              <a:gd name="adj" fmla="val 42105"/>
            </a:avLst>
          </a:prstGeom>
          <a:solidFill>
            <a:srgbClr val="EAF2FB"/>
          </a:solidFill>
          <a:ln w="19050">
            <a:solidFill>
              <a:srgbClr val="2E86A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423160" y="1325880"/>
            <a:ext cx="1691640" cy="8686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133088" y="1760220"/>
            <a:ext cx="146304" cy="9144"/>
          </a:xfrm>
          <a:prstGeom prst="line">
            <a:avLst/>
          </a:prstGeom>
          <a:noFill/>
          <a:ln w="19050">
            <a:solidFill>
              <a:srgbClr val="2E86AB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297680" y="1325880"/>
            <a:ext cx="1691640" cy="868680"/>
          </a:xfrm>
          <a:prstGeom prst="roundRect">
            <a:avLst>
              <a:gd name="adj" fmla="val 42105"/>
            </a:avLst>
          </a:prstGeom>
          <a:solidFill>
            <a:srgbClr val="FFFFFF"/>
          </a:solidFill>
          <a:ln w="19050">
            <a:solidFill>
              <a:srgbClr val="2E86A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297680" y="1325880"/>
            <a:ext cx="1691640" cy="8686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07608" y="1760220"/>
            <a:ext cx="146304" cy="9144"/>
          </a:xfrm>
          <a:prstGeom prst="line">
            <a:avLst/>
          </a:prstGeom>
          <a:noFill/>
          <a:ln w="19050">
            <a:solidFill>
              <a:srgbClr val="2E86AB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172200" y="1325880"/>
            <a:ext cx="1691640" cy="868680"/>
          </a:xfrm>
          <a:prstGeom prst="roundRect">
            <a:avLst>
              <a:gd name="adj" fmla="val 42105"/>
            </a:avLst>
          </a:prstGeom>
          <a:solidFill>
            <a:srgbClr val="FBE3BC"/>
          </a:solidFill>
          <a:ln w="19050">
            <a:solidFill>
              <a:srgbClr val="2E86A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172200" y="1325880"/>
            <a:ext cx="1691640" cy="8686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request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882128" y="1760220"/>
            <a:ext cx="146304" cy="9144"/>
          </a:xfrm>
          <a:prstGeom prst="line">
            <a:avLst/>
          </a:prstGeom>
          <a:noFill/>
          <a:ln w="19050">
            <a:solidFill>
              <a:srgbClr val="2E86AB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8046720" y="1325880"/>
            <a:ext cx="1691640" cy="868680"/>
          </a:xfrm>
          <a:prstGeom prst="roundRect">
            <a:avLst>
              <a:gd name="adj" fmla="val 42105"/>
            </a:avLst>
          </a:prstGeom>
          <a:solidFill>
            <a:srgbClr val="FBE3BC"/>
          </a:solidFill>
          <a:ln w="19050">
            <a:solidFill>
              <a:srgbClr val="2E86A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046720" y="1325880"/>
            <a:ext cx="1691640" cy="8686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Evolve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756648" y="1760220"/>
            <a:ext cx="146304" cy="9144"/>
          </a:xfrm>
          <a:prstGeom prst="line">
            <a:avLst/>
          </a:prstGeom>
          <a:noFill/>
          <a:ln w="19050">
            <a:solidFill>
              <a:srgbClr val="2E86AB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9921240" y="1325880"/>
            <a:ext cx="1691640" cy="868680"/>
          </a:xfrm>
          <a:prstGeom prst="roundRect">
            <a:avLst>
              <a:gd name="adj" fmla="val 42105"/>
            </a:avLst>
          </a:prstGeom>
          <a:solidFill>
            <a:srgbClr val="EAF2FB"/>
          </a:solidFill>
          <a:ln w="19050">
            <a:solidFill>
              <a:srgbClr val="2E86A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921240" y="1325880"/>
            <a:ext cx="1691640" cy="8686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test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2743200"/>
            <a:ext cx="11091672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Testing produces the regression suite; evolution consumes it as the safety net for every change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A change that cannot be tested safely loops back to earlier phases (requirements, design) to update their artifacts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Routing rule for prompts: status “loop-back” names the earlier phases whose artifacts are now out of date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Every accepted change needs a test that fails without it and passes with it</a:t>
            </a:r>
            <a:endParaRPr lang="en-US" sz="16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Chapter 8 → Structured Testing Prompt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1091672" cy="0"/>
          </a:xfrm>
          <a:prstGeom prst="line">
            <a:avLst/>
          </a:prstGeom>
          <a:noFill/>
          <a:ln w="19050">
            <a:solidFill>
              <a:srgbClr val="2E86A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Chapters 8–9 — Testing and Evolution   •   Prompt view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188720"/>
            <a:ext cx="2103120" cy="512064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188720"/>
            <a:ext cx="2103120" cy="512064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Role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2651760" y="1188720"/>
            <a:ext cx="8988552" cy="512064"/>
          </a:xfrm>
          <a:prstGeom prst="rect">
            <a:avLst/>
          </a:prstGeom>
          <a:solidFill>
            <a:srgbClr val="EAF2F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788920" y="1188720"/>
            <a:ext cx="87142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test engineer: designs test cases, writes automated tests, reports defects.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1755648"/>
            <a:ext cx="2103120" cy="512064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1755648"/>
            <a:ext cx="2103120" cy="512064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Context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2651760" y="1755648"/>
            <a:ext cx="8988552" cy="512064"/>
          </a:xfrm>
          <a:prstGeom prst="rect">
            <a:avLst/>
          </a:prstGeom>
          <a:solidFill>
            <a:srgbClr val="EAF2F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2788920" y="1755648"/>
            <a:ext cx="87142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Requirements, use cases, design and interfaces, code under test, project description, process model.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2322576"/>
            <a:ext cx="2103120" cy="512064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2322576"/>
            <a:ext cx="2103120" cy="512064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Task / Objective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2651760" y="2322576"/>
            <a:ext cx="8988552" cy="512064"/>
          </a:xfrm>
          <a:prstGeom prst="rect">
            <a:avLst/>
          </a:prstGeom>
          <a:solidFill>
            <a:srgbClr val="EAF2F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2788920" y="2322576"/>
            <a:ext cx="87142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a test plan and runnable tests that show requirements are met and expose defects.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2889504"/>
            <a:ext cx="2103120" cy="512064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48640" y="2889504"/>
            <a:ext cx="2103120" cy="512064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Requirements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2651760" y="2889504"/>
            <a:ext cx="8988552" cy="512064"/>
          </a:xfrm>
          <a:prstGeom prst="rect">
            <a:avLst/>
          </a:prstGeom>
          <a:solidFill>
            <a:srgbClr val="EAF2F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2788920" y="2889504"/>
            <a:ext cx="87142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per requirement with traceability; unit, component, system, release and user levels; partitions and boundaries.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8640" y="3456432"/>
            <a:ext cx="2103120" cy="512064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48640" y="3456432"/>
            <a:ext cx="2103120" cy="512064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 Constraints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2651760" y="3456432"/>
            <a:ext cx="8988552" cy="512064"/>
          </a:xfrm>
          <a:prstGeom prst="rect">
            <a:avLst/>
          </a:prstGeom>
          <a:solidFill>
            <a:srgbClr val="EAF2FB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2788920" y="3456432"/>
            <a:ext cx="87142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 isolated with mocks; release tests black-box; new tests fail first; stay within size budget.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48640" y="4023360"/>
            <a:ext cx="2103120" cy="512064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548640" y="4023360"/>
            <a:ext cx="2103120" cy="512064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 Process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2651760" y="4023360"/>
            <a:ext cx="8988552" cy="512064"/>
          </a:xfrm>
          <a:prstGeom prst="rect">
            <a:avLst/>
          </a:prstGeom>
          <a:solidFill>
            <a:srgbClr val="EAF2FB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2788920" y="4023360"/>
            <a:ext cx="87142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 inputs → write failing test → implement → refactor → regression → integrate incrementally → release test → acceptance.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548640" y="4590288"/>
            <a:ext cx="2103120" cy="512064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548640" y="4590288"/>
            <a:ext cx="2103120" cy="512064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 Output Format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2651760" y="4590288"/>
            <a:ext cx="8988552" cy="512064"/>
          </a:xfrm>
          <a:prstGeom prst="rect">
            <a:avLst/>
          </a:prstGeom>
          <a:solidFill>
            <a:srgbClr val="EAF2FB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2788920" y="4590288"/>
            <a:ext cx="87142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Test-plan table (ID, requirement, input, expected, level); runnable test code; defect report; handoff block.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548640" y="5157216"/>
            <a:ext cx="2103120" cy="512064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548640" y="5157216"/>
            <a:ext cx="2103120" cy="512064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 Verification</a:t>
            </a:r>
            <a:endParaRPr lang="en-US" sz="1350" dirty="0"/>
          </a:p>
        </p:txBody>
      </p:sp>
      <p:sp>
        <p:nvSpPr>
          <p:cNvPr id="36" name="Shape 34"/>
          <p:cNvSpPr/>
          <p:nvPr/>
        </p:nvSpPr>
        <p:spPr>
          <a:xfrm>
            <a:off x="2651760" y="5157216"/>
            <a:ext cx="8988552" cy="512064"/>
          </a:xfrm>
          <a:prstGeom prst="rect">
            <a:avLst/>
          </a:prstGeom>
          <a:solidFill>
            <a:srgbClr val="EAF2FB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2788920" y="5157216"/>
            <a:ext cx="87142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requirement traced; boundaries covered; all tests pass; stress limit found; acceptance criteria met.</a:t>
            </a:r>
            <a:endParaRPr lang="en-US" sz="11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Chapter 9 → Structured Evolution Prompt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1091672" cy="0"/>
          </a:xfrm>
          <a:prstGeom prst="line">
            <a:avLst/>
          </a:prstGeom>
          <a:noFill/>
          <a:ln w="19050">
            <a:solidFill>
              <a:srgbClr val="2E86A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Chapters 8–9 — Testing and Evolution   •   Prompt view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188720"/>
            <a:ext cx="2103120" cy="512064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188720"/>
            <a:ext cx="2103120" cy="512064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Role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2651760" y="1188720"/>
            <a:ext cx="8988552" cy="512064"/>
          </a:xfrm>
          <a:prstGeom prst="rect">
            <a:avLst/>
          </a:prstGeom>
          <a:solidFill>
            <a:srgbClr val="EAF2F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788920" y="1188720"/>
            <a:ext cx="87142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engineer and legacy analyst: changes systems safely, often built by others.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1755648"/>
            <a:ext cx="2103120" cy="512064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1755648"/>
            <a:ext cx="2103120" cy="512064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Context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2651760" y="1755648"/>
            <a:ext cx="8988552" cy="512064"/>
          </a:xfrm>
          <a:prstGeom prst="rect">
            <a:avLst/>
          </a:prstGeom>
          <a:solidFill>
            <a:srgbClr val="EAF2F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2788920" y="1755648"/>
            <a:ext cx="87142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system, change requests, release history, artifacts, regression suite, business context, mode of this run.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2322576"/>
            <a:ext cx="2103120" cy="512064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2322576"/>
            <a:ext cx="2103120" cy="512064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Task / Objective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2651760" y="2322576"/>
            <a:ext cx="8988552" cy="512064"/>
          </a:xfrm>
          <a:prstGeom prst="rect">
            <a:avLst/>
          </a:prstGeom>
          <a:solidFill>
            <a:srgbClr val="EAF2F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2788920" y="2322576"/>
            <a:ext cx="87142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and implement change, refactor, repair urgently, or recommend a legacy strategy.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2889504"/>
            <a:ext cx="2103120" cy="512064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48640" y="2889504"/>
            <a:ext cx="2103120" cy="512064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Requirements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2651760" y="2889504"/>
            <a:ext cx="8988552" cy="512064"/>
          </a:xfrm>
          <a:prstGeom prst="rect">
            <a:avLst/>
          </a:prstGeom>
          <a:solidFill>
            <a:srgbClr val="EAF2F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2788920" y="2889504"/>
            <a:ext cx="87142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each change; impact analysis; update requirements, design, code and tests together; cost estimate.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8640" y="3456432"/>
            <a:ext cx="2103120" cy="512064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48640" y="3456432"/>
            <a:ext cx="2103120" cy="512064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 Constraints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2651760" y="3456432"/>
            <a:ext cx="8988552" cy="512064"/>
          </a:xfrm>
          <a:prstGeom prst="rect">
            <a:avLst/>
          </a:prstGeom>
          <a:solidFill>
            <a:srgbClr val="EAF2FB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2788920" y="3456432"/>
            <a:ext cx="87142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new function while refactoring; regression suite stays green; document emergency shortcuts; moderate release size.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48640" y="4023360"/>
            <a:ext cx="2103120" cy="512064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548640" y="4023360"/>
            <a:ext cx="2103120" cy="512064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 Process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2651760" y="4023360"/>
            <a:ext cx="8988552" cy="512064"/>
          </a:xfrm>
          <a:prstGeom prst="rect">
            <a:avLst/>
          </a:prstGeom>
          <a:solidFill>
            <a:srgbClr val="EAF2FB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2788920" y="4023360"/>
            <a:ext cx="87142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change → impact analysis → release plan → implement → validate → release; or assess → place in grid → choose option.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548640" y="4590288"/>
            <a:ext cx="2103120" cy="512064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548640" y="4590288"/>
            <a:ext cx="2103120" cy="512064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 Output Format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2651760" y="4590288"/>
            <a:ext cx="8988552" cy="512064"/>
          </a:xfrm>
          <a:prstGeom prst="rect">
            <a:avLst/>
          </a:prstGeom>
          <a:solidFill>
            <a:srgbClr val="EAF2FB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2788920" y="4590288"/>
            <a:ext cx="87142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log, impact table, release plan, refactoring log, legacy assessment, recommendation, handoff block.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548640" y="5157216"/>
            <a:ext cx="2103120" cy="512064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548640" y="5157216"/>
            <a:ext cx="2103120" cy="512064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 Verification</a:t>
            </a:r>
            <a:endParaRPr lang="en-US" sz="1350" dirty="0"/>
          </a:p>
        </p:txBody>
      </p:sp>
      <p:sp>
        <p:nvSpPr>
          <p:cNvPr id="36" name="Shape 34"/>
          <p:cNvSpPr/>
          <p:nvPr/>
        </p:nvSpPr>
        <p:spPr>
          <a:xfrm>
            <a:off x="2651760" y="5157216"/>
            <a:ext cx="8988552" cy="512064"/>
          </a:xfrm>
          <a:prstGeom prst="rect">
            <a:avLst/>
          </a:prstGeom>
          <a:solidFill>
            <a:srgbClr val="EAF2FB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2788920" y="5157216"/>
            <a:ext cx="87142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Artifacts match code; suite passes; every factor answered; option justified from business and technical views.</a:t>
            </a:r>
            <a:endParaRPr lang="en-US" sz="11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Verification Checklists a Prompt Can Reuse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11091672" cy="0"/>
          </a:xfrm>
          <a:prstGeom prst="line">
            <a:avLst/>
          </a:prstGeom>
          <a:noFill/>
          <a:ln w="19050">
            <a:solidFill>
              <a:srgbClr val="2E86A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Chapters 8–9 — Testing and Evolution   •   Prompt view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188720"/>
            <a:ext cx="5317236" cy="457200"/>
          </a:xfrm>
          <a:prstGeom prst="rect">
            <a:avLst/>
          </a:prstGeom>
          <a:solidFill>
            <a:srgbClr val="EAF2F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188720"/>
            <a:ext cx="53172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checks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323076" y="1188720"/>
            <a:ext cx="5317236" cy="457200"/>
          </a:xfrm>
          <a:prstGeom prst="rect">
            <a:avLst/>
          </a:prstGeom>
          <a:solidFill>
            <a:srgbClr val="EAF2F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323076" y="1188720"/>
            <a:ext cx="53172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Evolution checks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1828800"/>
            <a:ext cx="5317236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Every requirement has a test and a trace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Partitions and boundaries covered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New tests fail before the code exists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Expected results stated, not assumed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Regression suite re-run after every change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Release tested by someone other than the author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323076" y="1828800"/>
            <a:ext cx="5317236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Each change classified and impact-analyzed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Specification, design, code and tests updated together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Refactoring adds no new functionality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Emergency fixes flagged for follow-up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All business, environment and application factors answered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One option chosen and justified</a:t>
            </a:r>
            <a:endParaRPr lang="en-US" sz="15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Points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2011680" cy="0"/>
          </a:xfrm>
          <a:prstGeom prst="line">
            <a:avLst/>
          </a:prstGeom>
          <a:noFill/>
          <a:ln w="25400">
            <a:solidFill>
              <a:srgbClr val="F2A54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508760"/>
            <a:ext cx="11091672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Testing shows a program meets requirements and finds defects; it cannot prove the absence of errors</a:t>
            </a:r>
            <a:endParaRPr lang="en-US" sz="15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Development, release and user testing each have a distinct team and goal; TDD builds the regression suite as you go</a:t>
            </a:r>
            <a:endParaRPr lang="en-US" sz="15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Software evolves for its whole life; change processing and urgent repairs must keep artifacts consistent</a:t>
            </a:r>
            <a:endParaRPr lang="en-US" sz="15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Lehman’s laws and maintenance costs explain why structure decays and change gets expensive</a:t>
            </a:r>
            <a:endParaRPr lang="en-US" sz="15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Refactor continuously; reengineer decayed systems; decide legacy fate by business value and quality</a:t>
            </a:r>
            <a:endParaRPr lang="en-US" sz="15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In prompts, tests are the safety net for evolution and a failed change loops back to earlier phases</a:t>
            </a:r>
            <a:endParaRPr lang="en-US" sz="15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Chapters 8–9 — Testing and Evolution   •   Key Points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Chapters 8–9: Software Testing and Evolution</dc:title>
  <dc:subject>PptxGenJS Presentation</dc:subject>
  <dc:creator>CSCE 5565</dc:creator>
  <cp:lastModifiedBy>CSCE 5565</cp:lastModifiedBy>
  <cp:revision>1</cp:revision>
  <dcterms:created xsi:type="dcterms:W3CDTF">2026-10-22T03:46:54Z</dcterms:created>
  <dcterms:modified xsi:type="dcterms:W3CDTF">2026-10-22T03:46:54Z</dcterms:modified>
</cp:coreProperties>
</file>