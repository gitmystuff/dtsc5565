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9171432" y="2651760"/>
            <a:ext cx="2560320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03A">
              <a:alpha val="55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864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Design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Sommerville, Software Engineering, 10th Edition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CSCE 5565 — Software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Overview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Architectural design decisions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 Architectural views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  Architectural patterns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 Application architectures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Architectural Design?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Introduction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stage in the software design process — understanding how a system should be organized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link between requirements engineering and design: identifies the main structural components and their relationships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an architectural model describing the system as a set of communicating components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agile processes, establishing an overall architecture early is still generally accepted — incremental development of architecture itself is rarely successful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requirements engineering and architectural design overlap significantly; some decomposition is usually needed just to structure a specification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Levels of Architecture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Introduction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 the Small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62940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 the Large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of an individual program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with how one program is decomposed into components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focus of this chapter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0116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of complex enterprise systems made up of other systems, programs, and components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distributed across computers owned and managed by different organizations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later, in the chapters on distributed systems architectures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Software Architecture Matters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Introduction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influences performance, robustness, distributability, and maintainability — the dominant influence on non-functional requirements (Bosch)</a:t>
            </a:r>
            <a:endParaRPr lang="en-US" sz="15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advantages of explicitly designing and documenting architecture (Bass et al.):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communication — a high-level focus for discussion across disciplines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analysis — early decisions affect whether critical requirements can be met at all</a:t>
            </a:r>
            <a:endParaRPr lang="en-US" sz="1500" dirty="0"/>
          </a:p>
          <a:p>
            <a:pPr lvl="1" marL="558800" indent="-279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reuse — similar systems often share similar architectures, enabling product-line reuse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Architectural Models Are Used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Introduction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facilitate discussion about the design</a:t>
            </a:r>
            <a:endParaRPr lang="en-US" sz="1400" dirty="0"/>
          </a:p>
          <a:p>
            <a:pPr lvl="1" marL="558800" indent="-279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view, uncluttered by detail, that stakeholders can relate to and discuss</a:t>
            </a:r>
            <a:endParaRPr lang="en-US" sz="14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document a design that has been made</a:t>
            </a:r>
            <a:endParaRPr lang="en-US" sz="1400" dirty="0"/>
          </a:p>
          <a:p>
            <a:pPr lvl="1" marL="558800" indent="-279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model of components, interfaces, and connections, to support later understanding and evolution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diagrams (boxes and arrows) support the first use well — but Bass et al. argue they're a poor *formal* representation, since they don't show relationship types or externally visible properties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many real projects, an informal block diagram is the only architectural documentation that ever exists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Design Decisions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series of decisions to make, not a fixed sequence of activities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Fundamental Questions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6.1 Architectural Design Decisions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2646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371600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architecture?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1371600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generic application architecture that can act as a template?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03911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1984248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1984248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the system be distributed across cores or processors?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2596896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or styles?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25968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architectural patterns or styles might be used?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3209544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structure?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3209544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basic approach used to structure the system?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3877056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3822192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Decomposition?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069080" y="3822192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components be decomposed into sub-components?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143000" y="4434840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strategy?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4069080" y="4434840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strategy controls the operation of the system's components?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48640" y="510235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4864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1143000" y="5047488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fit?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4069080" y="5047488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architectural organization best delivers the non-functional requirements?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548640" y="5715000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48640" y="5715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1143000" y="5660136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Evaluation?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4069080" y="566013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the architectural design be evaluated?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548640" y="632764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48640" y="6327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1143000" y="6272784"/>
            <a:ext cx="2834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Documentation?</a:t>
            </a:r>
            <a:endParaRPr lang="en-US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4069080" y="6272784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architecture be documented?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Non-Functional Requirements (1 of 2)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6.1 Architectural Design Decisions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0078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700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6459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16459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critical operations in a small number of components, deployed together rather than distributed — fewer, larger components reduce communication overhead.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302666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9718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29718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layered structure, with the most critical assets protected in the innermost layers under strict validation.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35254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429768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429768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safety-related operations in a single component or small number of components, simplifying validation and enabling safe shutdown.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Non-Functional Requirements (2 of 2)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6.1 Architectural Design Decisions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0934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609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5544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15544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redundant components so failed or updating components can be replaced without stopping the system.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93522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8803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288036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fine-grain, self-contained components that are easy to change; keep data producers separate from consumers.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343400"/>
            <a:ext cx="10607040" cy="128016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" y="434340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goals can conflict — large components favor performance, small fine-grain components favor maintainability. When both matter, some compromise is needed, sometimes by applying different patterns to different parts of the system.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Views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can show everything — different views serve different purposes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Kruchten's 4+1 View Model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6.2 Architectural Views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7218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41732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view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1417320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abstractions as objects or object classes, related back to system requirements.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4864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35000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view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2350008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How, at run-time, the system is composed of interacting processes — useful for performance and availability.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28269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view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3282696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software is broken down for development — useful for managers and programmers.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27024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21538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view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4215384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hardware and how software is distributed across processors — useful for deployment planning.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48640" y="5202936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48640" y="5202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514807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Conceptual view (Hofmeister et al.)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4069080" y="5148072"/>
            <a:ext cx="7772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abstract view used as a basis for decomposing requirements and supporting architectural decision-making.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Documenting Architecture: Which Notation?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6.2 Architectural Views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genuine disagreement here — worth presenting as a live debate, not a settled answer</a:t>
            </a:r>
            <a:endParaRPr lang="en-US" sz="145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 et al.:</a:t>
            </a:r>
            <a:endParaRPr lang="en-US" sz="1450" dirty="0"/>
          </a:p>
          <a:p>
            <a:pPr lvl="1" marL="558800" indent="-279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block diagrams are poor architectural representations — they don't show relationship types or visible properties</a:t>
            </a:r>
            <a:endParaRPr lang="en-US" sz="145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Sommerville's own view:</a:t>
            </a:r>
            <a:endParaRPr lang="en-US" sz="1450" dirty="0"/>
          </a:p>
          <a:p>
            <a:pPr lvl="1" marL="558800" indent="-279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is often too close to implementation for architecture; prefers quick, informal notations during design itself</a:t>
            </a:r>
            <a:endParaRPr lang="en-US" sz="145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practitioners:</a:t>
            </a:r>
            <a:endParaRPr lang="en-US" sz="1450" dirty="0"/>
          </a:p>
          <a:p>
            <a:pPr lvl="1" marL="558800" indent="-279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design documentation is mostly unused — not worth the cost, except for critical systems needing regulatory sign-off</a:t>
            </a:r>
            <a:endParaRPr lang="en-US" sz="14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Description Languages (ADLs) exist but are often hard for non-specialists to use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Architectural Patterns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Stylized, reusable descriptions of good architectural practice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Architectural Pattern?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6.3 Architectural Patterns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stylized, abstract description of good practice, tried and tested across different systems and environments</a:t>
            </a:r>
            <a:endParaRPr lang="en-US" sz="15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pattern description typically includes: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(often with a diagram)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 of use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should (and shouldn't) be used</a:t>
            </a:r>
            <a:endParaRPr lang="en-US" sz="1500" dirty="0"/>
          </a:p>
          <a:p>
            <a:pPr lvl="1" marL="558800" indent="-279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disadvantages</a:t>
            </a:r>
            <a:endParaRPr lang="en-US" sz="15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five slides walk through five commonly used patterns in this style: MVC, Layered, Repository, Client-Server, and Pipe and Filter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MVC: Model–View–Controller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6.3 Architectural Patterns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0" y="1554480"/>
            <a:ext cx="1920240" cy="731520"/>
          </a:xfrm>
          <a:prstGeom prst="roundRect">
            <a:avLst>
              <a:gd name="adj" fmla="val 8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75504" y="15544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011680" y="310896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066544" y="310896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955280" y="3108960"/>
            <a:ext cx="2194560" cy="731520"/>
          </a:xfrm>
          <a:prstGeom prst="roundRect">
            <a:avLst>
              <a:gd name="adj" fmla="val 875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10144" y="3108960"/>
            <a:ext cx="2084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 flipV="1">
            <a:off x="4206240" y="2103120"/>
            <a:ext cx="868680" cy="118872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3931920" y="2651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040880" y="2103120"/>
            <a:ext cx="960120" cy="118872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6858000" y="2377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notifies of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change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 flipH="1" flipV="1">
            <a:off x="7086600" y="2743200"/>
            <a:ext cx="914400" cy="100584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6583680" y="3840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state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188720" y="3474720"/>
            <a:ext cx="777240" cy="9144"/>
          </a:xfrm>
          <a:prstGeom prst="line">
            <a:avLst/>
          </a:prstGeom>
          <a:noFill/>
          <a:ln w="22225">
            <a:solidFill>
              <a:srgbClr val="22304A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457200" y="3246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754880"/>
            <a:ext cx="10607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presentation (View) and interaction (Controller) from system data (Model)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used: multiple ways to view/interact with data, or future interaction needs are unknown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data can change independently of its representation, shown consistently across views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added complexity when the data model and interactions are actually simple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6.3 Architectural Patterns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1828800" y="146304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83664" y="146304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828800" y="224028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883664" y="224028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Management / Authentication &amp; Authorization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828800" y="301752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883664" y="301752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Utilities / Application Functionality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28800" y="3794760"/>
            <a:ext cx="8503920" cy="685800"/>
          </a:xfrm>
          <a:prstGeom prst="roundRect">
            <a:avLst>
              <a:gd name="adj" fmla="val 9333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883664" y="3794760"/>
            <a:ext cx="8394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Support (OS, Database, etc.)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75488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relies only on the services of the layer immediately beneath it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can be replaced by an equivalent layer, so long as its interface is unchanged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incremental development and multi-platform implementations — only inner, machine-dependent layers need reimplementation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clean separation is often hard in practice; performance can suffer from multiple levels of interpretation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LIBSYS, a 5-layer system for shared library access, down to individual library databases at the bottom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6.3 Architectural Patterns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029200" y="2148840"/>
            <a:ext cx="2011680" cy="731520"/>
          </a:xfrm>
          <a:prstGeom prst="roundRect">
            <a:avLst>
              <a:gd name="adj" fmla="val 8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84064" y="214884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 flipH="1" flipV="1">
            <a:off x="2103120" y="1508760"/>
            <a:ext cx="3931920" cy="10058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188720" y="1179576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43584" y="117957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 flipH="1" flipV="1">
            <a:off x="4572000" y="1188720"/>
            <a:ext cx="1463040" cy="13258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0" y="859536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12464" y="85953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 flipV="1">
            <a:off x="6035040" y="1188720"/>
            <a:ext cx="1463040" cy="13258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859536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38544" y="85953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 flipV="1">
            <a:off x="6035040" y="1508760"/>
            <a:ext cx="3931920" cy="10058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52560" y="1179576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107424" y="117957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 flipH="1">
            <a:off x="3291840" y="2514600"/>
            <a:ext cx="2743200" cy="11887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77440" y="3374136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432304" y="337413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035040" y="2514600"/>
            <a:ext cx="2743200" cy="11887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863840" y="3374136"/>
            <a:ext cx="1828800" cy="658368"/>
          </a:xfrm>
          <a:prstGeom prst="roundRect">
            <a:avLst>
              <a:gd name="adj" fmla="val 972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18704" y="3374136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Java/Python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Editors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434840"/>
            <a:ext cx="106070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managed in a central repository, accessible to every component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don't interact directly — only through the repository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used: large volumes of data generated by one component and used by another (e.g. an IDE)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components stay independent; all data can be managed consistently in one place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a single point of failure; can be inefficient, and hard to distribute across machines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Client–Server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6.3 Architectural Patterns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14400" y="155448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" y="15544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14600" y="155448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9464" y="15544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14800" y="155448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69664" y="15544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0" y="1554480"/>
            <a:ext cx="1371600" cy="594360"/>
          </a:xfrm>
          <a:prstGeom prst="roundRect">
            <a:avLst>
              <a:gd name="adj" fmla="val 1076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9864" y="15544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80560" y="2651760"/>
            <a:ext cx="3200400" cy="594360"/>
          </a:xfrm>
          <a:prstGeom prst="roundRect">
            <a:avLst>
              <a:gd name="adj" fmla="val 1076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35424" y="2651760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600200" y="2148840"/>
            <a:ext cx="3429000" cy="50292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200400" y="2148840"/>
            <a:ext cx="2103120" cy="50292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4800600" y="2148840"/>
            <a:ext cx="777240" cy="50292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H="1">
            <a:off x="5852160" y="2148840"/>
            <a:ext cx="548640" cy="50292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914400" y="3840480"/>
            <a:ext cx="2286000" cy="731520"/>
          </a:xfrm>
          <a:prstGeom prst="roundRect">
            <a:avLst>
              <a:gd name="adj" fmla="val 8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828800" y="3246120"/>
            <a:ext cx="320040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3520440" y="3840480"/>
            <a:ext cx="2286000" cy="731520"/>
          </a:xfrm>
          <a:prstGeom prst="roundRect">
            <a:avLst>
              <a:gd name="adj" fmla="val 8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75304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34840" y="3246120"/>
            <a:ext cx="105156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126480" y="3840480"/>
            <a:ext cx="2286000" cy="731520"/>
          </a:xfrm>
          <a:prstGeom prst="roundRect">
            <a:avLst>
              <a:gd name="adj" fmla="val 8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81344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 flipH="1">
            <a:off x="5943600" y="3246120"/>
            <a:ext cx="109728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8732520" y="3840480"/>
            <a:ext cx="2286000" cy="731520"/>
          </a:xfrm>
          <a:prstGeom prst="roundRect">
            <a:avLst>
              <a:gd name="adj" fmla="val 875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787384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 flipH="1">
            <a:off x="6400800" y="3246120"/>
            <a:ext cx="324612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548640" y="502920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is organized into services, each delivered from a separate server; clients access and use those services over a network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used: shared data accessed from many locations, or variable load (servers can be replicated)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servers can be distributed, added, or upgraded independently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each service is a single point of failure, vulnerable to denial-of-service; performance depends on the network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 and Filter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6.3 Architectural Patterns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" y="17373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Issued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2148840"/>
            <a:ext cx="45720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749040" y="173736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803904" y="17373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2148840"/>
            <a:ext cx="45720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583680" y="173736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638544" y="173736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49040" y="301752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03904" y="30175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Payments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3429000"/>
            <a:ext cx="45720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583680" y="3017520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38544" y="301752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Payment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1148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 through each transform — like Unix pipes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457200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processing component (filter) performs one data transformation; data flows from one to the next like water through a pipe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used: data processing applications where inputs move through separate stages to related outputs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Advantage: easy to understand, supports reuse of transformations, matches many business workflows</a:t>
            </a:r>
            <a:endParaRPr lang="en-US" sz="12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2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Disadvantage: communicating components must agree on a shared data format; hard to use for interactive, event-driven systems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Architectures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architectures reused across systems in the same application class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Reuse at the Application Level?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6.4 Application Architectures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in the same sector share common application needs — this leads to generic, reusable application architectures</a:t>
            </a:r>
            <a:endParaRPr lang="en-US" sz="15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use an application architecture model: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starting point for a new design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design checklist against your own architecture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way of organizing the development team's work</a:t>
            </a:r>
            <a:endParaRPr lang="en-US" sz="15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way of assessing components for reuse</a:t>
            </a:r>
            <a:endParaRPr lang="en-US" sz="1500" dirty="0"/>
          </a:p>
          <a:p>
            <a:pPr lvl="1" marL="558800" indent="-279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shared vocabulary for discussing and comparing applications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Processing Systems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6.4 Application Architectures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36676" y="173736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1540" y="17373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168396" y="2171700"/>
            <a:ext cx="36576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579876" y="173736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34740" y="17373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11596" y="2171700"/>
            <a:ext cx="36576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323076" y="173736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77940" y="17373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54796" y="2171700"/>
            <a:ext cx="36576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066276" y="1737360"/>
            <a:ext cx="2286000" cy="868680"/>
          </a:xfrm>
          <a:prstGeom prst="roundRect">
            <a:avLst>
              <a:gd name="adj" fmla="val 736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17373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017520"/>
            <a:ext cx="10607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transaction is a sequence of operations treated as one atomic unit — all complete, or none do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ATM withdrawal — check account, verify balance, update balance, dispense cash — incomplete until every step succeeds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makes a request → application logic processes it → a transaction is created and handed to the transaction manager → the manager confirms completion against the database</a:t>
            </a:r>
            <a:endParaRPr lang="en-US" sz="14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4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organized internally as a pipe-and-filter chain: input, process, output components (e.g. an ATM's card reader, account processing, and cash dispenser)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Systems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6.4 Application Architectures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103120" y="1417320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157984" y="1417320"/>
            <a:ext cx="7845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103120" y="2148840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157984" y="2148840"/>
            <a:ext cx="7845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Communications / Authentication &amp; Authorization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103120" y="2880360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57984" y="2880360"/>
            <a:ext cx="7845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&amp; Modification / Transaction Management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103120" y="3611880"/>
            <a:ext cx="7955280" cy="658368"/>
          </a:xfrm>
          <a:prstGeom prst="roundRect">
            <a:avLst>
              <a:gd name="adj" fmla="val 97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157984" y="3611880"/>
            <a:ext cx="7845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480560"/>
            <a:ext cx="10607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layered architecture is a natural fit — the top layer supports the UI, the bottom layer is the database</a:t>
            </a:r>
            <a:endParaRPr lang="en-US" sz="13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MHC-PMS — a web browser UI, a layer handling login/role-checking/forms, a layer for security/patient records/import-export/reporting, and a database layer for transactions and storage</a:t>
            </a:r>
            <a:endParaRPr lang="en-US" sz="135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information systems are usually web-based, often implemented as multi-tier client-server systems: a web server, an application server, and a database server, each independently scalable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Processing Systems</a:t>
            </a:r>
            <a:endParaRPr lang="en-US" sz="2700" dirty="0"/>
          </a:p>
        </p:txBody>
      </p:sp>
      <p:pic>
        <p:nvPicPr>
          <p:cNvPr id="3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2" y="274320"/>
            <a:ext cx="45720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6 — Architectural Design   •   6.4 Application Architectures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14400" y="15544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" y="15544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Language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920240"/>
            <a:ext cx="64008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977640" y="1554480"/>
            <a:ext cx="210312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32504" y="1554480"/>
            <a:ext cx="1993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0760" y="1920240"/>
            <a:ext cx="64008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766560" y="15544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21424" y="1554480"/>
            <a:ext cx="2267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Machine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9144000" y="1920240"/>
            <a:ext cx="64008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829800" y="1554480"/>
            <a:ext cx="1920240" cy="777240"/>
          </a:xfrm>
          <a:prstGeom prst="roundRect">
            <a:avLst>
              <a:gd name="adj" fmla="val 8235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884664" y="1554480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Interpreter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651760"/>
            <a:ext cx="106070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 source/natural language into another representation, then (often) executes it</a:t>
            </a:r>
            <a:endParaRPr lang="en-US" sz="13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common compiler components:</a:t>
            </a:r>
            <a:endParaRPr lang="en-US" sz="13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analyzer — converts input tokens to internal form</a:t>
            </a:r>
            <a:endParaRPr lang="en-US" sz="13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table — holds names of variables, classes, objects, etc.</a:t>
            </a:r>
            <a:endParaRPr lang="en-US" sz="13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analyzer — checks syntax, builds a syntax tree</a:t>
            </a:r>
            <a:endParaRPr lang="en-US" sz="13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tree — the internal program representation</a:t>
            </a:r>
            <a:endParaRPr lang="en-US" sz="1300" dirty="0"/>
          </a:p>
          <a:p>
            <a:pPr lvl="1" marL="558800" indent="-279400">
              <a:spcAft>
                <a:spcPts val="3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analyzer — checks semantic correctness</a:t>
            </a:r>
            <a:endParaRPr lang="en-US" sz="1300" dirty="0"/>
          </a:p>
          <a:p>
            <a:pPr lvl="1" marL="558800" indent="-279400">
              <a:spcAft>
                <a:spcPts val="1200"/>
              </a:spcAft>
              <a:buSzPct val="100000"/>
              <a:buChar char="–"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generator — walks the syntax tree, emits machine code</a:t>
            </a:r>
            <a:endParaRPr lang="en-US" sz="13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13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Pipe-and-filter suits batch compilation; an interactive environment (editor, debugger) favors organizing these same components around a shared repository instead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architecture describes how a system is organized — it strongly influences performance, security, and availability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 decisions span application type, distribution, style, decomposition, control strategy, evaluation, and documentation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views — conceptual, logical, process, development, physical — are often needed; no single model shows everything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patterns reuse proven knowledge: name, description, example, when to use it, advantages, disadvantages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patterns: Model-View-Controller, Layered Architecture, Repository, Client-Server, and Pipe and Filter</a:t>
            </a:r>
            <a:endParaRPr lang="en-US" sz="16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application architectures — like transaction processing, information, and language processing systems — support reuse, comparison, and team organization across similar systems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2026-10-01T03:53:26Z</dcterms:created>
  <dcterms:modified xsi:type="dcterms:W3CDTF">2026-10-01T03:53:26Z</dcterms:modified>
</cp:coreProperties>
</file>