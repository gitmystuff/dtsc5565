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163" autoAdjust="0"/>
  </p:normalViewPr>
  <p:slideViewPr>
    <p:cSldViewPr snapToGrid="0" snapToObjects="1">
      <p:cViewPr varScale="1">
        <p:scale>
          <a:sx n="58" d="100"/>
          <a:sy n="58" d="100"/>
        </p:scale>
        <p:origin x="82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4134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Waterfall</a:t>
            </a:r>
            <a:r>
              <a:rPr lang="en-US" dirty="0"/>
              <a:t> is the classic plan-driven software process model — the one Ch3 contrasts agile against. From your Ch2 lecture, the key points:</a:t>
            </a:r>
          </a:p>
          <a:p>
            <a:r>
              <a:rPr lang="en-US" b="1" dirty="0"/>
              <a:t>Structure:</a:t>
            </a:r>
            <a:r>
              <a:rPr lang="en-US" dirty="0"/>
              <a:t> A strict sequence of distinct phases, each completed before the next begins:</a:t>
            </a:r>
          </a:p>
          <a:p>
            <a:pPr lvl="0"/>
            <a:r>
              <a:rPr lang="en-US" dirty="0"/>
              <a:t>Requirements definition</a:t>
            </a:r>
          </a:p>
          <a:p>
            <a:pPr lvl="0"/>
            <a:r>
              <a:rPr lang="en-US" dirty="0"/>
              <a:t>System and software design</a:t>
            </a:r>
          </a:p>
          <a:p>
            <a:pPr lvl="0"/>
            <a:r>
              <a:rPr lang="en-US" dirty="0"/>
              <a:t>Implementation and unit testing</a:t>
            </a:r>
          </a:p>
          <a:p>
            <a:pPr lvl="0"/>
            <a:r>
              <a:rPr lang="en-US" dirty="0"/>
              <a:t>Integration and system testing</a:t>
            </a:r>
          </a:p>
          <a:p>
            <a:pPr lvl="0"/>
            <a:r>
              <a:rPr lang="en-US" dirty="0"/>
              <a:t>Operation and maintenance</a:t>
            </a:r>
          </a:p>
          <a:p>
            <a:r>
              <a:rPr lang="en-US" b="1" dirty="0"/>
              <a:t>Core idea:</a:t>
            </a:r>
            <a:r>
              <a:rPr lang="en-US" dirty="0"/>
              <a:t> Each phase produces a formal document/output that becomes the input to the next phase. There's no going back — the model assumes you can get each phase "right" before moving on.</a:t>
            </a:r>
          </a:p>
          <a:p>
            <a:r>
              <a:rPr lang="en-US" b="1" dirty="0"/>
              <a:t>Main drawback (per Ch2):</a:t>
            </a:r>
            <a:r>
              <a:rPr lang="en-US" dirty="0"/>
              <a:t> Inflexibility. Once a phase is done, revisiting it is difficult and costly. This makes waterfall a poor fit when requirements are likely to change during development — which is exactly the problem agile methods were designed to solve.</a:t>
            </a:r>
          </a:p>
          <a:p>
            <a:r>
              <a:rPr lang="en-US" b="1" dirty="0"/>
              <a:t>When it still makes sense:</a:t>
            </a:r>
            <a:endParaRPr lang="en-US" dirty="0"/>
          </a:p>
          <a:p>
            <a:pPr lvl="0"/>
            <a:r>
              <a:rPr lang="en-US" dirty="0"/>
              <a:t>Requirements are well-understood and unlikely to shift</a:t>
            </a:r>
          </a:p>
          <a:p>
            <a:pPr lvl="0"/>
            <a:r>
              <a:rPr lang="en-US" dirty="0"/>
              <a:t>The system is large, safety-critical, or heavily regulated (aerospace, government) — where a complete upfront specification is actually necessary</a:t>
            </a:r>
          </a:p>
          <a:p>
            <a:pPr lvl="0"/>
            <a:r>
              <a:rPr lang="en-US" dirty="0"/>
              <a:t>Work is distributed across multiple organizations/sites, where formal documents are needed to coordinate between teams</a:t>
            </a:r>
          </a:p>
          <a:p>
            <a:r>
              <a:rPr lang="en-US" b="1" dirty="0"/>
              <a:t>The through-line to Ch3:</a:t>
            </a:r>
            <a:r>
              <a:rPr lang="en-US" dirty="0"/>
              <a:t> waterfall is the plan-driven end of the spectrum Sommerville uses throughout — agile isn't "waterfall's replacement," it's the other end of a continuum, and the real skill (as your slides frame it) is judging which factors push a project toward one end or the other, or toward a hybrid.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landmark agile methods that crystallized the movement in the late 1990s — the moment Chapter 3 marks as when "the notion really took off."</a:t>
            </a:r>
          </a:p>
          <a:p>
            <a:r>
              <a:rPr lang="en-US" b="1" dirty="0"/>
              <a:t>DSDM (Dynamic Systems Development Method)</a:t>
            </a:r>
            <a:r>
              <a:rPr lang="en-US" dirty="0"/>
              <a:t> — introduced by Stapleton in 1997. One of the earliest formalized agile frameworks, built around iterative, incremental development with strong emphasis on active user involvement and frequent delivery. It's less well-known today than Scrum or XP but was historically significant as one of the first attempts to codify rapid application development into a repeatable method.</a:t>
            </a:r>
          </a:p>
          <a:p>
            <a:r>
              <a:rPr lang="en-US" b="1" dirty="0"/>
              <a:t>Scrum</a:t>
            </a:r>
            <a:r>
              <a:rPr lang="en-US" dirty="0"/>
              <a:t> — introduced by Schwaber and Beedle in 2001 (though the ideas trace earlier). Scrum is a </a:t>
            </a:r>
            <a:r>
              <a:rPr lang="en-US" i="1" dirty="0"/>
              <a:t>project management framework</a:t>
            </a:r>
            <a:r>
              <a:rPr lang="en-US" dirty="0"/>
              <a:t>, not a set of engineering practices — it doesn't tell you how to code, only how to organize the work. Its core structure: fixed-length sprints (2-4 weeks), a prioritized product backlog, daily stand-up meetings, and a Scrum Master who shields the team from external distractions. This is the method covered in Ch3.4 of your slides.</a:t>
            </a:r>
          </a:p>
          <a:p>
            <a:r>
              <a:rPr lang="en-US" b="1" dirty="0"/>
              <a:t>Extreme Programming (XP)</a:t>
            </a:r>
            <a:r>
              <a:rPr lang="en-US" dirty="0"/>
              <a:t> — introduced by Kent Beck, 1999/2000. Unlike Scrum, XP is deeply prescriptive about </a:t>
            </a:r>
            <a:r>
              <a:rPr lang="en-US" i="1" dirty="0"/>
              <a:t>engineering practice</a:t>
            </a:r>
            <a:r>
              <a:rPr lang="en-US" dirty="0"/>
              <a:t>: test-first development, pair programming, continuous integration, refactoring, collective code ownership. Beck's idea was to take practices already known to be good (like iterative development and code review) and push them to "extreme" levels — hence the name. This is Ch3.3 in your slides.</a:t>
            </a:r>
          </a:p>
          <a:p>
            <a:r>
              <a:rPr lang="en-US" b="1" dirty="0"/>
              <a:t>Why "emerge" together matters:</a:t>
            </a:r>
            <a:r>
              <a:rPr lang="en-US" dirty="0"/>
              <a:t> these three arrived within a few years of each other, independently, from different practitioners — and that convergence is </a:t>
            </a:r>
            <a:r>
              <a:rPr lang="en-US" i="1" dirty="0"/>
              <a:t>why</a:t>
            </a:r>
            <a:r>
              <a:rPr lang="en-US" dirty="0"/>
              <a:t> the Agile Manifesto got written in 2001. The manifesto wasn't the starting point; it was leaders from DSDM, Scrum, XP, Crystal, and others recognizing they'd separately arrived at overlapping principles and deciding to name what they shared. That's the actual sequence: independent practice → convergence → manifesto, not the reverse.</a:t>
            </a:r>
          </a:p>
          <a:p>
            <a:endParaRPr lang="en-US" dirty="0"/>
          </a:p>
          <a:p>
            <a:r>
              <a:rPr lang="en-US" dirty="0"/>
              <a:t>"The agile method" is a family of related approaches (Scrum, XP, DSDM, Crystal, and others) that share a common philosophy, formalized in the 2001 Agile Manifesto. If you're looking for a single definition that covers what they all have in common:</a:t>
            </a:r>
          </a:p>
          <a:p>
            <a:r>
              <a:rPr lang="en-US" b="1" dirty="0"/>
              <a:t>Agile methods are incremental development approaches</a:t>
            </a:r>
            <a:r>
              <a:rPr lang="en-US" dirty="0"/>
              <a:t> where software is built and delivered in small, frequent releases (often every 2-4 weeks) rather than as one large delivery at the end of a long process. The defining characteristics:</a:t>
            </a:r>
          </a:p>
          <a:p>
            <a:pPr lvl="0"/>
            <a:r>
              <a:rPr lang="en-US" b="1" dirty="0"/>
              <a:t>Specification, design, and implementation happen together</a:t>
            </a:r>
            <a:r>
              <a:rPr lang="en-US" dirty="0"/>
              <a:t>, not as separate sequential phases — there's no complete upfront spec</a:t>
            </a:r>
          </a:p>
          <a:p>
            <a:pPr lvl="0"/>
            <a:r>
              <a:rPr lang="en-US" b="1" dirty="0"/>
              <a:t>The customer is closely involved throughout</a:t>
            </a:r>
            <a:r>
              <a:rPr lang="en-US" dirty="0"/>
              <a:t>, evaluating each increment and reprioritizing what comes next</a:t>
            </a:r>
          </a:p>
          <a:p>
            <a:pPr lvl="0"/>
            <a:r>
              <a:rPr lang="en-US" b="1" dirty="0"/>
              <a:t>Documentation is minimized</a:t>
            </a:r>
            <a:r>
              <a:rPr lang="en-US" dirty="0"/>
              <a:t> in favor of working software and informal communication</a:t>
            </a:r>
          </a:p>
          <a:p>
            <a:pPr lvl="0"/>
            <a:r>
              <a:rPr lang="en-US" b="1" dirty="0"/>
              <a:t>Change is expected and embraced</a:t>
            </a:r>
            <a:r>
              <a:rPr lang="en-US" dirty="0"/>
              <a:t>, not treated as a disruption to a fixed plan</a:t>
            </a:r>
          </a:p>
          <a:p>
            <a:r>
              <a:rPr lang="en-US" dirty="0"/>
              <a:t>This sits in direct contrast to </a:t>
            </a:r>
            <a:r>
              <a:rPr lang="en-US" b="1" dirty="0"/>
              <a:t>plan-driven (waterfall) development</a:t>
            </a:r>
            <a:r>
              <a:rPr lang="en-US" dirty="0"/>
              <a:t>, where requirements, design, implementation, and testing are distinct sequential stages, each producing formal documents before the next begins.</a:t>
            </a:r>
          </a:p>
          <a:p>
            <a:r>
              <a:rPr lang="en-US" dirty="0"/>
              <a:t>The philosophy is captured in the Agile Manifesto's four value statements: individuals and interactions over processes and tools, working software over comprehensive documentation, customer collaboration over contract negotiation, and responding to change over following a plan.</a:t>
            </a:r>
          </a:p>
          <a:p>
            <a:r>
              <a:rPr lang="en-US" dirty="0"/>
              <a:t>If you meant a specific one — Scrum (project management framework) or XP (engineering practices like pair programming and test-first development) are the two most commonly taught — let me know and I can go deeper on either.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picture, with each task traced back to its exact origin in the story:</a:t>
            </a:r>
          </a:p>
          <a:p>
            <a:r>
              <a:rPr lang="en-US" b="1" dirty="0"/>
              <a:t>The three branches in the story</a:t>
            </a:r>
            <a:endParaRPr lang="en-US" dirty="0"/>
          </a:p>
          <a:p>
            <a:r>
              <a:rPr lang="en-US" dirty="0"/>
              <a:t>The doctor can prescribe medication three different ways:</a:t>
            </a:r>
          </a:p>
          <a:p>
            <a:pPr lvl="0"/>
            <a:r>
              <a:rPr lang="en-US" b="1" dirty="0"/>
              <a:t>Current medication</a:t>
            </a:r>
            <a:r>
              <a:rPr lang="en-US" dirty="0"/>
              <a:t> — the drug is already known (patient's already on it); she just checks/adjusts the dose</a:t>
            </a:r>
          </a:p>
          <a:p>
            <a:pPr lvl="0"/>
            <a:r>
              <a:rPr lang="en-US" b="1" dirty="0"/>
              <a:t>New medication</a:t>
            </a:r>
            <a:r>
              <a:rPr lang="en-US" dirty="0"/>
              <a:t> — she types in a drug she hasn't prescribed before, picks from suggestions</a:t>
            </a:r>
          </a:p>
          <a:p>
            <a:pPr lvl="0"/>
            <a:r>
              <a:rPr lang="en-US" b="1" dirty="0"/>
              <a:t>Formulary</a:t>
            </a:r>
            <a:r>
              <a:rPr lang="en-US" dirty="0"/>
              <a:t> — she searches an approved reference list to find a drug</a:t>
            </a:r>
          </a:p>
          <a:p>
            <a:r>
              <a:rPr lang="en-US" dirty="0"/>
              <a:t>Then, </a:t>
            </a:r>
            <a:r>
              <a:rPr lang="en-US" b="1" dirty="0"/>
              <a:t>regardless of which path she took</a:t>
            </a:r>
            <a:r>
              <a:rPr lang="en-US" dirty="0"/>
              <a:t>, two things always happen afterward: the dose gets checked against a safe range, and once confirmed, it's logged.</a:t>
            </a:r>
          </a:p>
          <a:p>
            <a:r>
              <a:rPr lang="en-US" b="1" dirty="0"/>
              <a:t>Now the three tasks, mapped to their source:</a:t>
            </a:r>
            <a:endParaRPr lang="en-US" dirty="0"/>
          </a:p>
          <a:p>
            <a:r>
              <a:rPr lang="en-US" b="1" dirty="0"/>
              <a:t>Task 1 — Change dose of a prescribed drug</a:t>
            </a:r>
            <a:r>
              <a:rPr lang="en-US" dirty="0"/>
              <a:t> → Comes from the </a:t>
            </a:r>
            <a:r>
              <a:rPr lang="en-US" b="1" dirty="0"/>
              <a:t>"current medication" branch</a:t>
            </a:r>
            <a:r>
              <a:rPr lang="en-US" dirty="0"/>
              <a:t>. The drug itself isn't in question — the only work here is: show the existing dose, let her edit it, accept the new value. Narrow, self-contained piece of logic.</a:t>
            </a:r>
          </a:p>
          <a:p>
            <a:r>
              <a:rPr lang="en-US" b="1" dirty="0"/>
              <a:t>Task 2 — Formulary selection</a:t>
            </a:r>
            <a:r>
              <a:rPr lang="en-US" dirty="0"/>
              <a:t> → Comes from the </a:t>
            </a:r>
            <a:r>
              <a:rPr lang="en-US" b="1" dirty="0"/>
              <a:t>"formulary" branch</a:t>
            </a:r>
            <a:r>
              <a:rPr lang="en-US" dirty="0"/>
              <a:t>. This is a different kind of work entirely — searching a reference list, letting her pick a result. Nothing to do with adjusting an existing dose.</a:t>
            </a:r>
          </a:p>
          <a:p>
            <a:r>
              <a:rPr lang="en-US" b="1" dirty="0"/>
              <a:t>Task 3 — Dose checking</a:t>
            </a:r>
            <a:r>
              <a:rPr lang="en-US" dirty="0"/>
              <a:t> → This one's different from the other two. It doesn't come from </a:t>
            </a:r>
            <a:r>
              <a:rPr lang="en-US" i="1" dirty="0"/>
              <a:t>one</a:t>
            </a:r>
            <a:r>
              <a:rPr lang="en-US" dirty="0"/>
              <a:t> branch — it comes from the part of the story that says the dose is </a:t>
            </a:r>
            <a:r>
              <a:rPr lang="en-US" b="1" dirty="0"/>
              <a:t>always</a:t>
            </a:r>
            <a:r>
              <a:rPr lang="en-US" dirty="0"/>
              <a:t> validated, no matter which path got you there. Since all three branches eventually produce "a dose was entered," dose-checking gets pulled out as its own reusable task rather than being built three separate times inside each branch.</a:t>
            </a:r>
          </a:p>
          <a:p>
            <a:r>
              <a:rPr lang="en-US" b="1" dirty="0"/>
              <a:t>One honest gap to flag:</a:t>
            </a:r>
            <a:r>
              <a:rPr lang="en-US" dirty="0"/>
              <a:t> the story actually has a fourth branch — "new medication" — where she manually searches by typing drug-name letters. That branch would logically need its own task too (something like "New medication search"), the same way formulary search got one. The original example only shows three task cards, so either that task exists but wasn't pictured, or the team judged it similar enough to Task 2's search mechanism to fold in. Worth noting as a loose thread rather than something to paper over.</a:t>
            </a:r>
          </a:p>
          <a:p>
            <a:r>
              <a:rPr lang="en-US" b="1" dirty="0"/>
              <a:t>The pattern to take away:</a:t>
            </a:r>
            <a:r>
              <a:rPr lang="en-US" dirty="0"/>
              <a:t> tasks map to </a:t>
            </a:r>
            <a:r>
              <a:rPr lang="en-US" i="1" dirty="0"/>
              <a:t>branches of behavior</a:t>
            </a:r>
            <a:r>
              <a:rPr lang="en-US" dirty="0"/>
              <a:t> in the story, except where behavior is shared </a:t>
            </a:r>
            <a:r>
              <a:rPr lang="en-US" i="1" dirty="0"/>
              <a:t>across</a:t>
            </a:r>
            <a:r>
              <a:rPr lang="en-US" dirty="0"/>
              <a:t> branches — that shared behavior becomes its own task instead of being duplicated.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Text 2"/>
          <p:cNvSpPr txBox="1"/>
          <p:nvPr/>
        </p:nvSpPr>
        <p:spPr>
          <a:xfrm>
            <a:off x="548640" y="1965960"/>
            <a:ext cx="7315200" cy="457200"/>
          </a:xfrm>
          <a:prstGeom prst="rect">
            <a:avLst/>
          </a:prstGeom>
          <a:noFill/>
          <a:ln/>
        </p:spPr>
        <p:txBody>
          <a:bodyPr wrap="square" lIns="0" tIns="0" rIns="0" bIns="0" rtlCol="0" anchor="ctr"/>
          <a:lstStyle/>
          <a:p>
            <a:pPr marL="0" indent="0">
              <a:buNone/>
            </a:pPr>
            <a:r>
              <a:rPr lang="en-US" sz="1800" b="1" kern="0" spc="300" dirty="0">
                <a:solidFill>
                  <a:srgbClr val="F2A541"/>
                </a:solidFill>
                <a:latin typeface="Calibri" pitchFamily="34" charset="0"/>
                <a:ea typeface="Calibri" pitchFamily="34" charset="-122"/>
                <a:cs typeface="Calibri" pitchFamily="34" charset="-120"/>
              </a:rPr>
              <a:t>CHAPTER 3</a:t>
            </a:r>
            <a:endParaRPr lang="en-US" sz="1800" dirty="0"/>
          </a:p>
        </p:txBody>
      </p:sp>
      <p:sp>
        <p:nvSpPr>
          <p:cNvPr id="6" name="Text 3"/>
          <p:cNvSpPr txBox="1"/>
          <p:nvPr/>
        </p:nvSpPr>
        <p:spPr>
          <a:xfrm>
            <a:off x="548640" y="2423160"/>
            <a:ext cx="8412480" cy="1828800"/>
          </a:xfrm>
          <a:prstGeom prst="rect">
            <a:avLst/>
          </a:prstGeom>
          <a:noFill/>
          <a:ln/>
        </p:spPr>
        <p:txBody>
          <a:bodyPr wrap="square" lIns="0" tIns="0" rIns="0" bIns="0" rtlCol="0" anchor="ctr"/>
          <a:lstStyle/>
          <a:p>
            <a:pPr marL="0" indent="0">
              <a:lnSpc>
                <a:spcPct val="105000"/>
              </a:lnSpc>
              <a:buNone/>
            </a:pPr>
            <a:r>
              <a:rPr lang="en-US" sz="4400" b="1" dirty="0">
                <a:latin typeface="Cambria" pitchFamily="34" charset="0"/>
                <a:ea typeface="Cambria" pitchFamily="34" charset="-122"/>
                <a:cs typeface="Cambria" pitchFamily="34" charset="-120"/>
              </a:rPr>
              <a:t>Agile Software</a:t>
            </a:r>
            <a:endParaRPr lang="en-US" sz="4400" dirty="0"/>
          </a:p>
          <a:p>
            <a:pPr marL="0" indent="0">
              <a:lnSpc>
                <a:spcPct val="105000"/>
              </a:lnSpc>
              <a:buNone/>
            </a:pPr>
            <a:r>
              <a:rPr lang="en-US" sz="4400" b="1" dirty="0">
                <a:latin typeface="Cambria" pitchFamily="34" charset="0"/>
                <a:ea typeface="Cambria" pitchFamily="34" charset="-122"/>
                <a:cs typeface="Cambria" pitchFamily="34" charset="-120"/>
              </a:rPr>
              <a:t>Development</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Topics Covered</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Overview</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a:t>
            </a:r>
            <a:endParaRPr lang="en-US" sz="1000" dirty="0"/>
          </a:p>
        </p:txBody>
      </p:sp>
      <p:sp>
        <p:nvSpPr>
          <p:cNvPr id="6" name="Text 3"/>
          <p:cNvSpPr txBox="1"/>
          <p:nvPr/>
        </p:nvSpPr>
        <p:spPr>
          <a:xfrm>
            <a:off x="548640" y="1737360"/>
            <a:ext cx="10607040" cy="4754880"/>
          </a:xfrm>
          <a:prstGeom prst="rect">
            <a:avLst/>
          </a:prstGeom>
          <a:noFill/>
          <a:ln/>
        </p:spPr>
        <p:txBody>
          <a:bodyPr wrap="square" rtlCol="0" anchor="t"/>
          <a:lstStyle/>
          <a:p>
            <a:pPr marL="279400" indent="-279400">
              <a:spcAft>
                <a:spcPts val="1200"/>
              </a:spcAft>
              <a:buSzPct val="100000"/>
              <a:buChar char="◆"/>
            </a:pPr>
            <a:r>
              <a:rPr lang="en-US" sz="2000" dirty="0">
                <a:solidFill>
                  <a:srgbClr val="22304A"/>
                </a:solidFill>
                <a:latin typeface="Calibri" pitchFamily="34" charset="0"/>
                <a:ea typeface="Calibri" pitchFamily="34" charset="-122"/>
                <a:cs typeface="Calibri" pitchFamily="34" charset="-120"/>
              </a:rPr>
              <a:t>3.1  Agile methods</a:t>
            </a:r>
            <a:endParaRPr lang="en-US" sz="2000" dirty="0"/>
          </a:p>
          <a:p>
            <a:pPr marL="279400" indent="-279400">
              <a:spcAft>
                <a:spcPts val="1200"/>
              </a:spcAft>
              <a:buSzPct val="100000"/>
              <a:buChar char="◆"/>
            </a:pPr>
            <a:r>
              <a:rPr lang="en-US" sz="2000" dirty="0">
                <a:solidFill>
                  <a:srgbClr val="22304A"/>
                </a:solidFill>
                <a:latin typeface="Calibri" pitchFamily="34" charset="0"/>
                <a:ea typeface="Calibri" pitchFamily="34" charset="-122"/>
                <a:cs typeface="Calibri" pitchFamily="34" charset="-120"/>
              </a:rPr>
              <a:t>3.2  Plan-driven and agile development</a:t>
            </a:r>
            <a:endParaRPr lang="en-US" sz="2000" dirty="0"/>
          </a:p>
          <a:p>
            <a:pPr marL="279400" indent="-279400">
              <a:spcAft>
                <a:spcPts val="1200"/>
              </a:spcAft>
              <a:buSzPct val="100000"/>
              <a:buChar char="◆"/>
            </a:pPr>
            <a:r>
              <a:rPr lang="en-US" sz="2000" dirty="0">
                <a:solidFill>
                  <a:srgbClr val="22304A"/>
                </a:solidFill>
                <a:latin typeface="Calibri" pitchFamily="34" charset="0"/>
                <a:ea typeface="Calibri" pitchFamily="34" charset="-122"/>
                <a:cs typeface="Calibri" pitchFamily="34" charset="-120"/>
              </a:rPr>
              <a:t>3.3  Extreme programming</a:t>
            </a:r>
            <a:endParaRPr lang="en-US" sz="2000" dirty="0"/>
          </a:p>
          <a:p>
            <a:pPr marL="279400" indent="-279400">
              <a:spcAft>
                <a:spcPts val="1200"/>
              </a:spcAft>
              <a:buSzPct val="100000"/>
              <a:buChar char="◆"/>
            </a:pPr>
            <a:r>
              <a:rPr lang="en-US" sz="2000" dirty="0">
                <a:solidFill>
                  <a:srgbClr val="22304A"/>
                </a:solidFill>
                <a:latin typeface="Calibri" pitchFamily="34" charset="0"/>
                <a:ea typeface="Calibri" pitchFamily="34" charset="-122"/>
                <a:cs typeface="Calibri" pitchFamily="34" charset="-120"/>
              </a:rPr>
              <a:t>3.4  Agile project management</a:t>
            </a:r>
            <a:endParaRPr lang="en-US" sz="2000" dirty="0"/>
          </a:p>
          <a:p>
            <a:pPr marL="279400" indent="-279400">
              <a:spcAft>
                <a:spcPts val="1200"/>
              </a:spcAft>
              <a:buSzPct val="100000"/>
              <a:buChar char="◆"/>
            </a:pPr>
            <a:r>
              <a:rPr lang="en-US" sz="2000" dirty="0">
                <a:solidFill>
                  <a:srgbClr val="22304A"/>
                </a:solidFill>
                <a:latin typeface="Calibri" pitchFamily="34" charset="0"/>
                <a:ea typeface="Calibri" pitchFamily="34" charset="-122"/>
                <a:cs typeface="Calibri" pitchFamily="34" charset="-120"/>
              </a:rPr>
              <a:t>3.5  Scaling agile methods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2286000"/>
            <a:ext cx="2743200" cy="91440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3.1</a:t>
            </a:r>
            <a:endParaRPr lang="en-US" sz="2000" dirty="0"/>
          </a:p>
        </p:txBody>
      </p:sp>
      <p:sp>
        <p:nvSpPr>
          <p:cNvPr id="3" name="Text 1"/>
          <p:cNvSpPr txBox="1"/>
          <p:nvPr/>
        </p:nvSpPr>
        <p:spPr>
          <a:xfrm>
            <a:off x="548640" y="2743200"/>
            <a:ext cx="10058400" cy="12801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Agile Methods</a:t>
            </a:r>
            <a:endParaRPr lang="en-US" sz="3800" dirty="0"/>
          </a:p>
        </p:txBody>
      </p:sp>
      <p:sp>
        <p:nvSpPr>
          <p:cNvPr id="4" name="Text 2"/>
          <p:cNvSpPr txBox="1"/>
          <p:nvPr/>
        </p:nvSpPr>
        <p:spPr>
          <a:xfrm>
            <a:off x="548640" y="3794760"/>
            <a:ext cx="9144000" cy="5486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Why software teams moved away from heavyweight, plan-driven processes</a:t>
            </a:r>
            <a:endParaRPr lang="en-US" sz="16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Why Rapid Development Matters</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Businesses operate in a global, rapidly changing environment</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Software must respond to new opportunities, markets, and competitive pressure</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It is often practically impossible to derive a complete, stable set of requirements up front</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The “real” requirements frequently only become clear after users work with a delivered system</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Conventional waterfall / specification-based processes struggle to keep pace — rework is constant as requirements change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 Brief History</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1280160" y="2971800"/>
            <a:ext cx="2194560" cy="0"/>
          </a:xfrm>
          <a:prstGeom prst="line">
            <a:avLst/>
          </a:prstGeom>
          <a:noFill/>
          <a:ln w="25400">
            <a:solidFill>
              <a:srgbClr val="2E86AB"/>
            </a:solidFill>
            <a:prstDash val="solid"/>
          </a:ln>
        </p:spPr>
        <p:txBody>
          <a:bodyPr/>
          <a:lstStyle/>
          <a:p>
            <a:endParaRPr lang="en-US"/>
          </a:p>
        </p:txBody>
      </p:sp>
      <p:sp>
        <p:nvSpPr>
          <p:cNvPr id="7" name="Shape 4"/>
          <p:cNvSpPr/>
          <p:nvPr/>
        </p:nvSpPr>
        <p:spPr>
          <a:xfrm>
            <a:off x="822960" y="2743200"/>
            <a:ext cx="457200" cy="457200"/>
          </a:xfrm>
          <a:prstGeom prst="ellipse">
            <a:avLst/>
          </a:prstGeom>
          <a:solidFill>
            <a:srgbClr val="F2A541"/>
          </a:solidFill>
          <a:ln/>
        </p:spPr>
        <p:txBody>
          <a:bodyPr/>
          <a:lstStyle/>
          <a:p>
            <a:endParaRPr lang="en-US"/>
          </a:p>
        </p:txBody>
      </p:sp>
      <p:sp>
        <p:nvSpPr>
          <p:cNvPr id="8" name="Text 5"/>
          <p:cNvSpPr txBox="1"/>
          <p:nvPr/>
        </p:nvSpPr>
        <p:spPr>
          <a:xfrm>
            <a:off x="228600" y="3337560"/>
            <a:ext cx="164592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1980s</a:t>
            </a:r>
            <a:endParaRPr lang="en-US" sz="1300" dirty="0"/>
          </a:p>
        </p:txBody>
      </p:sp>
      <p:sp>
        <p:nvSpPr>
          <p:cNvPr id="9" name="Text 6"/>
          <p:cNvSpPr txBox="1"/>
          <p:nvPr/>
        </p:nvSpPr>
        <p:spPr>
          <a:xfrm>
            <a:off x="137160" y="3703320"/>
            <a:ext cx="2377440" cy="1280160"/>
          </a:xfrm>
          <a:prstGeom prst="rect">
            <a:avLst/>
          </a:prstGeom>
          <a:noFill/>
          <a:ln/>
        </p:spPr>
        <p:txBody>
          <a:bodyPr wrap="square" lIns="0" tIns="0" rIns="0" bIns="0" rtlCol="0" anchor="ctr"/>
          <a:lstStyle/>
          <a:p>
            <a:pPr marL="0" indent="0" algn="ctr">
              <a:buNone/>
            </a:pPr>
            <a:r>
              <a:rPr lang="en-US" sz="1150" dirty="0">
                <a:solidFill>
                  <a:srgbClr val="22304A"/>
                </a:solidFill>
                <a:latin typeface="Calibri" pitchFamily="34" charset="0"/>
                <a:ea typeface="Calibri" pitchFamily="34" charset="-122"/>
                <a:cs typeface="Calibri" pitchFamily="34" charset="-120"/>
              </a:rPr>
              <a:t>IBM introduces incremental development (Mills et al.)</a:t>
            </a:r>
            <a:endParaRPr lang="en-US" sz="1150" dirty="0"/>
          </a:p>
        </p:txBody>
      </p:sp>
      <p:sp>
        <p:nvSpPr>
          <p:cNvPr id="10" name="Shape 7"/>
          <p:cNvSpPr/>
          <p:nvPr/>
        </p:nvSpPr>
        <p:spPr>
          <a:xfrm>
            <a:off x="3931920" y="2971800"/>
            <a:ext cx="2194560" cy="0"/>
          </a:xfrm>
          <a:prstGeom prst="line">
            <a:avLst/>
          </a:prstGeom>
          <a:noFill/>
          <a:ln w="25400">
            <a:solidFill>
              <a:srgbClr val="2E86AB"/>
            </a:solidFill>
            <a:prstDash val="solid"/>
          </a:ln>
        </p:spPr>
        <p:txBody>
          <a:bodyPr/>
          <a:lstStyle/>
          <a:p>
            <a:endParaRPr lang="en-US"/>
          </a:p>
        </p:txBody>
      </p:sp>
      <p:sp>
        <p:nvSpPr>
          <p:cNvPr id="11" name="Shape 8"/>
          <p:cNvSpPr/>
          <p:nvPr/>
        </p:nvSpPr>
        <p:spPr>
          <a:xfrm>
            <a:off x="3474720" y="2743200"/>
            <a:ext cx="457200" cy="457200"/>
          </a:xfrm>
          <a:prstGeom prst="ellipse">
            <a:avLst/>
          </a:prstGeom>
          <a:solidFill>
            <a:srgbClr val="F2A541"/>
          </a:solidFill>
          <a:ln/>
        </p:spPr>
        <p:txBody>
          <a:bodyPr/>
          <a:lstStyle/>
          <a:p>
            <a:endParaRPr lang="en-US"/>
          </a:p>
        </p:txBody>
      </p:sp>
      <p:sp>
        <p:nvSpPr>
          <p:cNvPr id="12" name="Text 9"/>
          <p:cNvSpPr txBox="1"/>
          <p:nvPr/>
        </p:nvSpPr>
        <p:spPr>
          <a:xfrm>
            <a:off x="2880360" y="3337560"/>
            <a:ext cx="164592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1980s</a:t>
            </a:r>
            <a:endParaRPr lang="en-US" sz="1300" dirty="0"/>
          </a:p>
        </p:txBody>
      </p:sp>
      <p:sp>
        <p:nvSpPr>
          <p:cNvPr id="13" name="Text 10"/>
          <p:cNvSpPr txBox="1"/>
          <p:nvPr/>
        </p:nvSpPr>
        <p:spPr>
          <a:xfrm>
            <a:off x="2788920" y="3703320"/>
            <a:ext cx="2377440" cy="1280160"/>
          </a:xfrm>
          <a:prstGeom prst="rect">
            <a:avLst/>
          </a:prstGeom>
          <a:noFill/>
          <a:ln/>
        </p:spPr>
        <p:txBody>
          <a:bodyPr wrap="square" lIns="0" tIns="0" rIns="0" bIns="0" rtlCol="0" anchor="ctr"/>
          <a:lstStyle/>
          <a:p>
            <a:pPr marL="0" indent="0" algn="ctr">
              <a:buNone/>
            </a:pPr>
            <a:r>
              <a:rPr lang="en-US" sz="1150" dirty="0">
                <a:solidFill>
                  <a:srgbClr val="22304A"/>
                </a:solidFill>
                <a:latin typeface="Calibri" pitchFamily="34" charset="0"/>
                <a:ea typeface="Calibri" pitchFamily="34" charset="-122"/>
                <a:cs typeface="Calibri" pitchFamily="34" charset="-120"/>
              </a:rPr>
              <a:t>Fourth-generation languages support rapid delivery (Martin)</a:t>
            </a:r>
            <a:endParaRPr lang="en-US" sz="1150" dirty="0"/>
          </a:p>
        </p:txBody>
      </p:sp>
      <p:sp>
        <p:nvSpPr>
          <p:cNvPr id="14" name="Shape 11"/>
          <p:cNvSpPr/>
          <p:nvPr/>
        </p:nvSpPr>
        <p:spPr>
          <a:xfrm>
            <a:off x="6583680" y="2971800"/>
            <a:ext cx="2194560" cy="0"/>
          </a:xfrm>
          <a:prstGeom prst="line">
            <a:avLst/>
          </a:prstGeom>
          <a:noFill/>
          <a:ln w="25400">
            <a:solidFill>
              <a:srgbClr val="2E86AB"/>
            </a:solidFill>
            <a:prstDash val="solid"/>
          </a:ln>
        </p:spPr>
        <p:txBody>
          <a:bodyPr/>
          <a:lstStyle/>
          <a:p>
            <a:endParaRPr lang="en-US"/>
          </a:p>
        </p:txBody>
      </p:sp>
      <p:sp>
        <p:nvSpPr>
          <p:cNvPr id="15" name="Shape 12"/>
          <p:cNvSpPr/>
          <p:nvPr/>
        </p:nvSpPr>
        <p:spPr>
          <a:xfrm>
            <a:off x="6126480" y="2743200"/>
            <a:ext cx="457200" cy="457200"/>
          </a:xfrm>
          <a:prstGeom prst="ellipse">
            <a:avLst/>
          </a:prstGeom>
          <a:solidFill>
            <a:srgbClr val="F2A541"/>
          </a:solidFill>
          <a:ln/>
        </p:spPr>
        <p:txBody>
          <a:bodyPr/>
          <a:lstStyle/>
          <a:p>
            <a:endParaRPr lang="en-US"/>
          </a:p>
        </p:txBody>
      </p:sp>
      <p:sp>
        <p:nvSpPr>
          <p:cNvPr id="16" name="Text 13"/>
          <p:cNvSpPr txBox="1"/>
          <p:nvPr/>
        </p:nvSpPr>
        <p:spPr>
          <a:xfrm>
            <a:off x="5532120" y="3337560"/>
            <a:ext cx="164592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Late 1990s</a:t>
            </a:r>
            <a:endParaRPr lang="en-US" sz="1300" dirty="0"/>
          </a:p>
        </p:txBody>
      </p:sp>
      <p:sp>
        <p:nvSpPr>
          <p:cNvPr id="17" name="Text 14"/>
          <p:cNvSpPr txBox="1"/>
          <p:nvPr/>
        </p:nvSpPr>
        <p:spPr>
          <a:xfrm>
            <a:off x="5440680" y="3703320"/>
            <a:ext cx="2377440" cy="1280160"/>
          </a:xfrm>
          <a:prstGeom prst="rect">
            <a:avLst/>
          </a:prstGeom>
          <a:noFill/>
          <a:ln/>
        </p:spPr>
        <p:txBody>
          <a:bodyPr wrap="square" lIns="0" tIns="0" rIns="0" bIns="0" rtlCol="0" anchor="ctr"/>
          <a:lstStyle/>
          <a:p>
            <a:pPr marL="0" indent="0" algn="ctr">
              <a:buNone/>
            </a:pPr>
            <a:r>
              <a:rPr lang="en-US" sz="1150" dirty="0">
                <a:solidFill>
                  <a:srgbClr val="22304A"/>
                </a:solidFill>
                <a:latin typeface="Calibri" pitchFamily="34" charset="0"/>
                <a:ea typeface="Calibri" pitchFamily="34" charset="-122"/>
                <a:cs typeface="Calibri" pitchFamily="34" charset="-120"/>
              </a:rPr>
              <a:t>DSDM, Scrum, and Extreme Programming emerge (Stapleton; Schwaber &amp; Beedle; Beck)</a:t>
            </a:r>
            <a:endParaRPr lang="en-US" sz="1150" dirty="0"/>
          </a:p>
        </p:txBody>
      </p:sp>
      <p:sp>
        <p:nvSpPr>
          <p:cNvPr id="18" name="Shape 15"/>
          <p:cNvSpPr/>
          <p:nvPr/>
        </p:nvSpPr>
        <p:spPr>
          <a:xfrm>
            <a:off x="8778240" y="2743200"/>
            <a:ext cx="457200" cy="457200"/>
          </a:xfrm>
          <a:prstGeom prst="ellipse">
            <a:avLst/>
          </a:prstGeom>
          <a:solidFill>
            <a:srgbClr val="F2A541"/>
          </a:solidFill>
          <a:ln/>
        </p:spPr>
        <p:txBody>
          <a:bodyPr/>
          <a:lstStyle/>
          <a:p>
            <a:endParaRPr lang="en-US"/>
          </a:p>
        </p:txBody>
      </p:sp>
      <p:sp>
        <p:nvSpPr>
          <p:cNvPr id="19" name="Text 16"/>
          <p:cNvSpPr txBox="1"/>
          <p:nvPr/>
        </p:nvSpPr>
        <p:spPr>
          <a:xfrm>
            <a:off x="8183880" y="3337560"/>
            <a:ext cx="1645920" cy="3657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Since</a:t>
            </a:r>
            <a:endParaRPr lang="en-US" sz="1300" dirty="0"/>
          </a:p>
        </p:txBody>
      </p:sp>
      <p:sp>
        <p:nvSpPr>
          <p:cNvPr id="20" name="Text 17"/>
          <p:cNvSpPr txBox="1"/>
          <p:nvPr/>
        </p:nvSpPr>
        <p:spPr>
          <a:xfrm>
            <a:off x="8092440" y="3703320"/>
            <a:ext cx="2377440" cy="1280160"/>
          </a:xfrm>
          <a:prstGeom prst="rect">
            <a:avLst/>
          </a:prstGeom>
          <a:noFill/>
          <a:ln/>
        </p:spPr>
        <p:txBody>
          <a:bodyPr wrap="square" lIns="0" tIns="0" rIns="0" bIns="0" rtlCol="0" anchor="ctr"/>
          <a:lstStyle/>
          <a:p>
            <a:pPr marL="0" indent="0" algn="ctr">
              <a:buNone/>
            </a:pPr>
            <a:r>
              <a:rPr lang="en-US" sz="1150" dirty="0">
                <a:solidFill>
                  <a:srgbClr val="22304A"/>
                </a:solidFill>
                <a:latin typeface="Calibri" pitchFamily="34" charset="0"/>
                <a:ea typeface="Calibri" pitchFamily="34" charset="-122"/>
                <a:cs typeface="Calibri" pitchFamily="34" charset="-120"/>
              </a:rPr>
              <a:t>Shared principles are captured in the Agile Manifesto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Agile Manifesto</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48640" y="1417320"/>
            <a:ext cx="10607040" cy="4114800"/>
          </a:xfrm>
          <a:prstGeom prst="roundRect">
            <a:avLst>
              <a:gd name="adj" fmla="val 1778"/>
            </a:avLst>
          </a:prstGeom>
          <a:solidFill>
            <a:srgbClr val="EAF2FB"/>
          </a:solidFill>
          <a:ln/>
        </p:spPr>
        <p:txBody>
          <a:bodyPr/>
          <a:lstStyle/>
          <a:p>
            <a:endParaRPr lang="en-US"/>
          </a:p>
        </p:txBody>
      </p:sp>
      <p:sp>
        <p:nvSpPr>
          <p:cNvPr id="7" name="Text 4"/>
          <p:cNvSpPr txBox="1"/>
          <p:nvPr/>
        </p:nvSpPr>
        <p:spPr>
          <a:xfrm>
            <a:off x="914400" y="1737360"/>
            <a:ext cx="9875520" cy="54864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Individuals and interactions</a:t>
            </a:r>
            <a:r>
              <a:rPr lang="en-US" sz="1400" i="1" dirty="0">
                <a:solidFill>
                  <a:srgbClr val="5B6B82"/>
                </a:solidFill>
                <a:latin typeface="Calibri" pitchFamily="34" charset="0"/>
                <a:ea typeface="Calibri" pitchFamily="34" charset="-122"/>
                <a:cs typeface="Calibri" pitchFamily="34" charset="-120"/>
              </a:rPr>
              <a:t>  over  </a:t>
            </a:r>
            <a:r>
              <a:rPr lang="en-US" sz="1700" dirty="0">
                <a:solidFill>
                  <a:srgbClr val="5B6B82"/>
                </a:solidFill>
                <a:latin typeface="Calibri" pitchFamily="34" charset="0"/>
                <a:ea typeface="Calibri" pitchFamily="34" charset="-122"/>
                <a:cs typeface="Calibri" pitchFamily="34" charset="-120"/>
              </a:rPr>
              <a:t>processes and tools</a:t>
            </a:r>
            <a:endParaRPr lang="en-US" sz="1700" dirty="0"/>
          </a:p>
        </p:txBody>
      </p:sp>
      <p:sp>
        <p:nvSpPr>
          <p:cNvPr id="8" name="Text 5"/>
          <p:cNvSpPr txBox="1"/>
          <p:nvPr/>
        </p:nvSpPr>
        <p:spPr>
          <a:xfrm>
            <a:off x="914400" y="2395728"/>
            <a:ext cx="9875520" cy="54864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Working software</a:t>
            </a:r>
            <a:r>
              <a:rPr lang="en-US" sz="1400" i="1" dirty="0">
                <a:solidFill>
                  <a:srgbClr val="5B6B82"/>
                </a:solidFill>
                <a:latin typeface="Calibri" pitchFamily="34" charset="0"/>
                <a:ea typeface="Calibri" pitchFamily="34" charset="-122"/>
                <a:cs typeface="Calibri" pitchFamily="34" charset="-120"/>
              </a:rPr>
              <a:t>  over  </a:t>
            </a:r>
            <a:r>
              <a:rPr lang="en-US" sz="1700" dirty="0">
                <a:solidFill>
                  <a:srgbClr val="5B6B82"/>
                </a:solidFill>
                <a:latin typeface="Calibri" pitchFamily="34" charset="0"/>
                <a:ea typeface="Calibri" pitchFamily="34" charset="-122"/>
                <a:cs typeface="Calibri" pitchFamily="34" charset="-120"/>
              </a:rPr>
              <a:t>comprehensive documentation</a:t>
            </a:r>
            <a:endParaRPr lang="en-US" sz="1700" dirty="0"/>
          </a:p>
        </p:txBody>
      </p:sp>
      <p:sp>
        <p:nvSpPr>
          <p:cNvPr id="9" name="Text 6"/>
          <p:cNvSpPr txBox="1"/>
          <p:nvPr/>
        </p:nvSpPr>
        <p:spPr>
          <a:xfrm>
            <a:off x="914400" y="3054096"/>
            <a:ext cx="9875520" cy="54864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Customer collaboration</a:t>
            </a:r>
            <a:r>
              <a:rPr lang="en-US" sz="1400" i="1" dirty="0">
                <a:solidFill>
                  <a:srgbClr val="5B6B82"/>
                </a:solidFill>
                <a:latin typeface="Calibri" pitchFamily="34" charset="0"/>
                <a:ea typeface="Calibri" pitchFamily="34" charset="-122"/>
                <a:cs typeface="Calibri" pitchFamily="34" charset="-120"/>
              </a:rPr>
              <a:t>  over  </a:t>
            </a:r>
            <a:r>
              <a:rPr lang="en-US" sz="1700" dirty="0">
                <a:solidFill>
                  <a:srgbClr val="5B6B82"/>
                </a:solidFill>
                <a:latin typeface="Calibri" pitchFamily="34" charset="0"/>
                <a:ea typeface="Calibri" pitchFamily="34" charset="-122"/>
                <a:cs typeface="Calibri" pitchFamily="34" charset="-120"/>
              </a:rPr>
              <a:t>contract negotiation</a:t>
            </a:r>
            <a:endParaRPr lang="en-US" sz="1700" dirty="0"/>
          </a:p>
        </p:txBody>
      </p:sp>
      <p:sp>
        <p:nvSpPr>
          <p:cNvPr id="10" name="Text 7"/>
          <p:cNvSpPr txBox="1"/>
          <p:nvPr/>
        </p:nvSpPr>
        <p:spPr>
          <a:xfrm>
            <a:off x="914400" y="3712464"/>
            <a:ext cx="9875520" cy="54864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Responding to change</a:t>
            </a:r>
            <a:r>
              <a:rPr lang="en-US" sz="1400" i="1" dirty="0">
                <a:solidFill>
                  <a:srgbClr val="5B6B82"/>
                </a:solidFill>
                <a:latin typeface="Calibri" pitchFamily="34" charset="0"/>
                <a:ea typeface="Calibri" pitchFamily="34" charset="-122"/>
                <a:cs typeface="Calibri" pitchFamily="34" charset="-120"/>
              </a:rPr>
              <a:t>  over  </a:t>
            </a:r>
            <a:r>
              <a:rPr lang="en-US" sz="1700" dirty="0">
                <a:solidFill>
                  <a:srgbClr val="5B6B82"/>
                </a:solidFill>
                <a:latin typeface="Calibri" pitchFamily="34" charset="0"/>
                <a:ea typeface="Calibri" pitchFamily="34" charset="-122"/>
                <a:cs typeface="Calibri" pitchFamily="34" charset="-120"/>
              </a:rPr>
              <a:t>following a plan</a:t>
            </a:r>
            <a:endParaRPr lang="en-US" sz="1700" dirty="0"/>
          </a:p>
        </p:txBody>
      </p:sp>
      <p:sp>
        <p:nvSpPr>
          <p:cNvPr id="11" name="Text 8"/>
          <p:cNvSpPr txBox="1"/>
          <p:nvPr/>
        </p:nvSpPr>
        <p:spPr>
          <a:xfrm>
            <a:off x="914400" y="4507992"/>
            <a:ext cx="9875520" cy="548640"/>
          </a:xfrm>
          <a:prstGeom prst="rect">
            <a:avLst/>
          </a:prstGeom>
          <a:noFill/>
          <a:ln/>
        </p:spPr>
        <p:txBody>
          <a:bodyPr wrap="square" lIns="0" tIns="0" rIns="0" bIns="0" rtlCol="0" anchor="ctr"/>
          <a:lstStyle/>
          <a:p>
            <a:pPr marL="0" indent="0">
              <a:buNone/>
            </a:pPr>
            <a:r>
              <a:rPr lang="en-US" sz="1350" i="1" dirty="0">
                <a:solidFill>
                  <a:srgbClr val="2E86AB"/>
                </a:solidFill>
                <a:latin typeface="Calibri" pitchFamily="34" charset="0"/>
                <a:ea typeface="Calibri" pitchFamily="34" charset="-122"/>
                <a:cs typeface="Calibri" pitchFamily="34" charset="-120"/>
              </a:rPr>
              <a:t>“While there is value in the items on the right, we value the items on the left more.”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Principles of Agile Methods</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17904"/>
            <a:ext cx="384048" cy="384048"/>
          </a:xfrm>
          <a:prstGeom prst="ellipse">
            <a:avLst/>
          </a:prstGeom>
          <a:solidFill>
            <a:srgbClr val="2E86AB"/>
          </a:solidFill>
          <a:ln/>
        </p:spPr>
        <p:txBody>
          <a:bodyPr/>
          <a:lstStyle/>
          <a:p>
            <a:endParaRPr lang="en-US"/>
          </a:p>
        </p:txBody>
      </p:sp>
      <p:sp>
        <p:nvSpPr>
          <p:cNvPr id="7" name="Text 4"/>
          <p:cNvSpPr txBox="1"/>
          <p:nvPr/>
        </p:nvSpPr>
        <p:spPr>
          <a:xfrm>
            <a:off x="548640" y="15179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63040"/>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Customer involvement</a:t>
            </a:r>
            <a:endParaRPr lang="en-US" sz="1500" dirty="0"/>
          </a:p>
        </p:txBody>
      </p:sp>
      <p:sp>
        <p:nvSpPr>
          <p:cNvPr id="9" name="Text 6"/>
          <p:cNvSpPr txBox="1"/>
          <p:nvPr/>
        </p:nvSpPr>
        <p:spPr>
          <a:xfrm>
            <a:off x="4069080" y="1463040"/>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Customers are closely involved throughout — prioritizing requirements and evaluating each iteration.</a:t>
            </a:r>
            <a:endParaRPr lang="en-US" sz="1350" dirty="0"/>
          </a:p>
        </p:txBody>
      </p:sp>
      <p:sp>
        <p:nvSpPr>
          <p:cNvPr id="10" name="Shape 7"/>
          <p:cNvSpPr/>
          <p:nvPr/>
        </p:nvSpPr>
        <p:spPr>
          <a:xfrm>
            <a:off x="548640" y="2414016"/>
            <a:ext cx="384048" cy="384048"/>
          </a:xfrm>
          <a:prstGeom prst="ellipse">
            <a:avLst/>
          </a:prstGeom>
          <a:solidFill>
            <a:srgbClr val="2E86AB"/>
          </a:solidFill>
          <a:ln/>
        </p:spPr>
        <p:txBody>
          <a:bodyPr/>
          <a:lstStyle/>
          <a:p>
            <a:endParaRPr lang="en-US"/>
          </a:p>
        </p:txBody>
      </p:sp>
      <p:sp>
        <p:nvSpPr>
          <p:cNvPr id="11" name="Text 8"/>
          <p:cNvSpPr txBox="1"/>
          <p:nvPr/>
        </p:nvSpPr>
        <p:spPr>
          <a:xfrm>
            <a:off x="548640" y="24140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359152"/>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Incremental delivery</a:t>
            </a:r>
            <a:endParaRPr lang="en-US" sz="1500" dirty="0"/>
          </a:p>
        </p:txBody>
      </p:sp>
      <p:sp>
        <p:nvSpPr>
          <p:cNvPr id="13" name="Text 10"/>
          <p:cNvSpPr txBox="1"/>
          <p:nvPr/>
        </p:nvSpPr>
        <p:spPr>
          <a:xfrm>
            <a:off x="4069080" y="2359152"/>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Software is developed in increments, with the customer specifying what each increment includes.</a:t>
            </a:r>
            <a:endParaRPr lang="en-US" sz="1350" dirty="0"/>
          </a:p>
        </p:txBody>
      </p:sp>
      <p:sp>
        <p:nvSpPr>
          <p:cNvPr id="14" name="Shape 11"/>
          <p:cNvSpPr/>
          <p:nvPr/>
        </p:nvSpPr>
        <p:spPr>
          <a:xfrm>
            <a:off x="548640" y="3310128"/>
            <a:ext cx="384048" cy="384048"/>
          </a:xfrm>
          <a:prstGeom prst="ellipse">
            <a:avLst/>
          </a:prstGeom>
          <a:solidFill>
            <a:srgbClr val="2E86AB"/>
          </a:solidFill>
          <a:ln/>
        </p:spPr>
        <p:txBody>
          <a:bodyPr/>
          <a:lstStyle/>
          <a:p>
            <a:endParaRPr lang="en-US"/>
          </a:p>
        </p:txBody>
      </p:sp>
      <p:sp>
        <p:nvSpPr>
          <p:cNvPr id="15" name="Text 12"/>
          <p:cNvSpPr txBox="1"/>
          <p:nvPr/>
        </p:nvSpPr>
        <p:spPr>
          <a:xfrm>
            <a:off x="548640" y="33101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3255264"/>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People, not process</a:t>
            </a:r>
            <a:endParaRPr lang="en-US" sz="1500" dirty="0"/>
          </a:p>
        </p:txBody>
      </p:sp>
      <p:sp>
        <p:nvSpPr>
          <p:cNvPr id="17" name="Text 14"/>
          <p:cNvSpPr txBox="1"/>
          <p:nvPr/>
        </p:nvSpPr>
        <p:spPr>
          <a:xfrm>
            <a:off x="4069080" y="3255264"/>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Recognize and exploit the team's skills; let the team develop its own ways of working.</a:t>
            </a:r>
            <a:endParaRPr lang="en-US" sz="1350" dirty="0"/>
          </a:p>
        </p:txBody>
      </p:sp>
      <p:sp>
        <p:nvSpPr>
          <p:cNvPr id="18" name="Shape 15"/>
          <p:cNvSpPr/>
          <p:nvPr/>
        </p:nvSpPr>
        <p:spPr>
          <a:xfrm>
            <a:off x="548640" y="4206240"/>
            <a:ext cx="384048" cy="384048"/>
          </a:xfrm>
          <a:prstGeom prst="ellipse">
            <a:avLst/>
          </a:prstGeom>
          <a:solidFill>
            <a:srgbClr val="2E86AB"/>
          </a:solidFill>
          <a:ln/>
        </p:spPr>
        <p:txBody>
          <a:bodyPr/>
          <a:lstStyle/>
          <a:p>
            <a:endParaRPr lang="en-US"/>
          </a:p>
        </p:txBody>
      </p:sp>
      <p:sp>
        <p:nvSpPr>
          <p:cNvPr id="19" name="Text 16"/>
          <p:cNvSpPr txBox="1"/>
          <p:nvPr/>
        </p:nvSpPr>
        <p:spPr>
          <a:xfrm>
            <a:off x="548640" y="42062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4151376"/>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Embrace change</a:t>
            </a:r>
            <a:endParaRPr lang="en-US" sz="1500" dirty="0"/>
          </a:p>
        </p:txBody>
      </p:sp>
      <p:sp>
        <p:nvSpPr>
          <p:cNvPr id="21" name="Text 18"/>
          <p:cNvSpPr txBox="1"/>
          <p:nvPr/>
        </p:nvSpPr>
        <p:spPr>
          <a:xfrm>
            <a:off x="4069080" y="4151376"/>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Expect requirements to change, and design the system to accommodate that.</a:t>
            </a:r>
            <a:endParaRPr lang="en-US" sz="1350" dirty="0"/>
          </a:p>
        </p:txBody>
      </p:sp>
      <p:sp>
        <p:nvSpPr>
          <p:cNvPr id="22" name="Shape 19"/>
          <p:cNvSpPr/>
          <p:nvPr/>
        </p:nvSpPr>
        <p:spPr>
          <a:xfrm>
            <a:off x="548640" y="5102352"/>
            <a:ext cx="384048" cy="384048"/>
          </a:xfrm>
          <a:prstGeom prst="ellipse">
            <a:avLst/>
          </a:prstGeom>
          <a:solidFill>
            <a:srgbClr val="2E86AB"/>
          </a:solidFill>
          <a:ln/>
        </p:spPr>
        <p:txBody>
          <a:bodyPr/>
          <a:lstStyle/>
          <a:p>
            <a:endParaRPr lang="en-US"/>
          </a:p>
        </p:txBody>
      </p:sp>
      <p:sp>
        <p:nvSpPr>
          <p:cNvPr id="23" name="Text 20"/>
          <p:cNvSpPr txBox="1"/>
          <p:nvPr/>
        </p:nvSpPr>
        <p:spPr>
          <a:xfrm>
            <a:off x="548640" y="51023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5047488"/>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Maintain simplicity</a:t>
            </a:r>
            <a:endParaRPr lang="en-US" sz="1500" dirty="0"/>
          </a:p>
        </p:txBody>
      </p:sp>
      <p:sp>
        <p:nvSpPr>
          <p:cNvPr id="25" name="Text 22"/>
          <p:cNvSpPr txBox="1"/>
          <p:nvPr/>
        </p:nvSpPr>
        <p:spPr>
          <a:xfrm>
            <a:off x="4069080" y="5047488"/>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Focus on simplicity in the software and the process; actively eliminate complexity.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Where Agile Methods Succeed — and Where They Struggle</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400"/>
              </a:spcAft>
              <a:buSzPct val="100000"/>
              <a:buChar char="◆"/>
            </a:pPr>
            <a:r>
              <a:rPr lang="en-US" sz="1600" dirty="0">
                <a:solidFill>
                  <a:srgbClr val="22304A"/>
                </a:solidFill>
                <a:latin typeface="Calibri" pitchFamily="34" charset="0"/>
                <a:ea typeface="Calibri" pitchFamily="34" charset="-122"/>
                <a:cs typeface="Calibri" pitchFamily="34" charset="-120"/>
              </a:rPr>
              <a:t>Strong fit:</a:t>
            </a:r>
            <a:endParaRPr lang="en-US" sz="1600" dirty="0"/>
          </a:p>
          <a:p>
            <a:pPr marL="558800" lvl="1" indent="-279400">
              <a:spcAft>
                <a:spcPts val="300"/>
              </a:spcAft>
              <a:buSzPct val="100000"/>
              <a:buChar char="–"/>
            </a:pPr>
            <a:r>
              <a:rPr lang="en-US" sz="1400" dirty="0">
                <a:solidFill>
                  <a:srgbClr val="5B6B82"/>
                </a:solidFill>
                <a:latin typeface="Calibri" pitchFamily="34" charset="0"/>
                <a:ea typeface="Calibri" pitchFamily="34" charset="-122"/>
                <a:cs typeface="Calibri" pitchFamily="34" charset="-120"/>
              </a:rPr>
              <a:t>Product development — a small/medium-sized product built for sale</a:t>
            </a:r>
            <a:endParaRPr lang="en-US" sz="1600" dirty="0"/>
          </a:p>
          <a:p>
            <a:pPr marL="558800" lvl="1" indent="-279400">
              <a:spcAft>
                <a:spcPts val="1200"/>
              </a:spcAft>
              <a:buSzPct val="100000"/>
              <a:buChar char="–"/>
            </a:pPr>
            <a:r>
              <a:rPr lang="en-US" sz="1400" dirty="0">
                <a:solidFill>
                  <a:srgbClr val="5B6B82"/>
                </a:solidFill>
                <a:latin typeface="Calibri" pitchFamily="34" charset="0"/>
                <a:ea typeface="Calibri" pitchFamily="34" charset="-122"/>
                <a:cs typeface="Calibri" pitchFamily="34" charset="-120"/>
              </a:rPr>
              <a:t>Custom development — a committed customer, few external regulatory constraints</a:t>
            </a:r>
            <a:endParaRPr lang="en-US" sz="1600" dirty="0"/>
          </a:p>
          <a:p>
            <a:pPr marL="279400" indent="-279400">
              <a:spcAft>
                <a:spcPts val="400"/>
              </a:spcAft>
              <a:buSzPct val="100000"/>
              <a:buChar char="◆"/>
            </a:pPr>
            <a:r>
              <a:rPr lang="en-US" sz="1600" dirty="0">
                <a:solidFill>
                  <a:srgbClr val="22304A"/>
                </a:solidFill>
                <a:latin typeface="Calibri" pitchFamily="34" charset="0"/>
                <a:ea typeface="Calibri" pitchFamily="34" charset="-122"/>
                <a:cs typeface="Calibri" pitchFamily="34" charset="-120"/>
              </a:rPr>
              <a:t>Weaker fit:</a:t>
            </a:r>
            <a:endParaRPr lang="en-US" sz="1600" dirty="0"/>
          </a:p>
          <a:p>
            <a:pPr marL="558800" lvl="1" indent="-279400">
              <a:spcAft>
                <a:spcPts val="300"/>
              </a:spcAft>
              <a:buSzPct val="100000"/>
              <a:buChar char="–"/>
            </a:pPr>
            <a:r>
              <a:rPr lang="en-US" sz="1400" dirty="0">
                <a:solidFill>
                  <a:srgbClr val="5B6B82"/>
                </a:solidFill>
                <a:latin typeface="Calibri" pitchFamily="34" charset="0"/>
                <a:ea typeface="Calibri" pitchFamily="34" charset="-122"/>
                <a:cs typeface="Calibri" pitchFamily="34" charset="-120"/>
              </a:rPr>
              <a:t>Safety-critical or heavily regulated systems that need complete up-front analysis</a:t>
            </a:r>
            <a:endParaRPr lang="en-US" sz="1600" dirty="0"/>
          </a:p>
          <a:p>
            <a:pPr marL="558800" lvl="1" indent="-279400">
              <a:spcAft>
                <a:spcPts val="1200"/>
              </a:spcAft>
              <a:buSzPct val="100000"/>
              <a:buChar char="–"/>
            </a:pPr>
            <a:r>
              <a:rPr lang="en-US" sz="1400" dirty="0">
                <a:solidFill>
                  <a:srgbClr val="5B6B82"/>
                </a:solidFill>
                <a:latin typeface="Calibri" pitchFamily="34" charset="0"/>
                <a:ea typeface="Calibri" pitchFamily="34" charset="-122"/>
                <a:cs typeface="Calibri" pitchFamily="34" charset="-120"/>
              </a:rPr>
              <a:t>These require significant modification of agile practice — a preview of Chapters 12 and 13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Agile Principles Are Hard to Realize</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371600"/>
            <a:ext cx="5120640" cy="457200"/>
          </a:xfrm>
          <a:prstGeom prst="rect">
            <a:avLst/>
          </a:prstGeom>
          <a:solidFill>
            <a:srgbClr val="EAF2FB"/>
          </a:solidFill>
          <a:ln/>
        </p:spPr>
        <p:txBody>
          <a:bodyPr/>
          <a:lstStyle/>
          <a:p>
            <a:endParaRPr lang="en-US"/>
          </a:p>
        </p:txBody>
      </p:sp>
      <p:sp>
        <p:nvSpPr>
          <p:cNvPr id="7" name="Text 4"/>
          <p:cNvSpPr txBox="1"/>
          <p:nvPr/>
        </p:nvSpPr>
        <p:spPr>
          <a:xfrm>
            <a:off x="6858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Challenges</a:t>
            </a:r>
            <a:endParaRPr lang="en-US" sz="1500" dirty="0"/>
          </a:p>
        </p:txBody>
      </p:sp>
      <p:sp>
        <p:nvSpPr>
          <p:cNvPr id="8" name="Shape 5"/>
          <p:cNvSpPr/>
          <p:nvPr/>
        </p:nvSpPr>
        <p:spPr>
          <a:xfrm>
            <a:off x="6492240" y="1371600"/>
            <a:ext cx="5120640" cy="457200"/>
          </a:xfrm>
          <a:prstGeom prst="rect">
            <a:avLst/>
          </a:prstGeom>
          <a:solidFill>
            <a:srgbClr val="EAF2FB"/>
          </a:solidFill>
          <a:ln/>
        </p:spPr>
        <p:txBody>
          <a:bodyPr/>
          <a:lstStyle/>
          <a:p>
            <a:endParaRPr lang="en-US"/>
          </a:p>
        </p:txBody>
      </p:sp>
      <p:sp>
        <p:nvSpPr>
          <p:cNvPr id="9" name="Text 6"/>
          <p:cNvSpPr txBox="1"/>
          <p:nvPr/>
        </p:nvSpPr>
        <p:spPr>
          <a:xfrm>
            <a:off x="66294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Cost of Skipping Them</a:t>
            </a:r>
            <a:endParaRPr lang="en-US" sz="1500" dirty="0"/>
          </a:p>
        </p:txBody>
      </p:sp>
      <p:sp>
        <p:nvSpPr>
          <p:cNvPr id="10" name="Text 7"/>
          <p:cNvSpPr txBox="1"/>
          <p:nvPr/>
        </p:nvSpPr>
        <p:spPr>
          <a:xfrm>
            <a:off x="548640" y="2011680"/>
            <a:ext cx="5120640" cy="4114800"/>
          </a:xfrm>
          <a:prstGeom prst="rect">
            <a:avLst/>
          </a:prstGeom>
          <a:noFill/>
          <a:ln/>
        </p:spPr>
        <p:txBody>
          <a:bodyPr wrap="square" rtlCol="0" anchor="t"/>
          <a:lstStyle/>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Success depends on a willing, available customer who can represent all stakeholders</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Not every team member has the personality suited to intense, continuous involvement</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Prioritizing changes is difficult when many stakeholders disagree</a:t>
            </a:r>
            <a:endParaRPr lang="en-US" sz="1400" dirty="0"/>
          </a:p>
        </p:txBody>
      </p:sp>
      <p:sp>
        <p:nvSpPr>
          <p:cNvPr id="11" name="Text 8"/>
          <p:cNvSpPr txBox="1"/>
          <p:nvPr/>
        </p:nvSpPr>
        <p:spPr>
          <a:xfrm>
            <a:off x="6492240" y="2011680"/>
            <a:ext cx="5120640" cy="4114800"/>
          </a:xfrm>
          <a:prstGeom prst="rect">
            <a:avLst/>
          </a:prstGeom>
          <a:noFill/>
          <a:ln/>
        </p:spPr>
        <p:txBody>
          <a:bodyPr wrap="square" rtlCol="0" anchor="t"/>
          <a:lstStyle/>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Maintaining simplicity takes extra work — easy to skip under deadline pressure</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Large organizations often have years of process culture that resist informal, team-defined ways of working</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None of this is automatic — discipline is still required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Agile Methods and Software Maintenance</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3.1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Agile advocates argue: well-structured, readable code matters more than formal documentation that quickly goes stale</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Counter-argument: the requirements document is often the key artifact for understanding system intent during maintenance</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Agile methods that collect requirements informally and incrementally may leave no coherent requirements record</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Risk: this can make later maintenance more difficult and costly — especially if the original team disperses and its implicit knowledge is lost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2286000"/>
            <a:ext cx="2743200" cy="91440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3.2</a:t>
            </a:r>
            <a:endParaRPr lang="en-US" sz="2000" dirty="0"/>
          </a:p>
        </p:txBody>
      </p:sp>
      <p:sp>
        <p:nvSpPr>
          <p:cNvPr id="3" name="Text 1"/>
          <p:cNvSpPr txBox="1"/>
          <p:nvPr/>
        </p:nvSpPr>
        <p:spPr>
          <a:xfrm>
            <a:off x="548640" y="2743200"/>
            <a:ext cx="10058400" cy="12801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Plan-Driven and Agile Development</a:t>
            </a:r>
            <a:endParaRPr lang="en-US" sz="3800" dirty="0"/>
          </a:p>
        </p:txBody>
      </p:sp>
      <p:sp>
        <p:nvSpPr>
          <p:cNvPr id="4" name="Text 2"/>
          <p:cNvSpPr txBox="1"/>
          <p:nvPr/>
        </p:nvSpPr>
        <p:spPr>
          <a:xfrm>
            <a:off x="548640" y="3794760"/>
            <a:ext cx="9144000" cy="5486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Two different ways of organizing the same underlying activities</a:t>
            </a:r>
            <a:endParaRPr lang="en-US" sz="16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Two Approaches to Specification</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3.2 Plan-Driven vs. Agile</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
        <p:nvSpPr>
          <p:cNvPr id="6" name="Text 3"/>
          <p:cNvSpPr txBox="1"/>
          <p:nvPr/>
        </p:nvSpPr>
        <p:spPr>
          <a:xfrm>
            <a:off x="548640" y="1554480"/>
            <a:ext cx="4572000" cy="36576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Plan-Based Development</a:t>
            </a:r>
            <a:endParaRPr lang="en-US" sz="1400" dirty="0"/>
          </a:p>
        </p:txBody>
      </p:sp>
      <p:sp>
        <p:nvSpPr>
          <p:cNvPr id="7" name="Shape 4"/>
          <p:cNvSpPr/>
          <p:nvPr/>
        </p:nvSpPr>
        <p:spPr>
          <a:xfrm>
            <a:off x="548640" y="2011680"/>
            <a:ext cx="2743200" cy="822960"/>
          </a:xfrm>
          <a:prstGeom prst="roundRect">
            <a:avLst>
              <a:gd name="adj" fmla="val 8889"/>
            </a:avLst>
          </a:prstGeom>
          <a:solidFill>
            <a:srgbClr val="2E86AB"/>
          </a:solidFill>
          <a:ln w="12700">
            <a:solidFill>
              <a:srgbClr val="2E86AB"/>
            </a:solidFill>
            <a:prstDash val="solid"/>
          </a:ln>
        </p:spPr>
        <p:txBody>
          <a:bodyPr/>
          <a:lstStyle/>
          <a:p>
            <a:endParaRPr lang="en-US"/>
          </a:p>
        </p:txBody>
      </p:sp>
      <p:sp>
        <p:nvSpPr>
          <p:cNvPr id="8" name="Text 5"/>
          <p:cNvSpPr txBox="1"/>
          <p:nvPr/>
        </p:nvSpPr>
        <p:spPr>
          <a:xfrm>
            <a:off x="621792" y="2011680"/>
            <a:ext cx="2596896"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Requirements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9" name="Shape 6"/>
          <p:cNvSpPr/>
          <p:nvPr/>
        </p:nvSpPr>
        <p:spPr>
          <a:xfrm>
            <a:off x="3291840" y="2423160"/>
            <a:ext cx="502920" cy="9144"/>
          </a:xfrm>
          <a:prstGeom prst="line">
            <a:avLst/>
          </a:prstGeom>
          <a:noFill/>
          <a:ln w="25400">
            <a:solidFill>
              <a:srgbClr val="5B6B82"/>
            </a:solidFill>
            <a:prstDash val="solid"/>
            <a:tailEnd type="triangle"/>
          </a:ln>
        </p:spPr>
        <p:txBody>
          <a:bodyPr/>
          <a:lstStyle/>
          <a:p>
            <a:endParaRPr lang="en-US"/>
          </a:p>
        </p:txBody>
      </p:sp>
      <p:sp>
        <p:nvSpPr>
          <p:cNvPr id="10" name="Shape 7"/>
          <p:cNvSpPr/>
          <p:nvPr/>
        </p:nvSpPr>
        <p:spPr>
          <a:xfrm>
            <a:off x="3840480" y="2011680"/>
            <a:ext cx="2743200" cy="822960"/>
          </a:xfrm>
          <a:prstGeom prst="roundRect">
            <a:avLst>
              <a:gd name="adj" fmla="val 8889"/>
            </a:avLst>
          </a:prstGeom>
          <a:solidFill>
            <a:srgbClr val="EAF2FB"/>
          </a:solidFill>
          <a:ln w="12700">
            <a:solidFill>
              <a:srgbClr val="EAF2FB"/>
            </a:solidFill>
            <a:prstDash val="solid"/>
          </a:ln>
        </p:spPr>
        <p:txBody>
          <a:bodyPr/>
          <a:lstStyle/>
          <a:p>
            <a:endParaRPr lang="en-US"/>
          </a:p>
        </p:txBody>
      </p:sp>
      <p:sp>
        <p:nvSpPr>
          <p:cNvPr id="11" name="Text 8"/>
          <p:cNvSpPr txBox="1"/>
          <p:nvPr/>
        </p:nvSpPr>
        <p:spPr>
          <a:xfrm>
            <a:off x="3913632" y="2011680"/>
            <a:ext cx="2596896" cy="8229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Requirements</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Specification</a:t>
            </a:r>
            <a:endParaRPr lang="en-US" sz="1300" dirty="0"/>
          </a:p>
        </p:txBody>
      </p:sp>
      <p:sp>
        <p:nvSpPr>
          <p:cNvPr id="12" name="Shape 9"/>
          <p:cNvSpPr/>
          <p:nvPr/>
        </p:nvSpPr>
        <p:spPr>
          <a:xfrm>
            <a:off x="6583680" y="2423160"/>
            <a:ext cx="502920" cy="9144"/>
          </a:xfrm>
          <a:prstGeom prst="line">
            <a:avLst/>
          </a:prstGeom>
          <a:noFill/>
          <a:ln w="25400">
            <a:solidFill>
              <a:srgbClr val="5B6B82"/>
            </a:solidFill>
            <a:prstDash val="solid"/>
            <a:tailEnd type="triangle"/>
          </a:ln>
        </p:spPr>
        <p:txBody>
          <a:bodyPr/>
          <a:lstStyle/>
          <a:p>
            <a:endParaRPr lang="en-US"/>
          </a:p>
        </p:txBody>
      </p:sp>
      <p:sp>
        <p:nvSpPr>
          <p:cNvPr id="13" name="Shape 10"/>
          <p:cNvSpPr/>
          <p:nvPr/>
        </p:nvSpPr>
        <p:spPr>
          <a:xfrm>
            <a:off x="7132320" y="2011680"/>
            <a:ext cx="3108960" cy="822960"/>
          </a:xfrm>
          <a:prstGeom prst="roundRect">
            <a:avLst>
              <a:gd name="adj" fmla="val 8889"/>
            </a:avLst>
          </a:prstGeom>
          <a:solidFill>
            <a:srgbClr val="2E86AB"/>
          </a:solidFill>
          <a:ln w="12700">
            <a:solidFill>
              <a:srgbClr val="2E86AB"/>
            </a:solidFill>
            <a:prstDash val="solid"/>
          </a:ln>
        </p:spPr>
        <p:txBody>
          <a:bodyPr/>
          <a:lstStyle/>
          <a:p>
            <a:endParaRPr lang="en-US"/>
          </a:p>
        </p:txBody>
      </p:sp>
      <p:sp>
        <p:nvSpPr>
          <p:cNvPr id="14" name="Text 11"/>
          <p:cNvSpPr txBox="1"/>
          <p:nvPr/>
        </p:nvSpPr>
        <p:spPr>
          <a:xfrm>
            <a:off x="7205472" y="2011680"/>
            <a:ext cx="2962656"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Design and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Implementation</a:t>
            </a:r>
            <a:endParaRPr lang="en-US" sz="1300" dirty="0"/>
          </a:p>
        </p:txBody>
      </p:sp>
      <p:sp>
        <p:nvSpPr>
          <p:cNvPr id="15" name="Text 12"/>
          <p:cNvSpPr txBox="1"/>
          <p:nvPr/>
        </p:nvSpPr>
        <p:spPr>
          <a:xfrm>
            <a:off x="548640" y="3291840"/>
            <a:ext cx="4572000" cy="36576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Agile Development</a:t>
            </a:r>
            <a:endParaRPr lang="en-US" sz="1400" dirty="0"/>
          </a:p>
        </p:txBody>
      </p:sp>
      <p:sp>
        <p:nvSpPr>
          <p:cNvPr id="16" name="Shape 13"/>
          <p:cNvSpPr/>
          <p:nvPr/>
        </p:nvSpPr>
        <p:spPr>
          <a:xfrm>
            <a:off x="1920240" y="3749040"/>
            <a:ext cx="3108960" cy="822960"/>
          </a:xfrm>
          <a:prstGeom prst="roundRect">
            <a:avLst>
              <a:gd name="adj" fmla="val 8889"/>
            </a:avLst>
          </a:prstGeom>
          <a:solidFill>
            <a:srgbClr val="F2A541"/>
          </a:solidFill>
          <a:ln w="12700">
            <a:solidFill>
              <a:srgbClr val="F2A541"/>
            </a:solidFill>
            <a:prstDash val="solid"/>
          </a:ln>
        </p:spPr>
        <p:txBody>
          <a:bodyPr/>
          <a:lstStyle/>
          <a:p>
            <a:endParaRPr lang="en-US"/>
          </a:p>
        </p:txBody>
      </p:sp>
      <p:sp>
        <p:nvSpPr>
          <p:cNvPr id="17" name="Text 14"/>
          <p:cNvSpPr txBox="1"/>
          <p:nvPr/>
        </p:nvSpPr>
        <p:spPr>
          <a:xfrm>
            <a:off x="1993392" y="3749040"/>
            <a:ext cx="2962656" cy="8229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Requirements</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Engineering</a:t>
            </a:r>
            <a:endParaRPr lang="en-US" sz="1300" dirty="0"/>
          </a:p>
        </p:txBody>
      </p:sp>
      <p:sp>
        <p:nvSpPr>
          <p:cNvPr id="18" name="Shape 15"/>
          <p:cNvSpPr/>
          <p:nvPr/>
        </p:nvSpPr>
        <p:spPr>
          <a:xfrm>
            <a:off x="6492240" y="3749040"/>
            <a:ext cx="3108960" cy="822960"/>
          </a:xfrm>
          <a:prstGeom prst="roundRect">
            <a:avLst>
              <a:gd name="adj" fmla="val 8889"/>
            </a:avLst>
          </a:prstGeom>
          <a:solidFill>
            <a:srgbClr val="F2A541"/>
          </a:solidFill>
          <a:ln w="12700">
            <a:solidFill>
              <a:srgbClr val="F2A541"/>
            </a:solidFill>
            <a:prstDash val="solid"/>
          </a:ln>
        </p:spPr>
        <p:txBody>
          <a:bodyPr/>
          <a:lstStyle/>
          <a:p>
            <a:endParaRPr lang="en-US"/>
          </a:p>
        </p:txBody>
      </p:sp>
      <p:sp>
        <p:nvSpPr>
          <p:cNvPr id="19" name="Text 16"/>
          <p:cNvSpPr txBox="1"/>
          <p:nvPr/>
        </p:nvSpPr>
        <p:spPr>
          <a:xfrm>
            <a:off x="6565392" y="3749040"/>
            <a:ext cx="2962656" cy="82296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Design and</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Implementation</a:t>
            </a:r>
            <a:endParaRPr lang="en-US" sz="1300" dirty="0"/>
          </a:p>
        </p:txBody>
      </p:sp>
      <p:sp>
        <p:nvSpPr>
          <p:cNvPr id="20" name="Shape 17"/>
          <p:cNvSpPr/>
          <p:nvPr/>
        </p:nvSpPr>
        <p:spPr>
          <a:xfrm>
            <a:off x="5029200" y="3977640"/>
            <a:ext cx="1463040" cy="9144"/>
          </a:xfrm>
          <a:prstGeom prst="line">
            <a:avLst/>
          </a:prstGeom>
          <a:noFill/>
          <a:ln w="25400">
            <a:solidFill>
              <a:srgbClr val="2E86AB"/>
            </a:solidFill>
            <a:prstDash val="solid"/>
            <a:tailEnd type="triangle"/>
          </a:ln>
        </p:spPr>
        <p:txBody>
          <a:bodyPr/>
          <a:lstStyle/>
          <a:p>
            <a:endParaRPr lang="en-US"/>
          </a:p>
        </p:txBody>
      </p:sp>
      <p:sp>
        <p:nvSpPr>
          <p:cNvPr id="21" name="Shape 18"/>
          <p:cNvSpPr/>
          <p:nvPr/>
        </p:nvSpPr>
        <p:spPr>
          <a:xfrm flipH="1">
            <a:off x="5029200" y="4343400"/>
            <a:ext cx="1463040" cy="9144"/>
          </a:xfrm>
          <a:prstGeom prst="line">
            <a:avLst/>
          </a:prstGeom>
          <a:noFill/>
          <a:ln w="25400">
            <a:solidFill>
              <a:srgbClr val="2E86AB"/>
            </a:solidFill>
            <a:prstDash val="solid"/>
            <a:tailEnd type="triangle"/>
          </a:ln>
        </p:spPr>
        <p:txBody>
          <a:bodyPr/>
          <a:lstStyle/>
          <a:p>
            <a:endParaRPr lang="en-US"/>
          </a:p>
        </p:txBody>
      </p:sp>
      <p:sp>
        <p:nvSpPr>
          <p:cNvPr id="22" name="Text 19"/>
          <p:cNvSpPr txBox="1"/>
          <p:nvPr/>
        </p:nvSpPr>
        <p:spPr>
          <a:xfrm>
            <a:off x="1920240" y="4709160"/>
            <a:ext cx="7680960" cy="365760"/>
          </a:xfrm>
          <a:prstGeom prst="rect">
            <a:avLst/>
          </a:prstGeom>
          <a:noFill/>
          <a:ln/>
        </p:spPr>
        <p:txBody>
          <a:bodyPr wrap="square" lIns="0" tIns="0" rIns="0" bIns="0" rtlCol="0" anchor="ctr"/>
          <a:lstStyle/>
          <a:p>
            <a:pPr marL="0" indent="0" algn="ctr">
              <a:buNone/>
            </a:pPr>
            <a:r>
              <a:rPr lang="en-US" sz="1200" i="1" dirty="0">
                <a:solidFill>
                  <a:srgbClr val="5B6B82"/>
                </a:solidFill>
                <a:latin typeface="Calibri" pitchFamily="34" charset="0"/>
                <a:ea typeface="Calibri" pitchFamily="34" charset="-122"/>
                <a:cs typeface="Calibri" pitchFamily="34" charset="-120"/>
              </a:rPr>
              <a:t>Requirements change requests flow continuously between the two activities</a:t>
            </a:r>
            <a:endParaRPr lang="en-US" sz="1200" dirty="0"/>
          </a:p>
        </p:txBody>
      </p:sp>
      <p:sp>
        <p:nvSpPr>
          <p:cNvPr id="23" name="Text 20"/>
          <p:cNvSpPr txBox="1"/>
          <p:nvPr/>
        </p:nvSpPr>
        <p:spPr>
          <a:xfrm>
            <a:off x="548640" y="5486400"/>
            <a:ext cx="10607040" cy="640080"/>
          </a:xfrm>
          <a:prstGeom prst="rect">
            <a:avLst/>
          </a:prstGeom>
          <a:noFill/>
          <a:ln/>
        </p:spPr>
        <p:txBody>
          <a:bodyPr wrap="square" lIns="0" tIns="0" rIns="0" bIns="0" rtlCol="0" anchor="ctr"/>
          <a:lstStyle/>
          <a:p>
            <a:pPr marL="0" indent="0">
              <a:buNone/>
            </a:pPr>
            <a:r>
              <a:rPr lang="en-US" sz="1300" dirty="0">
                <a:solidFill>
                  <a:srgbClr val="22304A"/>
                </a:solidFill>
                <a:latin typeface="Calibri" pitchFamily="34" charset="0"/>
                <a:ea typeface="Calibri" pitchFamily="34" charset="-122"/>
                <a:cs typeface="Calibri" pitchFamily="34" charset="-120"/>
              </a:rPr>
              <a:t>Plan-driven: iteration happens within a stage; formal documents connect the stages.  Agile: the requirements and the design evolve together.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Choosing an Approach (1 of 2)</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3.2 Plan-Driven vs. Agile</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472184"/>
            <a:ext cx="384048" cy="384048"/>
          </a:xfrm>
          <a:prstGeom prst="ellipse">
            <a:avLst/>
          </a:prstGeom>
          <a:solidFill>
            <a:srgbClr val="2E86AB"/>
          </a:solidFill>
          <a:ln/>
        </p:spPr>
        <p:txBody>
          <a:bodyPr/>
          <a:lstStyle/>
          <a:p>
            <a:endParaRPr lang="en-US"/>
          </a:p>
        </p:txBody>
      </p:sp>
      <p:sp>
        <p:nvSpPr>
          <p:cNvPr id="7" name="Text 4"/>
          <p:cNvSpPr txBox="1"/>
          <p:nvPr/>
        </p:nvSpPr>
        <p:spPr>
          <a:xfrm>
            <a:off x="54864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17320"/>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Detailed spec needed?</a:t>
            </a:r>
            <a:endParaRPr lang="en-US" sz="1500" dirty="0"/>
          </a:p>
        </p:txBody>
      </p:sp>
      <p:sp>
        <p:nvSpPr>
          <p:cNvPr id="9" name="Text 6"/>
          <p:cNvSpPr txBox="1"/>
          <p:nvPr/>
        </p:nvSpPr>
        <p:spPr>
          <a:xfrm>
            <a:off x="4069080" y="1417320"/>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If a very detailed specification and design must exist before implementation, lean plan-driven.</a:t>
            </a:r>
            <a:endParaRPr lang="en-US" sz="1350" dirty="0"/>
          </a:p>
        </p:txBody>
      </p:sp>
      <p:sp>
        <p:nvSpPr>
          <p:cNvPr id="10" name="Shape 7"/>
          <p:cNvSpPr/>
          <p:nvPr/>
        </p:nvSpPr>
        <p:spPr>
          <a:xfrm>
            <a:off x="548640" y="2368296"/>
            <a:ext cx="384048" cy="384048"/>
          </a:xfrm>
          <a:prstGeom prst="ellipse">
            <a:avLst/>
          </a:prstGeom>
          <a:solidFill>
            <a:srgbClr val="2E86AB"/>
          </a:solidFill>
          <a:ln/>
        </p:spPr>
        <p:txBody>
          <a:bodyPr/>
          <a:lstStyle/>
          <a:p>
            <a:endParaRPr lang="en-US"/>
          </a:p>
        </p:txBody>
      </p:sp>
      <p:sp>
        <p:nvSpPr>
          <p:cNvPr id="11" name="Text 8"/>
          <p:cNvSpPr txBox="1"/>
          <p:nvPr/>
        </p:nvSpPr>
        <p:spPr>
          <a:xfrm>
            <a:off x="548640" y="23682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313432"/>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Rapid feedback realistic?</a:t>
            </a:r>
            <a:endParaRPr lang="en-US" sz="1500" dirty="0"/>
          </a:p>
        </p:txBody>
      </p:sp>
      <p:sp>
        <p:nvSpPr>
          <p:cNvPr id="13" name="Text 10"/>
          <p:cNvSpPr txBox="1"/>
          <p:nvPr/>
        </p:nvSpPr>
        <p:spPr>
          <a:xfrm>
            <a:off x="4069080" y="2313432"/>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If incremental delivery with fast customer feedback is realistic, agile fits well.</a:t>
            </a:r>
            <a:endParaRPr lang="en-US" sz="1350" dirty="0"/>
          </a:p>
        </p:txBody>
      </p:sp>
      <p:sp>
        <p:nvSpPr>
          <p:cNvPr id="14" name="Shape 11"/>
          <p:cNvSpPr/>
          <p:nvPr/>
        </p:nvSpPr>
        <p:spPr>
          <a:xfrm>
            <a:off x="548640" y="3264408"/>
            <a:ext cx="384048" cy="384048"/>
          </a:xfrm>
          <a:prstGeom prst="ellipse">
            <a:avLst/>
          </a:prstGeom>
          <a:solidFill>
            <a:srgbClr val="2E86AB"/>
          </a:solidFill>
          <a:ln/>
        </p:spPr>
        <p:txBody>
          <a:bodyPr/>
          <a:lstStyle/>
          <a:p>
            <a:endParaRPr lang="en-US"/>
          </a:p>
        </p:txBody>
      </p:sp>
      <p:sp>
        <p:nvSpPr>
          <p:cNvPr id="15" name="Text 12"/>
          <p:cNvSpPr txBox="1"/>
          <p:nvPr/>
        </p:nvSpPr>
        <p:spPr>
          <a:xfrm>
            <a:off x="548640" y="3264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3209544"/>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Team size &amp; location</a:t>
            </a:r>
            <a:endParaRPr lang="en-US" sz="1500" dirty="0"/>
          </a:p>
        </p:txBody>
      </p:sp>
      <p:sp>
        <p:nvSpPr>
          <p:cNvPr id="17" name="Text 14"/>
          <p:cNvSpPr txBox="1"/>
          <p:nvPr/>
        </p:nvSpPr>
        <p:spPr>
          <a:xfrm>
            <a:off x="4069080" y="3209544"/>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Agile works best for small, co-located teams who communicate informally.</a:t>
            </a:r>
            <a:endParaRPr lang="en-US" sz="1350" dirty="0"/>
          </a:p>
        </p:txBody>
      </p:sp>
      <p:sp>
        <p:nvSpPr>
          <p:cNvPr id="18" name="Shape 15"/>
          <p:cNvSpPr/>
          <p:nvPr/>
        </p:nvSpPr>
        <p:spPr>
          <a:xfrm>
            <a:off x="548640" y="4160520"/>
            <a:ext cx="384048" cy="384048"/>
          </a:xfrm>
          <a:prstGeom prst="ellipse">
            <a:avLst/>
          </a:prstGeom>
          <a:solidFill>
            <a:srgbClr val="2E86AB"/>
          </a:solidFill>
          <a:ln/>
        </p:spPr>
        <p:txBody>
          <a:bodyPr/>
          <a:lstStyle/>
          <a:p>
            <a:endParaRPr lang="en-US"/>
          </a:p>
        </p:txBody>
      </p:sp>
      <p:sp>
        <p:nvSpPr>
          <p:cNvPr id="19" name="Text 16"/>
          <p:cNvSpPr txBox="1"/>
          <p:nvPr/>
        </p:nvSpPr>
        <p:spPr>
          <a:xfrm>
            <a:off x="54864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4105656"/>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System type</a:t>
            </a:r>
            <a:endParaRPr lang="en-US" sz="1500" dirty="0"/>
          </a:p>
        </p:txBody>
      </p:sp>
      <p:sp>
        <p:nvSpPr>
          <p:cNvPr id="21" name="Text 18"/>
          <p:cNvSpPr txBox="1"/>
          <p:nvPr/>
        </p:nvSpPr>
        <p:spPr>
          <a:xfrm>
            <a:off x="4069080" y="4105656"/>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Systems needing heavy up-front analysis (e.g., real-time timing constraints) often need plan-driven design.</a:t>
            </a:r>
            <a:endParaRPr lang="en-US" sz="1350" dirty="0"/>
          </a:p>
        </p:txBody>
      </p:sp>
      <p:sp>
        <p:nvSpPr>
          <p:cNvPr id="22" name="Shape 19"/>
          <p:cNvSpPr/>
          <p:nvPr/>
        </p:nvSpPr>
        <p:spPr>
          <a:xfrm>
            <a:off x="548640" y="5056632"/>
            <a:ext cx="384048" cy="384048"/>
          </a:xfrm>
          <a:prstGeom prst="ellipse">
            <a:avLst/>
          </a:prstGeom>
          <a:solidFill>
            <a:srgbClr val="2E86AB"/>
          </a:solidFill>
          <a:ln/>
        </p:spPr>
        <p:txBody>
          <a:bodyPr/>
          <a:lstStyle/>
          <a:p>
            <a:endParaRPr lang="en-US"/>
          </a:p>
        </p:txBody>
      </p:sp>
      <p:sp>
        <p:nvSpPr>
          <p:cNvPr id="23" name="Text 20"/>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5001768"/>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Expected lifetime</a:t>
            </a:r>
            <a:endParaRPr lang="en-US" sz="1500" dirty="0"/>
          </a:p>
        </p:txBody>
      </p:sp>
      <p:sp>
        <p:nvSpPr>
          <p:cNvPr id="25" name="Text 22"/>
          <p:cNvSpPr txBox="1"/>
          <p:nvPr/>
        </p:nvSpPr>
        <p:spPr>
          <a:xfrm>
            <a:off x="4069080" y="5001768"/>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Long-lived systems may need more documentation to communicate intent to future maintainers.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Choosing an Approach (2 of 2)</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3.2 Plan-Driven vs. Agile</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48640" y="1472184"/>
            <a:ext cx="384048" cy="384048"/>
          </a:xfrm>
          <a:prstGeom prst="ellipse">
            <a:avLst/>
          </a:prstGeom>
          <a:solidFill>
            <a:srgbClr val="2E86AB"/>
          </a:solidFill>
          <a:ln/>
        </p:spPr>
        <p:txBody>
          <a:bodyPr/>
          <a:lstStyle/>
          <a:p>
            <a:endParaRPr lang="en-US"/>
          </a:p>
        </p:txBody>
      </p:sp>
      <p:sp>
        <p:nvSpPr>
          <p:cNvPr id="7" name="Text 4"/>
          <p:cNvSpPr txBox="1"/>
          <p:nvPr/>
        </p:nvSpPr>
        <p:spPr>
          <a:xfrm>
            <a:off x="54864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17320"/>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Tooling</a:t>
            </a:r>
            <a:endParaRPr lang="en-US" sz="1500" dirty="0"/>
          </a:p>
        </p:txBody>
      </p:sp>
      <p:sp>
        <p:nvSpPr>
          <p:cNvPr id="9" name="Text 6"/>
          <p:cNvSpPr txBox="1"/>
          <p:nvPr/>
        </p:nvSpPr>
        <p:spPr>
          <a:xfrm>
            <a:off x="4069080" y="1417320"/>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Good visualization and analysis tools support agile; without them, more design documentation is needed.</a:t>
            </a:r>
            <a:endParaRPr lang="en-US" sz="1350" dirty="0"/>
          </a:p>
        </p:txBody>
      </p:sp>
      <p:sp>
        <p:nvSpPr>
          <p:cNvPr id="10" name="Shape 7"/>
          <p:cNvSpPr/>
          <p:nvPr/>
        </p:nvSpPr>
        <p:spPr>
          <a:xfrm>
            <a:off x="548640" y="2368296"/>
            <a:ext cx="384048" cy="384048"/>
          </a:xfrm>
          <a:prstGeom prst="ellipse">
            <a:avLst/>
          </a:prstGeom>
          <a:solidFill>
            <a:srgbClr val="2E86AB"/>
          </a:solidFill>
          <a:ln/>
        </p:spPr>
        <p:txBody>
          <a:bodyPr/>
          <a:lstStyle/>
          <a:p>
            <a:endParaRPr lang="en-US"/>
          </a:p>
        </p:txBody>
      </p:sp>
      <p:sp>
        <p:nvSpPr>
          <p:cNvPr id="11" name="Text 8"/>
          <p:cNvSpPr txBox="1"/>
          <p:nvPr/>
        </p:nvSpPr>
        <p:spPr>
          <a:xfrm>
            <a:off x="548640" y="23682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313432"/>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Team organization</a:t>
            </a:r>
            <a:endParaRPr lang="en-US" sz="1500" dirty="0"/>
          </a:p>
        </p:txBody>
      </p:sp>
      <p:sp>
        <p:nvSpPr>
          <p:cNvPr id="13" name="Text 10"/>
          <p:cNvSpPr txBox="1"/>
          <p:nvPr/>
        </p:nvSpPr>
        <p:spPr>
          <a:xfrm>
            <a:off x="4069080" y="2313432"/>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Distributed or outsourced teams often need documentation to coordinate across sites.</a:t>
            </a:r>
            <a:endParaRPr lang="en-US" sz="1350" dirty="0"/>
          </a:p>
        </p:txBody>
      </p:sp>
      <p:sp>
        <p:nvSpPr>
          <p:cNvPr id="14" name="Shape 11"/>
          <p:cNvSpPr/>
          <p:nvPr/>
        </p:nvSpPr>
        <p:spPr>
          <a:xfrm>
            <a:off x="548640" y="3264408"/>
            <a:ext cx="384048" cy="384048"/>
          </a:xfrm>
          <a:prstGeom prst="ellipse">
            <a:avLst/>
          </a:prstGeom>
          <a:solidFill>
            <a:srgbClr val="2E86AB"/>
          </a:solidFill>
          <a:ln/>
        </p:spPr>
        <p:txBody>
          <a:bodyPr/>
          <a:lstStyle/>
          <a:p>
            <a:endParaRPr lang="en-US"/>
          </a:p>
        </p:txBody>
      </p:sp>
      <p:sp>
        <p:nvSpPr>
          <p:cNvPr id="15" name="Text 12"/>
          <p:cNvSpPr txBox="1"/>
          <p:nvPr/>
        </p:nvSpPr>
        <p:spPr>
          <a:xfrm>
            <a:off x="548640" y="3264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3209544"/>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Organizational culture</a:t>
            </a:r>
            <a:endParaRPr lang="en-US" sz="1500" dirty="0"/>
          </a:p>
        </p:txBody>
      </p:sp>
      <p:sp>
        <p:nvSpPr>
          <p:cNvPr id="17" name="Text 14"/>
          <p:cNvSpPr txBox="1"/>
          <p:nvPr/>
        </p:nvSpPr>
        <p:spPr>
          <a:xfrm>
            <a:off x="4069080" y="3209544"/>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Engineering cultures built around plan-based work usually expect extensive documentation.</a:t>
            </a:r>
            <a:endParaRPr lang="en-US" sz="1350" dirty="0"/>
          </a:p>
        </p:txBody>
      </p:sp>
      <p:sp>
        <p:nvSpPr>
          <p:cNvPr id="18" name="Shape 15"/>
          <p:cNvSpPr/>
          <p:nvPr/>
        </p:nvSpPr>
        <p:spPr>
          <a:xfrm>
            <a:off x="548640" y="4160520"/>
            <a:ext cx="384048" cy="384048"/>
          </a:xfrm>
          <a:prstGeom prst="ellipse">
            <a:avLst/>
          </a:prstGeom>
          <a:solidFill>
            <a:srgbClr val="2E86AB"/>
          </a:solidFill>
          <a:ln/>
        </p:spPr>
        <p:txBody>
          <a:bodyPr/>
          <a:lstStyle/>
          <a:p>
            <a:endParaRPr lang="en-US"/>
          </a:p>
        </p:txBody>
      </p:sp>
      <p:sp>
        <p:nvSpPr>
          <p:cNvPr id="19" name="Text 16"/>
          <p:cNvSpPr txBox="1"/>
          <p:nvPr/>
        </p:nvSpPr>
        <p:spPr>
          <a:xfrm>
            <a:off x="54864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4105656"/>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Team skill level</a:t>
            </a:r>
            <a:endParaRPr lang="en-US" sz="1500" dirty="0"/>
          </a:p>
        </p:txBody>
      </p:sp>
      <p:sp>
        <p:nvSpPr>
          <p:cNvPr id="21" name="Text 18"/>
          <p:cNvSpPr txBox="1"/>
          <p:nvPr/>
        </p:nvSpPr>
        <p:spPr>
          <a:xfrm>
            <a:off x="4069080" y="4105656"/>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Agile methods generally assume a highly skilled team; lower-skill teams may need more up-front design.</a:t>
            </a:r>
            <a:endParaRPr lang="en-US" sz="1350" dirty="0"/>
          </a:p>
        </p:txBody>
      </p:sp>
      <p:sp>
        <p:nvSpPr>
          <p:cNvPr id="22" name="Shape 19"/>
          <p:cNvSpPr/>
          <p:nvPr/>
        </p:nvSpPr>
        <p:spPr>
          <a:xfrm>
            <a:off x="548640" y="5056632"/>
            <a:ext cx="384048" cy="384048"/>
          </a:xfrm>
          <a:prstGeom prst="ellipse">
            <a:avLst/>
          </a:prstGeom>
          <a:solidFill>
            <a:srgbClr val="2E86AB"/>
          </a:solidFill>
          <a:ln/>
        </p:spPr>
        <p:txBody>
          <a:bodyPr/>
          <a:lstStyle/>
          <a:p>
            <a:endParaRPr lang="en-US"/>
          </a:p>
        </p:txBody>
      </p:sp>
      <p:sp>
        <p:nvSpPr>
          <p:cNvPr id="23" name="Text 20"/>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5001768"/>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External regulation</a:t>
            </a:r>
            <a:endParaRPr lang="en-US" sz="1500" dirty="0"/>
          </a:p>
        </p:txBody>
      </p:sp>
      <p:sp>
        <p:nvSpPr>
          <p:cNvPr id="25" name="Text 22"/>
          <p:cNvSpPr txBox="1"/>
          <p:nvPr/>
        </p:nvSpPr>
        <p:spPr>
          <a:xfrm>
            <a:off x="4069080" y="5001768"/>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Regulated systems (e.g., aviation software) typically require detailed documentation as part of approval.</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2286000"/>
            <a:ext cx="2743200" cy="91440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3.3</a:t>
            </a:r>
            <a:endParaRPr lang="en-US" sz="2000" dirty="0"/>
          </a:p>
        </p:txBody>
      </p:sp>
      <p:sp>
        <p:nvSpPr>
          <p:cNvPr id="3" name="Text 1"/>
          <p:cNvSpPr txBox="1"/>
          <p:nvPr/>
        </p:nvSpPr>
        <p:spPr>
          <a:xfrm>
            <a:off x="548640" y="2743200"/>
            <a:ext cx="10058400" cy="12801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Extreme Programming (XP)</a:t>
            </a:r>
            <a:endParaRPr lang="en-US" sz="3800" dirty="0"/>
          </a:p>
        </p:txBody>
      </p:sp>
      <p:sp>
        <p:nvSpPr>
          <p:cNvPr id="4" name="Text 2"/>
          <p:cNvSpPr txBox="1"/>
          <p:nvPr/>
        </p:nvSpPr>
        <p:spPr>
          <a:xfrm>
            <a:off x="548640" y="3794760"/>
            <a:ext cx="9144000" cy="5486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The best-known agile method — recognized good practice, pushed to the extreme</a:t>
            </a:r>
            <a:endParaRPr lang="en-US" sz="16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XP Release Cycle</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15</a:t>
            </a:r>
            <a:endParaRPr lang="en-US" sz="1000" dirty="0"/>
          </a:p>
        </p:txBody>
      </p:sp>
      <p:sp>
        <p:nvSpPr>
          <p:cNvPr id="6" name="Text 3"/>
          <p:cNvSpPr txBox="1"/>
          <p:nvPr/>
        </p:nvSpPr>
        <p:spPr>
          <a:xfrm>
            <a:off x="548640" y="1417320"/>
            <a:ext cx="4846320" cy="4114800"/>
          </a:xfrm>
          <a:prstGeom prst="rect">
            <a:avLst/>
          </a:prstGeom>
          <a:noFill/>
          <a:ln/>
        </p:spPr>
        <p:txBody>
          <a:bodyPr wrap="square" rtlCol="0" anchor="t"/>
          <a:lstStyle/>
          <a:p>
            <a:pPr marL="279400" indent="-279400">
              <a:spcAft>
                <a:spcPts val="1200"/>
              </a:spcAft>
              <a:buSzPct val="100000"/>
              <a:buChar char="◆"/>
            </a:pPr>
            <a:r>
              <a:rPr lang="en-US" sz="1350" dirty="0">
                <a:solidFill>
                  <a:srgbClr val="22304A"/>
                </a:solidFill>
                <a:latin typeface="Calibri" pitchFamily="34" charset="0"/>
                <a:ea typeface="Calibri" pitchFamily="34" charset="-122"/>
                <a:cs typeface="Calibri" pitchFamily="34" charset="-120"/>
              </a:rPr>
              <a:t>Coined by Kent Beck — pushes recognized good practice (like iterative development) to ‘extreme’ levels</a:t>
            </a:r>
            <a:endParaRPr lang="en-US" sz="1350" dirty="0"/>
          </a:p>
          <a:p>
            <a:pPr marL="279400" indent="-279400">
              <a:spcAft>
                <a:spcPts val="1200"/>
              </a:spcAft>
              <a:buSzPct val="100000"/>
              <a:buChar char="◆"/>
            </a:pPr>
            <a:r>
              <a:rPr lang="en-US" sz="1350" dirty="0">
                <a:solidFill>
                  <a:srgbClr val="22304A"/>
                </a:solidFill>
                <a:latin typeface="Calibri" pitchFamily="34" charset="0"/>
                <a:ea typeface="Calibri" pitchFamily="34" charset="-122"/>
                <a:cs typeface="Calibri" pitchFamily="34" charset="-120"/>
              </a:rPr>
              <a:t>Requirements are expressed as user stories, broken into tasks</a:t>
            </a:r>
            <a:endParaRPr lang="en-US" sz="1350" dirty="0"/>
          </a:p>
          <a:p>
            <a:pPr marL="279400" indent="-279400">
              <a:spcAft>
                <a:spcPts val="1200"/>
              </a:spcAft>
              <a:buSzPct val="100000"/>
              <a:buChar char="◆"/>
            </a:pPr>
            <a:r>
              <a:rPr lang="en-US" sz="1350" dirty="0">
                <a:solidFill>
                  <a:srgbClr val="22304A"/>
                </a:solidFill>
                <a:latin typeface="Calibri" pitchFamily="34" charset="0"/>
                <a:ea typeface="Calibri" pitchFamily="34" charset="-122"/>
                <a:cs typeface="Calibri" pitchFamily="34" charset="-120"/>
              </a:rPr>
              <a:t>Programmers work in pairs and write tests before code</a:t>
            </a:r>
            <a:endParaRPr lang="en-US" sz="1350" dirty="0"/>
          </a:p>
          <a:p>
            <a:pPr marL="279400" indent="-279400">
              <a:spcAft>
                <a:spcPts val="1200"/>
              </a:spcAft>
              <a:buSzPct val="100000"/>
              <a:buChar char="◆"/>
            </a:pPr>
            <a:r>
              <a:rPr lang="en-US" sz="1350" dirty="0">
                <a:solidFill>
                  <a:srgbClr val="22304A"/>
                </a:solidFill>
                <a:latin typeface="Calibri" pitchFamily="34" charset="0"/>
                <a:ea typeface="Calibri" pitchFamily="34" charset="-122"/>
                <a:cs typeface="Calibri" pitchFamily="34" charset="-120"/>
              </a:rPr>
              <a:t>All tests must pass before new code is integrated</a:t>
            </a:r>
            <a:endParaRPr lang="en-US" sz="1350" dirty="0"/>
          </a:p>
        </p:txBody>
      </p:sp>
      <p:sp>
        <p:nvSpPr>
          <p:cNvPr id="7" name="Shape 4"/>
          <p:cNvSpPr/>
          <p:nvPr/>
        </p:nvSpPr>
        <p:spPr>
          <a:xfrm>
            <a:off x="7726680" y="2144268"/>
            <a:ext cx="1737360" cy="777240"/>
          </a:xfrm>
          <a:prstGeom prst="roundRect">
            <a:avLst>
              <a:gd name="adj" fmla="val 9412"/>
            </a:avLst>
          </a:prstGeom>
          <a:solidFill>
            <a:srgbClr val="2E86AB"/>
          </a:solidFill>
          <a:ln w="12700">
            <a:solidFill>
              <a:srgbClr val="2E86AB"/>
            </a:solidFill>
            <a:prstDash val="solid"/>
          </a:ln>
        </p:spPr>
        <p:txBody>
          <a:bodyPr/>
          <a:lstStyle/>
          <a:p>
            <a:endParaRPr lang="en-US"/>
          </a:p>
        </p:txBody>
      </p:sp>
      <p:sp>
        <p:nvSpPr>
          <p:cNvPr id="8" name="Text 5"/>
          <p:cNvSpPr txBox="1"/>
          <p:nvPr/>
        </p:nvSpPr>
        <p:spPr>
          <a:xfrm>
            <a:off x="7799832" y="2144268"/>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Release</a:t>
            </a:r>
            <a:endParaRPr lang="en-US" sz="1300" dirty="0"/>
          </a:p>
        </p:txBody>
      </p:sp>
      <p:sp>
        <p:nvSpPr>
          <p:cNvPr id="9" name="Shape 6"/>
          <p:cNvSpPr/>
          <p:nvPr/>
        </p:nvSpPr>
        <p:spPr>
          <a:xfrm>
            <a:off x="9152089" y="2843784"/>
            <a:ext cx="1737360" cy="777240"/>
          </a:xfrm>
          <a:prstGeom prst="roundRect">
            <a:avLst>
              <a:gd name="adj" fmla="val 9412"/>
            </a:avLst>
          </a:prstGeom>
          <a:solidFill>
            <a:srgbClr val="1B2A4A"/>
          </a:solidFill>
          <a:ln w="12700">
            <a:solidFill>
              <a:srgbClr val="1B2A4A"/>
            </a:solidFill>
            <a:prstDash val="solid"/>
          </a:ln>
        </p:spPr>
        <p:txBody>
          <a:bodyPr/>
          <a:lstStyle/>
          <a:p>
            <a:endParaRPr lang="en-US"/>
          </a:p>
        </p:txBody>
      </p:sp>
      <p:sp>
        <p:nvSpPr>
          <p:cNvPr id="10" name="Text 7"/>
          <p:cNvSpPr txBox="1"/>
          <p:nvPr/>
        </p:nvSpPr>
        <p:spPr>
          <a:xfrm>
            <a:off x="9225241" y="2843784"/>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Select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Stories</a:t>
            </a:r>
            <a:endParaRPr lang="en-US" sz="1300" dirty="0"/>
          </a:p>
        </p:txBody>
      </p:sp>
      <p:sp>
        <p:nvSpPr>
          <p:cNvPr id="11" name="Shape 8"/>
          <p:cNvSpPr/>
          <p:nvPr/>
        </p:nvSpPr>
        <p:spPr>
          <a:xfrm>
            <a:off x="9152089" y="4242816"/>
            <a:ext cx="1737360" cy="777240"/>
          </a:xfrm>
          <a:prstGeom prst="roundRect">
            <a:avLst>
              <a:gd name="adj" fmla="val 9412"/>
            </a:avLst>
          </a:prstGeom>
          <a:solidFill>
            <a:srgbClr val="2E86AB"/>
          </a:solidFill>
          <a:ln w="12700">
            <a:solidFill>
              <a:srgbClr val="2E86AB"/>
            </a:solidFill>
            <a:prstDash val="solid"/>
          </a:ln>
        </p:spPr>
        <p:txBody>
          <a:bodyPr/>
          <a:lstStyle/>
          <a:p>
            <a:endParaRPr lang="en-US"/>
          </a:p>
        </p:txBody>
      </p:sp>
      <p:sp>
        <p:nvSpPr>
          <p:cNvPr id="12" name="Text 9"/>
          <p:cNvSpPr txBox="1"/>
          <p:nvPr/>
        </p:nvSpPr>
        <p:spPr>
          <a:xfrm>
            <a:off x="9225241" y="4242816"/>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Break Into</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Tasks</a:t>
            </a:r>
            <a:endParaRPr lang="en-US" sz="1300" dirty="0"/>
          </a:p>
        </p:txBody>
      </p:sp>
      <p:sp>
        <p:nvSpPr>
          <p:cNvPr id="13" name="Shape 10"/>
          <p:cNvSpPr/>
          <p:nvPr/>
        </p:nvSpPr>
        <p:spPr>
          <a:xfrm>
            <a:off x="7726680" y="4942332"/>
            <a:ext cx="1737360" cy="777240"/>
          </a:xfrm>
          <a:prstGeom prst="roundRect">
            <a:avLst>
              <a:gd name="adj" fmla="val 9412"/>
            </a:avLst>
          </a:prstGeom>
          <a:solidFill>
            <a:srgbClr val="1B2A4A"/>
          </a:solidFill>
          <a:ln w="12700">
            <a:solidFill>
              <a:srgbClr val="1B2A4A"/>
            </a:solidFill>
            <a:prstDash val="solid"/>
          </a:ln>
        </p:spPr>
        <p:txBody>
          <a:bodyPr/>
          <a:lstStyle/>
          <a:p>
            <a:endParaRPr lang="en-US"/>
          </a:p>
        </p:txBody>
      </p:sp>
      <p:sp>
        <p:nvSpPr>
          <p:cNvPr id="14" name="Text 11"/>
          <p:cNvSpPr txBox="1"/>
          <p:nvPr/>
        </p:nvSpPr>
        <p:spPr>
          <a:xfrm>
            <a:off x="7799832" y="4942332"/>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Develop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Integrate</a:t>
            </a:r>
            <a:endParaRPr lang="en-US" sz="1300" dirty="0"/>
          </a:p>
        </p:txBody>
      </p:sp>
      <p:sp>
        <p:nvSpPr>
          <p:cNvPr id="15" name="Shape 12"/>
          <p:cNvSpPr/>
          <p:nvPr/>
        </p:nvSpPr>
        <p:spPr>
          <a:xfrm>
            <a:off x="6301271" y="4242816"/>
            <a:ext cx="1737360" cy="777240"/>
          </a:xfrm>
          <a:prstGeom prst="roundRect">
            <a:avLst>
              <a:gd name="adj" fmla="val 9412"/>
            </a:avLst>
          </a:prstGeom>
          <a:solidFill>
            <a:srgbClr val="2E86AB"/>
          </a:solidFill>
          <a:ln w="12700">
            <a:solidFill>
              <a:srgbClr val="2E86AB"/>
            </a:solidFill>
            <a:prstDash val="solid"/>
          </a:ln>
        </p:spPr>
        <p:txBody>
          <a:bodyPr/>
          <a:lstStyle/>
          <a:p>
            <a:endParaRPr lang="en-US"/>
          </a:p>
        </p:txBody>
      </p:sp>
      <p:sp>
        <p:nvSpPr>
          <p:cNvPr id="16" name="Text 13"/>
          <p:cNvSpPr txBox="1"/>
          <p:nvPr/>
        </p:nvSpPr>
        <p:spPr>
          <a:xfrm>
            <a:off x="6374423" y="4242816"/>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Release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Software</a:t>
            </a:r>
            <a:endParaRPr lang="en-US" sz="1300" dirty="0"/>
          </a:p>
        </p:txBody>
      </p:sp>
      <p:sp>
        <p:nvSpPr>
          <p:cNvPr id="17" name="Shape 14"/>
          <p:cNvSpPr/>
          <p:nvPr/>
        </p:nvSpPr>
        <p:spPr>
          <a:xfrm>
            <a:off x="6301271" y="2843784"/>
            <a:ext cx="1737360" cy="777240"/>
          </a:xfrm>
          <a:prstGeom prst="roundRect">
            <a:avLst>
              <a:gd name="adj" fmla="val 9412"/>
            </a:avLst>
          </a:prstGeom>
          <a:solidFill>
            <a:srgbClr val="1B2A4A"/>
          </a:solidFill>
          <a:ln w="12700">
            <a:solidFill>
              <a:srgbClr val="1B2A4A"/>
            </a:solidFill>
            <a:prstDash val="solid"/>
          </a:ln>
        </p:spPr>
        <p:txBody>
          <a:bodyPr/>
          <a:lstStyle/>
          <a:p>
            <a:endParaRPr lang="en-US"/>
          </a:p>
        </p:txBody>
      </p:sp>
      <p:sp>
        <p:nvSpPr>
          <p:cNvPr id="18" name="Text 15"/>
          <p:cNvSpPr txBox="1"/>
          <p:nvPr/>
        </p:nvSpPr>
        <p:spPr>
          <a:xfrm>
            <a:off x="6374423" y="2843784"/>
            <a:ext cx="15910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Evaluate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p>
        </p:txBody>
      </p:sp>
      <p:sp>
        <p:nvSpPr>
          <p:cNvPr id="19" name="Shape 16"/>
          <p:cNvSpPr/>
          <p:nvPr/>
        </p:nvSpPr>
        <p:spPr>
          <a:xfrm>
            <a:off x="6263640" y="2327148"/>
            <a:ext cx="4663440" cy="3209544"/>
          </a:xfrm>
          <a:prstGeom prst="ellipse">
            <a:avLst/>
          </a:prstGeom>
          <a:ln w="25400">
            <a:solidFill>
              <a:srgbClr val="F2A541"/>
            </a:solidFill>
            <a:prstDash val="dash"/>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XP Practices (1 of 2)</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48640" y="1472184"/>
            <a:ext cx="384048" cy="384048"/>
          </a:xfrm>
          <a:prstGeom prst="ellipse">
            <a:avLst/>
          </a:prstGeom>
          <a:solidFill>
            <a:srgbClr val="2E86AB"/>
          </a:solidFill>
          <a:ln/>
        </p:spPr>
        <p:txBody>
          <a:bodyPr/>
          <a:lstStyle/>
          <a:p>
            <a:endParaRPr lang="en-US"/>
          </a:p>
        </p:txBody>
      </p:sp>
      <p:sp>
        <p:nvSpPr>
          <p:cNvPr id="7" name="Text 4"/>
          <p:cNvSpPr txBox="1"/>
          <p:nvPr/>
        </p:nvSpPr>
        <p:spPr>
          <a:xfrm>
            <a:off x="54864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17320"/>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Incremental planning</a:t>
            </a:r>
            <a:endParaRPr lang="en-US" sz="1500" dirty="0"/>
          </a:p>
        </p:txBody>
      </p:sp>
      <p:sp>
        <p:nvSpPr>
          <p:cNvPr id="9" name="Text 6"/>
          <p:cNvSpPr txBox="1"/>
          <p:nvPr/>
        </p:nvSpPr>
        <p:spPr>
          <a:xfrm>
            <a:off x="4069080" y="1417320"/>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Requirements live on story cards; the team breaks stories into tasks and prioritizes by value.</a:t>
            </a:r>
            <a:endParaRPr lang="en-US" sz="1350" dirty="0"/>
          </a:p>
        </p:txBody>
      </p:sp>
      <p:sp>
        <p:nvSpPr>
          <p:cNvPr id="10" name="Shape 7"/>
          <p:cNvSpPr/>
          <p:nvPr/>
        </p:nvSpPr>
        <p:spPr>
          <a:xfrm>
            <a:off x="548640" y="2368296"/>
            <a:ext cx="384048" cy="384048"/>
          </a:xfrm>
          <a:prstGeom prst="ellipse">
            <a:avLst/>
          </a:prstGeom>
          <a:solidFill>
            <a:srgbClr val="2E86AB"/>
          </a:solidFill>
          <a:ln/>
        </p:spPr>
        <p:txBody>
          <a:bodyPr/>
          <a:lstStyle/>
          <a:p>
            <a:endParaRPr lang="en-US"/>
          </a:p>
        </p:txBody>
      </p:sp>
      <p:sp>
        <p:nvSpPr>
          <p:cNvPr id="11" name="Text 8"/>
          <p:cNvSpPr txBox="1"/>
          <p:nvPr/>
        </p:nvSpPr>
        <p:spPr>
          <a:xfrm>
            <a:off x="548640" y="23682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313432"/>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Small releases</a:t>
            </a:r>
            <a:endParaRPr lang="en-US" sz="1500" dirty="0"/>
          </a:p>
        </p:txBody>
      </p:sp>
      <p:sp>
        <p:nvSpPr>
          <p:cNvPr id="13" name="Text 10"/>
          <p:cNvSpPr txBox="1"/>
          <p:nvPr/>
        </p:nvSpPr>
        <p:spPr>
          <a:xfrm>
            <a:off x="4069080" y="2313432"/>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The minimal useful set of functionality ships first; releases follow frequently.</a:t>
            </a:r>
            <a:endParaRPr lang="en-US" sz="1350" dirty="0"/>
          </a:p>
        </p:txBody>
      </p:sp>
      <p:sp>
        <p:nvSpPr>
          <p:cNvPr id="14" name="Shape 11"/>
          <p:cNvSpPr/>
          <p:nvPr/>
        </p:nvSpPr>
        <p:spPr>
          <a:xfrm>
            <a:off x="548640" y="3264408"/>
            <a:ext cx="384048" cy="384048"/>
          </a:xfrm>
          <a:prstGeom prst="ellipse">
            <a:avLst/>
          </a:prstGeom>
          <a:solidFill>
            <a:srgbClr val="2E86AB"/>
          </a:solidFill>
          <a:ln/>
        </p:spPr>
        <p:txBody>
          <a:bodyPr/>
          <a:lstStyle/>
          <a:p>
            <a:endParaRPr lang="en-US"/>
          </a:p>
        </p:txBody>
      </p:sp>
      <p:sp>
        <p:nvSpPr>
          <p:cNvPr id="15" name="Text 12"/>
          <p:cNvSpPr txBox="1"/>
          <p:nvPr/>
        </p:nvSpPr>
        <p:spPr>
          <a:xfrm>
            <a:off x="548640" y="3264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3209544"/>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Simple design</a:t>
            </a:r>
            <a:endParaRPr lang="en-US" sz="1500" dirty="0"/>
          </a:p>
        </p:txBody>
      </p:sp>
      <p:sp>
        <p:nvSpPr>
          <p:cNvPr id="17" name="Text 14"/>
          <p:cNvSpPr txBox="1"/>
          <p:nvPr/>
        </p:nvSpPr>
        <p:spPr>
          <a:xfrm>
            <a:off x="4069080" y="3209544"/>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Enough design to meet the current requirements — and no more.</a:t>
            </a:r>
            <a:endParaRPr lang="en-US" sz="1350" dirty="0"/>
          </a:p>
        </p:txBody>
      </p:sp>
      <p:sp>
        <p:nvSpPr>
          <p:cNvPr id="18" name="Shape 15"/>
          <p:cNvSpPr/>
          <p:nvPr/>
        </p:nvSpPr>
        <p:spPr>
          <a:xfrm>
            <a:off x="548640" y="4160520"/>
            <a:ext cx="384048" cy="384048"/>
          </a:xfrm>
          <a:prstGeom prst="ellipse">
            <a:avLst/>
          </a:prstGeom>
          <a:solidFill>
            <a:srgbClr val="2E86AB"/>
          </a:solidFill>
          <a:ln/>
        </p:spPr>
        <p:txBody>
          <a:bodyPr/>
          <a:lstStyle/>
          <a:p>
            <a:endParaRPr lang="en-US"/>
          </a:p>
        </p:txBody>
      </p:sp>
      <p:sp>
        <p:nvSpPr>
          <p:cNvPr id="19" name="Text 16"/>
          <p:cNvSpPr txBox="1"/>
          <p:nvPr/>
        </p:nvSpPr>
        <p:spPr>
          <a:xfrm>
            <a:off x="54864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4105656"/>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Test-first development</a:t>
            </a:r>
            <a:endParaRPr lang="en-US" sz="1500" dirty="0"/>
          </a:p>
        </p:txBody>
      </p:sp>
      <p:sp>
        <p:nvSpPr>
          <p:cNvPr id="21" name="Text 18"/>
          <p:cNvSpPr txBox="1"/>
          <p:nvPr/>
        </p:nvSpPr>
        <p:spPr>
          <a:xfrm>
            <a:off x="4069080" y="4105656"/>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An automated test is written for new functionality before that functionality is implemented.</a:t>
            </a:r>
            <a:endParaRPr lang="en-US" sz="1350" dirty="0"/>
          </a:p>
        </p:txBody>
      </p:sp>
      <p:sp>
        <p:nvSpPr>
          <p:cNvPr id="22" name="Shape 19"/>
          <p:cNvSpPr/>
          <p:nvPr/>
        </p:nvSpPr>
        <p:spPr>
          <a:xfrm>
            <a:off x="548640" y="5056632"/>
            <a:ext cx="384048" cy="384048"/>
          </a:xfrm>
          <a:prstGeom prst="ellipse">
            <a:avLst/>
          </a:prstGeom>
          <a:solidFill>
            <a:srgbClr val="2E86AB"/>
          </a:solidFill>
          <a:ln/>
        </p:spPr>
        <p:txBody>
          <a:bodyPr/>
          <a:lstStyle/>
          <a:p>
            <a:endParaRPr lang="en-US"/>
          </a:p>
        </p:txBody>
      </p:sp>
      <p:sp>
        <p:nvSpPr>
          <p:cNvPr id="23" name="Text 20"/>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5001768"/>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Refactoring</a:t>
            </a:r>
            <a:endParaRPr lang="en-US" sz="1500" dirty="0"/>
          </a:p>
        </p:txBody>
      </p:sp>
      <p:sp>
        <p:nvSpPr>
          <p:cNvPr id="25" name="Text 22"/>
          <p:cNvSpPr txBox="1"/>
          <p:nvPr/>
        </p:nvSpPr>
        <p:spPr>
          <a:xfrm>
            <a:off x="4069080" y="5001768"/>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Developers continuously improve code structure as soon as a possible improvement is found.</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XP Practices (2 of 2)</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17</a:t>
            </a:r>
            <a:endParaRPr lang="en-US" sz="1000" dirty="0"/>
          </a:p>
        </p:txBody>
      </p:sp>
      <p:sp>
        <p:nvSpPr>
          <p:cNvPr id="6" name="Shape 3"/>
          <p:cNvSpPr/>
          <p:nvPr/>
        </p:nvSpPr>
        <p:spPr>
          <a:xfrm>
            <a:off x="548640" y="1472184"/>
            <a:ext cx="384048" cy="384048"/>
          </a:xfrm>
          <a:prstGeom prst="ellipse">
            <a:avLst/>
          </a:prstGeom>
          <a:solidFill>
            <a:srgbClr val="2E86AB"/>
          </a:solidFill>
          <a:ln/>
        </p:spPr>
        <p:txBody>
          <a:bodyPr/>
          <a:lstStyle/>
          <a:p>
            <a:endParaRPr lang="en-US"/>
          </a:p>
        </p:txBody>
      </p:sp>
      <p:sp>
        <p:nvSpPr>
          <p:cNvPr id="7" name="Text 4"/>
          <p:cNvSpPr txBox="1"/>
          <p:nvPr/>
        </p:nvSpPr>
        <p:spPr>
          <a:xfrm>
            <a:off x="54864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17320"/>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Pair programming</a:t>
            </a:r>
            <a:endParaRPr lang="en-US" sz="1500" dirty="0"/>
          </a:p>
        </p:txBody>
      </p:sp>
      <p:sp>
        <p:nvSpPr>
          <p:cNvPr id="9" name="Text 6"/>
          <p:cNvSpPr txBox="1"/>
          <p:nvPr/>
        </p:nvSpPr>
        <p:spPr>
          <a:xfrm>
            <a:off x="4069080" y="1417320"/>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Developers work in pairs, checking each other's work as they go.</a:t>
            </a:r>
            <a:endParaRPr lang="en-US" sz="1350" dirty="0"/>
          </a:p>
        </p:txBody>
      </p:sp>
      <p:sp>
        <p:nvSpPr>
          <p:cNvPr id="10" name="Shape 7"/>
          <p:cNvSpPr/>
          <p:nvPr/>
        </p:nvSpPr>
        <p:spPr>
          <a:xfrm>
            <a:off x="548640" y="2368296"/>
            <a:ext cx="384048" cy="384048"/>
          </a:xfrm>
          <a:prstGeom prst="ellipse">
            <a:avLst/>
          </a:prstGeom>
          <a:solidFill>
            <a:srgbClr val="2E86AB"/>
          </a:solidFill>
          <a:ln/>
        </p:spPr>
        <p:txBody>
          <a:bodyPr/>
          <a:lstStyle/>
          <a:p>
            <a:endParaRPr lang="en-US"/>
          </a:p>
        </p:txBody>
      </p:sp>
      <p:sp>
        <p:nvSpPr>
          <p:cNvPr id="11" name="Text 8"/>
          <p:cNvSpPr txBox="1"/>
          <p:nvPr/>
        </p:nvSpPr>
        <p:spPr>
          <a:xfrm>
            <a:off x="548640" y="23682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313432"/>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Collective ownership</a:t>
            </a:r>
            <a:endParaRPr lang="en-US" sz="1500" dirty="0"/>
          </a:p>
        </p:txBody>
      </p:sp>
      <p:sp>
        <p:nvSpPr>
          <p:cNvPr id="13" name="Text 10"/>
          <p:cNvSpPr txBox="1"/>
          <p:nvPr/>
        </p:nvSpPr>
        <p:spPr>
          <a:xfrm>
            <a:off x="4069080" y="2313432"/>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Pairs work across the whole system — anyone can change any part of the code.</a:t>
            </a:r>
            <a:endParaRPr lang="en-US" sz="1350" dirty="0"/>
          </a:p>
        </p:txBody>
      </p:sp>
      <p:sp>
        <p:nvSpPr>
          <p:cNvPr id="14" name="Shape 11"/>
          <p:cNvSpPr/>
          <p:nvPr/>
        </p:nvSpPr>
        <p:spPr>
          <a:xfrm>
            <a:off x="548640" y="3264408"/>
            <a:ext cx="384048" cy="384048"/>
          </a:xfrm>
          <a:prstGeom prst="ellipse">
            <a:avLst/>
          </a:prstGeom>
          <a:solidFill>
            <a:srgbClr val="2E86AB"/>
          </a:solidFill>
          <a:ln/>
        </p:spPr>
        <p:txBody>
          <a:bodyPr/>
          <a:lstStyle/>
          <a:p>
            <a:endParaRPr lang="en-US"/>
          </a:p>
        </p:txBody>
      </p:sp>
      <p:sp>
        <p:nvSpPr>
          <p:cNvPr id="15" name="Text 12"/>
          <p:cNvSpPr txBox="1"/>
          <p:nvPr/>
        </p:nvSpPr>
        <p:spPr>
          <a:xfrm>
            <a:off x="548640" y="3264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3209544"/>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Continuous integration</a:t>
            </a:r>
            <a:endParaRPr lang="en-US" sz="1500" dirty="0"/>
          </a:p>
        </p:txBody>
      </p:sp>
      <p:sp>
        <p:nvSpPr>
          <p:cNvPr id="17" name="Text 14"/>
          <p:cNvSpPr txBox="1"/>
          <p:nvPr/>
        </p:nvSpPr>
        <p:spPr>
          <a:xfrm>
            <a:off x="4069080" y="3209544"/>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As soon as a task is done, it's integrated; all unit tests must pass afterward.</a:t>
            </a:r>
            <a:endParaRPr lang="en-US" sz="1350" dirty="0"/>
          </a:p>
        </p:txBody>
      </p:sp>
      <p:sp>
        <p:nvSpPr>
          <p:cNvPr id="18" name="Shape 15"/>
          <p:cNvSpPr/>
          <p:nvPr/>
        </p:nvSpPr>
        <p:spPr>
          <a:xfrm>
            <a:off x="548640" y="4160520"/>
            <a:ext cx="384048" cy="384048"/>
          </a:xfrm>
          <a:prstGeom prst="ellipse">
            <a:avLst/>
          </a:prstGeom>
          <a:solidFill>
            <a:srgbClr val="2E86AB"/>
          </a:solidFill>
          <a:ln/>
        </p:spPr>
        <p:txBody>
          <a:bodyPr/>
          <a:lstStyle/>
          <a:p>
            <a:endParaRPr lang="en-US"/>
          </a:p>
        </p:txBody>
      </p:sp>
      <p:sp>
        <p:nvSpPr>
          <p:cNvPr id="19" name="Text 16"/>
          <p:cNvSpPr txBox="1"/>
          <p:nvPr/>
        </p:nvSpPr>
        <p:spPr>
          <a:xfrm>
            <a:off x="54864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4105656"/>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Sustainable pace</a:t>
            </a:r>
            <a:endParaRPr lang="en-US" sz="1500" dirty="0"/>
          </a:p>
        </p:txBody>
      </p:sp>
      <p:sp>
        <p:nvSpPr>
          <p:cNvPr id="21" name="Text 18"/>
          <p:cNvSpPr txBox="1"/>
          <p:nvPr/>
        </p:nvSpPr>
        <p:spPr>
          <a:xfrm>
            <a:off x="4069080" y="4105656"/>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Excessive overtime is discouraged — it tends to lower code quality and productivity.</a:t>
            </a:r>
            <a:endParaRPr lang="en-US" sz="1350" dirty="0"/>
          </a:p>
        </p:txBody>
      </p:sp>
      <p:sp>
        <p:nvSpPr>
          <p:cNvPr id="22" name="Shape 19"/>
          <p:cNvSpPr/>
          <p:nvPr/>
        </p:nvSpPr>
        <p:spPr>
          <a:xfrm>
            <a:off x="548640" y="5056632"/>
            <a:ext cx="384048" cy="384048"/>
          </a:xfrm>
          <a:prstGeom prst="ellipse">
            <a:avLst/>
          </a:prstGeom>
          <a:solidFill>
            <a:srgbClr val="2E86AB"/>
          </a:solidFill>
          <a:ln/>
        </p:spPr>
        <p:txBody>
          <a:bodyPr/>
          <a:lstStyle/>
          <a:p>
            <a:endParaRPr lang="en-US"/>
          </a:p>
        </p:txBody>
      </p:sp>
      <p:sp>
        <p:nvSpPr>
          <p:cNvPr id="23" name="Text 20"/>
          <p:cNvSpPr txBox="1"/>
          <p:nvPr/>
        </p:nvSpPr>
        <p:spPr>
          <a:xfrm>
            <a:off x="548640" y="50566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5001768"/>
            <a:ext cx="2834640" cy="804672"/>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On-site customer</a:t>
            </a:r>
            <a:endParaRPr lang="en-US" sz="1500" dirty="0"/>
          </a:p>
        </p:txBody>
      </p:sp>
      <p:sp>
        <p:nvSpPr>
          <p:cNvPr id="25" name="Text 22"/>
          <p:cNvSpPr txBox="1"/>
          <p:nvPr/>
        </p:nvSpPr>
        <p:spPr>
          <a:xfrm>
            <a:off x="4069080" y="5001768"/>
            <a:ext cx="7772400" cy="804672"/>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 customer representative is embedded full-time with the team, defining acceptance tests.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User Stories &amp; Task Cards</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18</a:t>
            </a:r>
            <a:endParaRPr lang="en-US" sz="1000" dirty="0"/>
          </a:p>
        </p:txBody>
      </p:sp>
      <p:sp>
        <p:nvSpPr>
          <p:cNvPr id="6" name="Text 3"/>
          <p:cNvSpPr txBox="1"/>
          <p:nvPr/>
        </p:nvSpPr>
        <p:spPr>
          <a:xfrm>
            <a:off x="548640" y="1417320"/>
            <a:ext cx="4937760" cy="36576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Story Card — Prescribing Medication</a:t>
            </a:r>
            <a:endParaRPr lang="en-US" sz="1400" dirty="0"/>
          </a:p>
        </p:txBody>
      </p:sp>
      <p:sp>
        <p:nvSpPr>
          <p:cNvPr id="7" name="Shape 4"/>
          <p:cNvSpPr/>
          <p:nvPr/>
        </p:nvSpPr>
        <p:spPr>
          <a:xfrm>
            <a:off x="548640" y="1783080"/>
            <a:ext cx="4937760" cy="3383280"/>
          </a:xfrm>
          <a:prstGeom prst="roundRect">
            <a:avLst>
              <a:gd name="adj" fmla="val 2162"/>
            </a:avLst>
          </a:prstGeom>
          <a:solidFill>
            <a:srgbClr val="EAF2FB"/>
          </a:solidFill>
          <a:ln/>
        </p:spPr>
        <p:txBody>
          <a:bodyPr/>
          <a:lstStyle/>
          <a:p>
            <a:endParaRPr lang="en-US"/>
          </a:p>
        </p:txBody>
      </p:sp>
      <p:sp>
        <p:nvSpPr>
          <p:cNvPr id="8" name="Text 5"/>
          <p:cNvSpPr txBox="1"/>
          <p:nvPr/>
        </p:nvSpPr>
        <p:spPr>
          <a:xfrm>
            <a:off x="777240" y="1920240"/>
            <a:ext cx="4480560" cy="3108960"/>
          </a:xfrm>
          <a:prstGeom prst="rect">
            <a:avLst/>
          </a:prstGeom>
          <a:noFill/>
          <a:ln/>
        </p:spPr>
        <p:txBody>
          <a:bodyPr wrap="square" lIns="0" tIns="0" rIns="0" bIns="0" rtlCol="0" anchor="t"/>
          <a:lstStyle/>
          <a:p>
            <a:pPr marL="0" indent="0">
              <a:spcAft>
                <a:spcPts val="1000"/>
              </a:spcAft>
              <a:buNone/>
            </a:pPr>
            <a:r>
              <a:rPr lang="en-US" sz="1250" dirty="0">
                <a:solidFill>
                  <a:srgbClr val="22304A"/>
                </a:solidFill>
                <a:latin typeface="Calibri" pitchFamily="34" charset="0"/>
                <a:ea typeface="Calibri" pitchFamily="34" charset="-122"/>
                <a:cs typeface="Calibri" pitchFamily="34" charset="-120"/>
              </a:rPr>
              <a:t>A doctor selects a patient's medication as ‘current’, ‘new’, or from the ‘formulary’.</a:t>
            </a:r>
            <a:endParaRPr lang="en-US" sz="1250" dirty="0"/>
          </a:p>
          <a:p>
            <a:pPr marL="0" indent="0">
              <a:spcAft>
                <a:spcPts val="1000"/>
              </a:spcAft>
              <a:buNone/>
            </a:pPr>
            <a:r>
              <a:rPr lang="en-US" sz="1250" dirty="0">
                <a:solidFill>
                  <a:srgbClr val="22304A"/>
                </a:solidFill>
                <a:latin typeface="Calibri" pitchFamily="34" charset="0"/>
                <a:ea typeface="Calibri" pitchFamily="34" charset="-122"/>
                <a:cs typeface="Calibri" pitchFamily="34" charset="-120"/>
              </a:rPr>
              <a:t>For each path, she chooses the drug and enters a dose.</a:t>
            </a:r>
            <a:endParaRPr lang="en-US" sz="1250" dirty="0"/>
          </a:p>
          <a:p>
            <a:pPr marL="0" indent="0">
              <a:spcAft>
                <a:spcPts val="1000"/>
              </a:spcAft>
              <a:buNone/>
            </a:pPr>
            <a:r>
              <a:rPr lang="en-US" sz="1250" dirty="0">
                <a:solidFill>
                  <a:srgbClr val="22304A"/>
                </a:solidFill>
                <a:latin typeface="Calibri" pitchFamily="34" charset="0"/>
                <a:ea typeface="Calibri" pitchFamily="34" charset="-122"/>
                <a:cs typeface="Calibri" pitchFamily="34" charset="-120"/>
              </a:rPr>
              <a:t>The system always checks the dose against a safe range before allowing confirmation.</a:t>
            </a:r>
            <a:endParaRPr lang="en-US" sz="1250" dirty="0"/>
          </a:p>
          <a:p>
            <a:pPr marL="0" indent="0">
              <a:buNone/>
            </a:pPr>
            <a:r>
              <a:rPr lang="en-US" sz="1250" dirty="0">
                <a:solidFill>
                  <a:srgbClr val="22304A"/>
                </a:solidFill>
                <a:latin typeface="Calibri" pitchFamily="34" charset="0"/>
                <a:ea typeface="Calibri" pitchFamily="34" charset="-122"/>
                <a:cs typeface="Calibri" pitchFamily="34" charset="-120"/>
              </a:rPr>
              <a:t>The confirmed prescription is recorded to an audit database.</a:t>
            </a:r>
            <a:endParaRPr lang="en-US" sz="1250" dirty="0"/>
          </a:p>
        </p:txBody>
      </p:sp>
      <p:sp>
        <p:nvSpPr>
          <p:cNvPr id="9" name="Text 6"/>
          <p:cNvSpPr txBox="1"/>
          <p:nvPr/>
        </p:nvSpPr>
        <p:spPr>
          <a:xfrm>
            <a:off x="6126480" y="1417320"/>
            <a:ext cx="5486400" cy="36576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Task Cards Derived From the Story</a:t>
            </a:r>
            <a:endParaRPr lang="en-US" sz="1400" dirty="0"/>
          </a:p>
        </p:txBody>
      </p:sp>
      <p:sp>
        <p:nvSpPr>
          <p:cNvPr id="10" name="Shape 7"/>
          <p:cNvSpPr/>
          <p:nvPr/>
        </p:nvSpPr>
        <p:spPr>
          <a:xfrm>
            <a:off x="6126480" y="1828800"/>
            <a:ext cx="5486400" cy="960120"/>
          </a:xfrm>
          <a:prstGeom prst="roundRect">
            <a:avLst>
              <a:gd name="adj" fmla="val 5714"/>
            </a:avLst>
          </a:prstGeom>
          <a:solidFill>
            <a:srgbClr val="FFFFFF"/>
          </a:solidFill>
          <a:ln w="12700">
            <a:solidFill>
              <a:srgbClr val="2E86AB"/>
            </a:solidFill>
            <a:prstDash val="solid"/>
          </a:ln>
        </p:spPr>
        <p:txBody>
          <a:bodyPr/>
          <a:lstStyle/>
          <a:p>
            <a:endParaRPr lang="en-US"/>
          </a:p>
        </p:txBody>
      </p:sp>
      <p:sp>
        <p:nvSpPr>
          <p:cNvPr id="11" name="Text 8"/>
          <p:cNvSpPr txBox="1"/>
          <p:nvPr/>
        </p:nvSpPr>
        <p:spPr>
          <a:xfrm>
            <a:off x="6263640" y="1901952"/>
            <a:ext cx="5212080" cy="27432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Task 1</a:t>
            </a:r>
            <a:endParaRPr lang="en-US" sz="1200" dirty="0"/>
          </a:p>
        </p:txBody>
      </p:sp>
      <p:sp>
        <p:nvSpPr>
          <p:cNvPr id="12" name="Text 9"/>
          <p:cNvSpPr txBox="1"/>
          <p:nvPr/>
        </p:nvSpPr>
        <p:spPr>
          <a:xfrm>
            <a:off x="6263640" y="2176272"/>
            <a:ext cx="5212080" cy="548640"/>
          </a:xfrm>
          <a:prstGeom prst="rect">
            <a:avLst/>
          </a:prstGeom>
          <a:noFill/>
          <a:ln/>
        </p:spPr>
        <p:txBody>
          <a:bodyPr wrap="square" lIns="0" tIns="0" rIns="0" bIns="0" rtlCol="0" anchor="ctr"/>
          <a:lstStyle/>
          <a:p>
            <a:pPr marL="0" indent="0">
              <a:buNone/>
            </a:pPr>
            <a:r>
              <a:rPr lang="en-US" sz="1200" dirty="0">
                <a:solidFill>
                  <a:srgbClr val="22304A"/>
                </a:solidFill>
                <a:latin typeface="Calibri" pitchFamily="34" charset="0"/>
                <a:ea typeface="Calibri" pitchFamily="34" charset="-122"/>
                <a:cs typeface="Calibri" pitchFamily="34" charset="-120"/>
              </a:rPr>
              <a:t>Change dose of a prescribed drug</a:t>
            </a:r>
            <a:endParaRPr lang="en-US" sz="1200" dirty="0"/>
          </a:p>
        </p:txBody>
      </p:sp>
      <p:sp>
        <p:nvSpPr>
          <p:cNvPr id="13" name="Shape 10"/>
          <p:cNvSpPr/>
          <p:nvPr/>
        </p:nvSpPr>
        <p:spPr>
          <a:xfrm>
            <a:off x="6126480" y="2926080"/>
            <a:ext cx="5486400" cy="960120"/>
          </a:xfrm>
          <a:prstGeom prst="roundRect">
            <a:avLst>
              <a:gd name="adj" fmla="val 5714"/>
            </a:avLst>
          </a:prstGeom>
          <a:solidFill>
            <a:srgbClr val="FFFFFF"/>
          </a:solidFill>
          <a:ln w="12700">
            <a:solidFill>
              <a:srgbClr val="2E86AB"/>
            </a:solidFill>
            <a:prstDash val="solid"/>
          </a:ln>
        </p:spPr>
        <p:txBody>
          <a:bodyPr/>
          <a:lstStyle/>
          <a:p>
            <a:endParaRPr lang="en-US"/>
          </a:p>
        </p:txBody>
      </p:sp>
      <p:sp>
        <p:nvSpPr>
          <p:cNvPr id="14" name="Text 11"/>
          <p:cNvSpPr txBox="1"/>
          <p:nvPr/>
        </p:nvSpPr>
        <p:spPr>
          <a:xfrm>
            <a:off x="6263640" y="2999232"/>
            <a:ext cx="5212080" cy="27432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Task 2</a:t>
            </a:r>
            <a:endParaRPr lang="en-US" sz="1200" dirty="0"/>
          </a:p>
        </p:txBody>
      </p:sp>
      <p:sp>
        <p:nvSpPr>
          <p:cNvPr id="15" name="Text 12"/>
          <p:cNvSpPr txBox="1"/>
          <p:nvPr/>
        </p:nvSpPr>
        <p:spPr>
          <a:xfrm>
            <a:off x="6263640" y="3273552"/>
            <a:ext cx="5212080" cy="548640"/>
          </a:xfrm>
          <a:prstGeom prst="rect">
            <a:avLst/>
          </a:prstGeom>
          <a:noFill/>
          <a:ln/>
        </p:spPr>
        <p:txBody>
          <a:bodyPr wrap="square" lIns="0" tIns="0" rIns="0" bIns="0" rtlCol="0" anchor="ctr"/>
          <a:lstStyle/>
          <a:p>
            <a:pPr marL="0" indent="0">
              <a:buNone/>
            </a:pPr>
            <a:r>
              <a:rPr lang="en-US" sz="1200" dirty="0">
                <a:solidFill>
                  <a:srgbClr val="22304A"/>
                </a:solidFill>
                <a:latin typeface="Calibri" pitchFamily="34" charset="0"/>
                <a:ea typeface="Calibri" pitchFamily="34" charset="-122"/>
                <a:cs typeface="Calibri" pitchFamily="34" charset="-120"/>
              </a:rPr>
              <a:t>Formulary selection</a:t>
            </a:r>
            <a:endParaRPr lang="en-US" sz="1200" dirty="0"/>
          </a:p>
        </p:txBody>
      </p:sp>
      <p:sp>
        <p:nvSpPr>
          <p:cNvPr id="16" name="Shape 13"/>
          <p:cNvSpPr/>
          <p:nvPr/>
        </p:nvSpPr>
        <p:spPr>
          <a:xfrm>
            <a:off x="6126480" y="4023360"/>
            <a:ext cx="5486400" cy="960120"/>
          </a:xfrm>
          <a:prstGeom prst="roundRect">
            <a:avLst>
              <a:gd name="adj" fmla="val 5714"/>
            </a:avLst>
          </a:prstGeom>
          <a:solidFill>
            <a:srgbClr val="FFFFFF"/>
          </a:solidFill>
          <a:ln w="12700">
            <a:solidFill>
              <a:srgbClr val="2E86AB"/>
            </a:solidFill>
            <a:prstDash val="solid"/>
          </a:ln>
        </p:spPr>
        <p:txBody>
          <a:bodyPr/>
          <a:lstStyle/>
          <a:p>
            <a:endParaRPr lang="en-US"/>
          </a:p>
        </p:txBody>
      </p:sp>
      <p:sp>
        <p:nvSpPr>
          <p:cNvPr id="17" name="Text 14"/>
          <p:cNvSpPr txBox="1"/>
          <p:nvPr/>
        </p:nvSpPr>
        <p:spPr>
          <a:xfrm>
            <a:off x="6263640" y="4096512"/>
            <a:ext cx="5212080" cy="274320"/>
          </a:xfrm>
          <a:prstGeom prst="rect">
            <a:avLst/>
          </a:prstGeom>
          <a:noFill/>
          <a:ln/>
        </p:spPr>
        <p:txBody>
          <a:bodyPr wrap="square" lIns="0" tIns="0" rIns="0" bIns="0"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Task 3</a:t>
            </a:r>
            <a:endParaRPr lang="en-US" sz="1200" dirty="0"/>
          </a:p>
        </p:txBody>
      </p:sp>
      <p:sp>
        <p:nvSpPr>
          <p:cNvPr id="18" name="Text 15"/>
          <p:cNvSpPr txBox="1"/>
          <p:nvPr/>
        </p:nvSpPr>
        <p:spPr>
          <a:xfrm>
            <a:off x="6263640" y="4370832"/>
            <a:ext cx="5212080" cy="548640"/>
          </a:xfrm>
          <a:prstGeom prst="rect">
            <a:avLst/>
          </a:prstGeom>
          <a:noFill/>
          <a:ln/>
        </p:spPr>
        <p:txBody>
          <a:bodyPr wrap="square" lIns="0" tIns="0" rIns="0" bIns="0" rtlCol="0" anchor="ctr"/>
          <a:lstStyle/>
          <a:p>
            <a:pPr marL="0" indent="0">
              <a:buNone/>
            </a:pPr>
            <a:r>
              <a:rPr lang="en-US" sz="1200" dirty="0">
                <a:solidFill>
                  <a:srgbClr val="22304A"/>
                </a:solidFill>
                <a:latin typeface="Calibri" pitchFamily="34" charset="0"/>
                <a:ea typeface="Calibri" pitchFamily="34" charset="-122"/>
                <a:cs typeface="Calibri" pitchFamily="34" charset="-120"/>
              </a:rPr>
              <a:t>Dose checking — a safety precaution confirming the dose is neither dangerously low nor high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Testing in XP</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19</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500" dirty="0">
                <a:solidFill>
                  <a:srgbClr val="22304A"/>
                </a:solidFill>
                <a:latin typeface="Calibri" pitchFamily="34" charset="0"/>
                <a:ea typeface="Calibri" pitchFamily="34" charset="-122"/>
                <a:cs typeface="Calibri" pitchFamily="34" charset="-120"/>
              </a:rPr>
              <a:t>Test-first development — write the test before the code it tests</a:t>
            </a:r>
            <a:endParaRPr lang="en-US" sz="1500" dirty="0"/>
          </a:p>
          <a:p>
            <a:pPr marL="279400" indent="-279400">
              <a:spcAft>
                <a:spcPts val="1200"/>
              </a:spcAft>
              <a:buSzPct val="100000"/>
              <a:buChar char="◆"/>
            </a:pPr>
            <a:r>
              <a:rPr lang="en-US" sz="1500" dirty="0">
                <a:solidFill>
                  <a:srgbClr val="22304A"/>
                </a:solidFill>
                <a:latin typeface="Calibri" pitchFamily="34" charset="0"/>
                <a:ea typeface="Calibri" pitchFamily="34" charset="-122"/>
                <a:cs typeface="Calibri" pitchFamily="34" charset="-120"/>
              </a:rPr>
              <a:t>Tests are developed incrementally from user story scenarios</a:t>
            </a:r>
            <a:endParaRPr lang="en-US" sz="1500" dirty="0"/>
          </a:p>
          <a:p>
            <a:pPr marL="279400" indent="-279400">
              <a:spcAft>
                <a:spcPts val="1200"/>
              </a:spcAft>
              <a:buSzPct val="100000"/>
              <a:buChar char="◆"/>
            </a:pPr>
            <a:r>
              <a:rPr lang="en-US" sz="1500" dirty="0">
                <a:solidFill>
                  <a:srgbClr val="22304A"/>
                </a:solidFill>
                <a:latin typeface="Calibri" pitchFamily="34" charset="0"/>
                <a:ea typeface="Calibri" pitchFamily="34" charset="-122"/>
                <a:cs typeface="Calibri" pitchFamily="34" charset="-120"/>
              </a:rPr>
              <a:t>The customer helps define acceptance tests for each story</a:t>
            </a:r>
            <a:endParaRPr lang="en-US" sz="1500" dirty="0"/>
          </a:p>
          <a:p>
            <a:pPr marL="279400" indent="-279400">
              <a:spcAft>
                <a:spcPts val="1200"/>
              </a:spcAft>
              <a:buSzPct val="100000"/>
              <a:buChar char="◆"/>
            </a:pPr>
            <a:r>
              <a:rPr lang="en-US" sz="1500" dirty="0">
                <a:solidFill>
                  <a:srgbClr val="22304A"/>
                </a:solidFill>
                <a:latin typeface="Calibri" pitchFamily="34" charset="0"/>
                <a:ea typeface="Calibri" pitchFamily="34" charset="-122"/>
                <a:cs typeface="Calibri" pitchFamily="34" charset="-120"/>
              </a:rPr>
              <a:t>Automated test frameworks (e.g., </a:t>
            </a:r>
            <a:r>
              <a:rPr lang="en-US" sz="1500" dirty="0" err="1">
                <a:solidFill>
                  <a:srgbClr val="22304A"/>
                </a:solidFill>
                <a:latin typeface="Calibri" pitchFamily="34" charset="0"/>
                <a:ea typeface="Calibri" pitchFamily="34" charset="-122"/>
                <a:cs typeface="Calibri" pitchFamily="34" charset="-120"/>
              </a:rPr>
              <a:t>PyTest</a:t>
            </a:r>
            <a:r>
              <a:rPr lang="en-US" sz="1500" dirty="0">
                <a:solidFill>
                  <a:srgbClr val="22304A"/>
                </a:solidFill>
                <a:latin typeface="Calibri" pitchFamily="34" charset="0"/>
                <a:ea typeface="Calibri" pitchFamily="34" charset="-122"/>
                <a:cs typeface="Calibri" pitchFamily="34" charset="-120"/>
              </a:rPr>
              <a:t>) make it cheap to run the full suite constantly</a:t>
            </a:r>
            <a:endParaRPr lang="en-US" sz="1500" dirty="0"/>
          </a:p>
          <a:p>
            <a:pPr marL="279400" indent="-279400">
              <a:spcAft>
                <a:spcPts val="400"/>
              </a:spcAft>
              <a:buSzPct val="100000"/>
              <a:buChar char="◆"/>
            </a:pPr>
            <a:r>
              <a:rPr lang="en-US" sz="1500" dirty="0">
                <a:solidFill>
                  <a:srgbClr val="22304A"/>
                </a:solidFill>
                <a:latin typeface="Calibri" pitchFamily="34" charset="0"/>
                <a:ea typeface="Calibri" pitchFamily="34" charset="-122"/>
                <a:cs typeface="Calibri" pitchFamily="34" charset="-120"/>
              </a:rPr>
              <a:t>Caveat:</a:t>
            </a:r>
            <a:endParaRPr lang="en-US" sz="1500" dirty="0"/>
          </a:p>
          <a:p>
            <a:pPr marL="558800" lvl="1" indent="-279400">
              <a:spcAft>
                <a:spcPts val="300"/>
              </a:spcAft>
              <a:buSzPct val="100000"/>
              <a:buChar char="–"/>
            </a:pPr>
            <a:r>
              <a:rPr lang="en-US" sz="1400" dirty="0">
                <a:solidFill>
                  <a:srgbClr val="5B6B82"/>
                </a:solidFill>
                <a:latin typeface="Calibri" pitchFamily="34" charset="0"/>
                <a:ea typeface="Calibri" pitchFamily="34" charset="-122"/>
                <a:cs typeface="Calibri" pitchFamily="34" charset="-120"/>
              </a:rPr>
              <a:t>Programmers may write incomplete tests under time pressure</a:t>
            </a:r>
            <a:endParaRPr lang="en-US" sz="1500" dirty="0"/>
          </a:p>
          <a:p>
            <a:pPr marL="558800" lvl="1" indent="-279400">
              <a:spcAft>
                <a:spcPts val="300"/>
              </a:spcAft>
              <a:buSzPct val="100000"/>
              <a:buChar char="–"/>
            </a:pPr>
            <a:r>
              <a:rPr lang="en-US" sz="1400" dirty="0">
                <a:solidFill>
                  <a:srgbClr val="5B6B82"/>
                </a:solidFill>
                <a:latin typeface="Calibri" pitchFamily="34" charset="0"/>
                <a:ea typeface="Calibri" pitchFamily="34" charset="-122"/>
                <a:cs typeface="Calibri" pitchFamily="34" charset="-120"/>
              </a:rPr>
              <a:t>Some behavior (like UI display logic) is hard to test incrementally</a:t>
            </a:r>
            <a:endParaRPr lang="en-US" sz="1500" dirty="0"/>
          </a:p>
          <a:p>
            <a:pPr marL="558800" lvl="1" indent="-279400">
              <a:spcAft>
                <a:spcPts val="1200"/>
              </a:spcAft>
              <a:buSzPct val="100000"/>
              <a:buChar char="–"/>
            </a:pPr>
            <a:r>
              <a:rPr lang="en-US" sz="1400" dirty="0">
                <a:solidFill>
                  <a:srgbClr val="5B6B82"/>
                </a:solidFill>
                <a:latin typeface="Calibri" pitchFamily="34" charset="0"/>
                <a:ea typeface="Calibri" pitchFamily="34" charset="-122"/>
                <a:cs typeface="Calibri" pitchFamily="34" charset="-120"/>
              </a:rPr>
              <a:t>A large, frequently-run test suite can still leave real coverage gaps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Pair Programming</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3.3 Extreme Programming</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20</a:t>
            </a:r>
            <a:endParaRPr lang="en-US" sz="1000" dirty="0"/>
          </a:p>
        </p:txBody>
      </p:sp>
      <p:sp>
        <p:nvSpPr>
          <p:cNvPr id="6" name="Shape 3"/>
          <p:cNvSpPr/>
          <p:nvPr/>
        </p:nvSpPr>
        <p:spPr>
          <a:xfrm>
            <a:off x="548640" y="1371600"/>
            <a:ext cx="5120640" cy="457200"/>
          </a:xfrm>
          <a:prstGeom prst="rect">
            <a:avLst/>
          </a:prstGeom>
          <a:solidFill>
            <a:srgbClr val="EAF2FB"/>
          </a:solidFill>
          <a:ln/>
        </p:spPr>
        <p:txBody>
          <a:bodyPr/>
          <a:lstStyle/>
          <a:p>
            <a:endParaRPr lang="en-US"/>
          </a:p>
        </p:txBody>
      </p:sp>
      <p:sp>
        <p:nvSpPr>
          <p:cNvPr id="7" name="Text 4"/>
          <p:cNvSpPr txBox="1"/>
          <p:nvPr/>
        </p:nvSpPr>
        <p:spPr>
          <a:xfrm>
            <a:off x="6858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Why Teams Use It</a:t>
            </a:r>
            <a:endParaRPr lang="en-US" sz="1500" dirty="0"/>
          </a:p>
        </p:txBody>
      </p:sp>
      <p:sp>
        <p:nvSpPr>
          <p:cNvPr id="8" name="Shape 5"/>
          <p:cNvSpPr/>
          <p:nvPr/>
        </p:nvSpPr>
        <p:spPr>
          <a:xfrm>
            <a:off x="6492240" y="1371600"/>
            <a:ext cx="5120640" cy="457200"/>
          </a:xfrm>
          <a:prstGeom prst="rect">
            <a:avLst/>
          </a:prstGeom>
          <a:solidFill>
            <a:srgbClr val="EAF2FB"/>
          </a:solidFill>
          <a:ln/>
        </p:spPr>
        <p:txBody>
          <a:bodyPr/>
          <a:lstStyle/>
          <a:p>
            <a:endParaRPr lang="en-US"/>
          </a:p>
        </p:txBody>
      </p:sp>
      <p:sp>
        <p:nvSpPr>
          <p:cNvPr id="9" name="Text 6"/>
          <p:cNvSpPr txBox="1"/>
          <p:nvPr/>
        </p:nvSpPr>
        <p:spPr>
          <a:xfrm>
            <a:off x="66294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What the Evidence Shows</a:t>
            </a:r>
            <a:endParaRPr lang="en-US" sz="1500" dirty="0"/>
          </a:p>
        </p:txBody>
      </p:sp>
      <p:sp>
        <p:nvSpPr>
          <p:cNvPr id="10" name="Text 7"/>
          <p:cNvSpPr txBox="1"/>
          <p:nvPr/>
        </p:nvSpPr>
        <p:spPr>
          <a:xfrm>
            <a:off x="548640" y="2011680"/>
            <a:ext cx="5120640" cy="4114800"/>
          </a:xfrm>
          <a:prstGeom prst="rect">
            <a:avLst/>
          </a:prstGeom>
          <a:noFill/>
          <a:ln/>
        </p:spPr>
        <p:txBody>
          <a:bodyPr wrap="square" rtlCol="0" anchor="t"/>
          <a:lstStyle/>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Supports collective ownership — no single point of blame for the code</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Acts as a cheap, informal, continuous code review</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Makes refactoring easier — the whole pair benefits immediately</a:t>
            </a:r>
            <a:endParaRPr lang="en-US" sz="1400" dirty="0"/>
          </a:p>
        </p:txBody>
      </p:sp>
      <p:sp>
        <p:nvSpPr>
          <p:cNvPr id="11" name="Text 8"/>
          <p:cNvSpPr txBox="1"/>
          <p:nvPr/>
        </p:nvSpPr>
        <p:spPr>
          <a:xfrm>
            <a:off x="6492240" y="2011680"/>
            <a:ext cx="5120640" cy="4114800"/>
          </a:xfrm>
          <a:prstGeom prst="rect">
            <a:avLst/>
          </a:prstGeom>
          <a:noFill/>
          <a:ln/>
        </p:spPr>
        <p:txBody>
          <a:bodyPr wrap="square" rtlCol="0" anchor="t"/>
          <a:lstStyle/>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Some studies (student teams) found productivity comparable to two people working alone</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Studies with experienced programmers found a real productivity cost</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Either way, shared knowledge reduces the risk when a team member leaves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2286000"/>
            <a:ext cx="2743200" cy="91440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3.4</a:t>
            </a:r>
            <a:endParaRPr lang="en-US" sz="2000" dirty="0"/>
          </a:p>
        </p:txBody>
      </p:sp>
      <p:sp>
        <p:nvSpPr>
          <p:cNvPr id="3" name="Text 1"/>
          <p:cNvSpPr txBox="1"/>
          <p:nvPr/>
        </p:nvSpPr>
        <p:spPr>
          <a:xfrm>
            <a:off x="548640" y="2743200"/>
            <a:ext cx="10058400" cy="12801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Agile Project Management</a:t>
            </a:r>
            <a:endParaRPr lang="en-US" sz="3800" dirty="0"/>
          </a:p>
        </p:txBody>
      </p:sp>
      <p:sp>
        <p:nvSpPr>
          <p:cNvPr id="4" name="Text 2"/>
          <p:cNvSpPr txBox="1"/>
          <p:nvPr/>
        </p:nvSpPr>
        <p:spPr>
          <a:xfrm>
            <a:off x="548640" y="3794760"/>
            <a:ext cx="9144000" cy="5486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Scrum — a management framework for iterative development</a:t>
            </a:r>
            <a:endParaRPr lang="en-US" sz="16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The Scrum Process</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3.4 Agile Project Management</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22</a:t>
            </a:r>
            <a:endParaRPr lang="en-US" sz="1000" dirty="0"/>
          </a:p>
        </p:txBody>
      </p:sp>
      <p:sp>
        <p:nvSpPr>
          <p:cNvPr id="6" name="Shape 3"/>
          <p:cNvSpPr/>
          <p:nvPr/>
        </p:nvSpPr>
        <p:spPr>
          <a:xfrm>
            <a:off x="548640" y="2103120"/>
            <a:ext cx="2377440" cy="1005840"/>
          </a:xfrm>
          <a:prstGeom prst="roundRect">
            <a:avLst>
              <a:gd name="adj" fmla="val 7273"/>
            </a:avLst>
          </a:prstGeom>
          <a:solidFill>
            <a:srgbClr val="1B2A4A"/>
          </a:solidFill>
          <a:ln w="12700">
            <a:solidFill>
              <a:srgbClr val="1B2A4A"/>
            </a:solidFill>
            <a:prstDash val="solid"/>
          </a:ln>
        </p:spPr>
        <p:txBody>
          <a:bodyPr/>
          <a:lstStyle/>
          <a:p>
            <a:endParaRPr lang="en-US"/>
          </a:p>
        </p:txBody>
      </p:sp>
      <p:sp>
        <p:nvSpPr>
          <p:cNvPr id="7" name="Text 4"/>
          <p:cNvSpPr txBox="1"/>
          <p:nvPr/>
        </p:nvSpPr>
        <p:spPr>
          <a:xfrm>
            <a:off x="621792" y="2103120"/>
            <a:ext cx="2231136"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Outline Planning &amp;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Architectural Design</a:t>
            </a:r>
            <a:endParaRPr lang="en-US" sz="1300" dirty="0"/>
          </a:p>
        </p:txBody>
      </p:sp>
      <p:sp>
        <p:nvSpPr>
          <p:cNvPr id="8" name="Shape 5"/>
          <p:cNvSpPr/>
          <p:nvPr/>
        </p:nvSpPr>
        <p:spPr>
          <a:xfrm>
            <a:off x="2926080" y="2606040"/>
            <a:ext cx="457200" cy="9144"/>
          </a:xfrm>
          <a:prstGeom prst="line">
            <a:avLst/>
          </a:prstGeom>
          <a:noFill/>
          <a:ln w="25400">
            <a:solidFill>
              <a:srgbClr val="5B6B82"/>
            </a:solidFill>
            <a:prstDash val="solid"/>
            <a:tailEnd type="triangle"/>
          </a:ln>
        </p:spPr>
        <p:txBody>
          <a:bodyPr/>
          <a:lstStyle/>
          <a:p>
            <a:endParaRPr lang="en-US"/>
          </a:p>
        </p:txBody>
      </p:sp>
      <p:sp>
        <p:nvSpPr>
          <p:cNvPr id="9" name="Shape 6"/>
          <p:cNvSpPr/>
          <p:nvPr/>
        </p:nvSpPr>
        <p:spPr>
          <a:xfrm>
            <a:off x="5349240" y="1051560"/>
            <a:ext cx="1371600" cy="640080"/>
          </a:xfrm>
          <a:prstGeom prst="roundRect">
            <a:avLst>
              <a:gd name="adj" fmla="val 11429"/>
            </a:avLst>
          </a:prstGeom>
          <a:solidFill>
            <a:srgbClr val="2E86AB"/>
          </a:solidFill>
          <a:ln w="12700">
            <a:solidFill>
              <a:srgbClr val="2E86AB"/>
            </a:solidFill>
            <a:prstDash val="solid"/>
          </a:ln>
        </p:spPr>
        <p:txBody>
          <a:bodyPr/>
          <a:lstStyle/>
          <a:p>
            <a:endParaRPr lang="en-US"/>
          </a:p>
        </p:txBody>
      </p:sp>
      <p:sp>
        <p:nvSpPr>
          <p:cNvPr id="10" name="Text 7"/>
          <p:cNvSpPr txBox="1"/>
          <p:nvPr/>
        </p:nvSpPr>
        <p:spPr>
          <a:xfrm>
            <a:off x="5422392" y="1051560"/>
            <a:ext cx="1225296"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Assess</a:t>
            </a:r>
            <a:endParaRPr lang="en-US" sz="1300" dirty="0"/>
          </a:p>
        </p:txBody>
      </p:sp>
      <p:sp>
        <p:nvSpPr>
          <p:cNvPr id="11" name="Shape 8"/>
          <p:cNvSpPr/>
          <p:nvPr/>
        </p:nvSpPr>
        <p:spPr>
          <a:xfrm>
            <a:off x="6583680" y="2286000"/>
            <a:ext cx="1371600" cy="640080"/>
          </a:xfrm>
          <a:prstGeom prst="roundRect">
            <a:avLst>
              <a:gd name="adj" fmla="val 11429"/>
            </a:avLst>
          </a:prstGeom>
          <a:solidFill>
            <a:srgbClr val="2E86AB"/>
          </a:solidFill>
          <a:ln w="12700">
            <a:solidFill>
              <a:srgbClr val="2E86AB"/>
            </a:solidFill>
            <a:prstDash val="solid"/>
          </a:ln>
        </p:spPr>
        <p:txBody>
          <a:bodyPr/>
          <a:lstStyle/>
          <a:p>
            <a:endParaRPr lang="en-US"/>
          </a:p>
        </p:txBody>
      </p:sp>
      <p:sp>
        <p:nvSpPr>
          <p:cNvPr id="12" name="Text 9"/>
          <p:cNvSpPr txBox="1"/>
          <p:nvPr/>
        </p:nvSpPr>
        <p:spPr>
          <a:xfrm>
            <a:off x="6656832" y="2286000"/>
            <a:ext cx="1225296"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Select</a:t>
            </a:r>
            <a:endParaRPr lang="en-US" sz="1300" dirty="0"/>
          </a:p>
        </p:txBody>
      </p:sp>
      <p:sp>
        <p:nvSpPr>
          <p:cNvPr id="13" name="Shape 10"/>
          <p:cNvSpPr/>
          <p:nvPr/>
        </p:nvSpPr>
        <p:spPr>
          <a:xfrm>
            <a:off x="5349240" y="3520440"/>
            <a:ext cx="1371600" cy="640080"/>
          </a:xfrm>
          <a:prstGeom prst="roundRect">
            <a:avLst>
              <a:gd name="adj" fmla="val 11429"/>
            </a:avLst>
          </a:prstGeom>
          <a:solidFill>
            <a:srgbClr val="2E86AB"/>
          </a:solidFill>
          <a:ln w="12700">
            <a:solidFill>
              <a:srgbClr val="2E86AB"/>
            </a:solidFill>
            <a:prstDash val="solid"/>
          </a:ln>
        </p:spPr>
        <p:txBody>
          <a:bodyPr/>
          <a:lstStyle/>
          <a:p>
            <a:endParaRPr lang="en-US"/>
          </a:p>
        </p:txBody>
      </p:sp>
      <p:sp>
        <p:nvSpPr>
          <p:cNvPr id="14" name="Text 11"/>
          <p:cNvSpPr txBox="1"/>
          <p:nvPr/>
        </p:nvSpPr>
        <p:spPr>
          <a:xfrm>
            <a:off x="5422392" y="3520440"/>
            <a:ext cx="1225296"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Develop</a:t>
            </a:r>
            <a:endParaRPr lang="en-US" sz="1300" dirty="0"/>
          </a:p>
        </p:txBody>
      </p:sp>
      <p:sp>
        <p:nvSpPr>
          <p:cNvPr id="15" name="Shape 12"/>
          <p:cNvSpPr/>
          <p:nvPr/>
        </p:nvSpPr>
        <p:spPr>
          <a:xfrm>
            <a:off x="4114800" y="2286000"/>
            <a:ext cx="1371600" cy="640080"/>
          </a:xfrm>
          <a:prstGeom prst="roundRect">
            <a:avLst>
              <a:gd name="adj" fmla="val 11429"/>
            </a:avLst>
          </a:prstGeom>
          <a:solidFill>
            <a:srgbClr val="2E86AB"/>
          </a:solidFill>
          <a:ln w="12700">
            <a:solidFill>
              <a:srgbClr val="2E86AB"/>
            </a:solidFill>
            <a:prstDash val="solid"/>
          </a:ln>
        </p:spPr>
        <p:txBody>
          <a:bodyPr/>
          <a:lstStyle/>
          <a:p>
            <a:endParaRPr lang="en-US"/>
          </a:p>
        </p:txBody>
      </p:sp>
      <p:sp>
        <p:nvSpPr>
          <p:cNvPr id="16" name="Text 13"/>
          <p:cNvSpPr txBox="1"/>
          <p:nvPr/>
        </p:nvSpPr>
        <p:spPr>
          <a:xfrm>
            <a:off x="4187952" y="2286000"/>
            <a:ext cx="1225296"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17" name="Shape 14"/>
          <p:cNvSpPr/>
          <p:nvPr/>
        </p:nvSpPr>
        <p:spPr>
          <a:xfrm>
            <a:off x="4251960" y="1188720"/>
            <a:ext cx="3566160" cy="2834640"/>
          </a:xfrm>
          <a:prstGeom prst="ellipse">
            <a:avLst/>
          </a:prstGeom>
          <a:ln w="25400">
            <a:solidFill>
              <a:srgbClr val="F2A541"/>
            </a:solidFill>
            <a:prstDash val="dash"/>
          </a:ln>
        </p:spPr>
        <p:txBody>
          <a:bodyPr/>
          <a:lstStyle/>
          <a:p>
            <a:endParaRPr lang="en-US"/>
          </a:p>
        </p:txBody>
      </p:sp>
      <p:sp>
        <p:nvSpPr>
          <p:cNvPr id="18" name="Text 15"/>
          <p:cNvSpPr txBox="1"/>
          <p:nvPr/>
        </p:nvSpPr>
        <p:spPr>
          <a:xfrm>
            <a:off x="5212080" y="2286000"/>
            <a:ext cx="1645920" cy="640080"/>
          </a:xfrm>
          <a:prstGeom prst="rect">
            <a:avLst/>
          </a:prstGeom>
          <a:noFill/>
          <a:ln/>
        </p:spPr>
        <p:txBody>
          <a:bodyPr wrap="square" lIns="0" tIns="0" rIns="0" bIns="0" rtlCol="0" anchor="ctr"/>
          <a:lstStyle/>
          <a:p>
            <a:pPr marL="0" indent="0" algn="ctr">
              <a:buNone/>
            </a:pPr>
            <a:r>
              <a:rPr lang="en-US" sz="1100" i="1" dirty="0">
                <a:solidFill>
                  <a:srgbClr val="5B6B82"/>
                </a:solidFill>
                <a:latin typeface="Calibri" pitchFamily="34" charset="0"/>
                <a:ea typeface="Calibri" pitchFamily="34" charset="-122"/>
                <a:cs typeface="Calibri" pitchFamily="34" charset="-120"/>
              </a:rPr>
              <a:t>Sprint Cycle</a:t>
            </a:r>
            <a:endParaRPr lang="en-US" sz="1100" dirty="0"/>
          </a:p>
          <a:p>
            <a:pPr marL="0" indent="0" algn="ctr">
              <a:buNone/>
            </a:pPr>
            <a:r>
              <a:rPr lang="en-US" sz="1100" i="1" dirty="0">
                <a:solidFill>
                  <a:srgbClr val="5B6B82"/>
                </a:solidFill>
                <a:latin typeface="Calibri" pitchFamily="34" charset="0"/>
                <a:ea typeface="Calibri" pitchFamily="34" charset="-122"/>
                <a:cs typeface="Calibri" pitchFamily="34" charset="-120"/>
              </a:rPr>
              <a:t>(2–4 weeks)</a:t>
            </a:r>
            <a:endParaRPr lang="en-US" sz="1100" dirty="0"/>
          </a:p>
        </p:txBody>
      </p:sp>
      <p:sp>
        <p:nvSpPr>
          <p:cNvPr id="19" name="Shape 16"/>
          <p:cNvSpPr/>
          <p:nvPr/>
        </p:nvSpPr>
        <p:spPr>
          <a:xfrm>
            <a:off x="8046720" y="2606040"/>
            <a:ext cx="548640" cy="9144"/>
          </a:xfrm>
          <a:prstGeom prst="line">
            <a:avLst/>
          </a:prstGeom>
          <a:noFill/>
          <a:ln w="25400">
            <a:solidFill>
              <a:srgbClr val="5B6B82"/>
            </a:solidFill>
            <a:prstDash val="solid"/>
            <a:tailEnd type="triangle"/>
          </a:ln>
        </p:spPr>
        <p:txBody>
          <a:bodyPr/>
          <a:lstStyle/>
          <a:p>
            <a:endParaRPr lang="en-US"/>
          </a:p>
        </p:txBody>
      </p:sp>
      <p:sp>
        <p:nvSpPr>
          <p:cNvPr id="20" name="Shape 17"/>
          <p:cNvSpPr/>
          <p:nvPr/>
        </p:nvSpPr>
        <p:spPr>
          <a:xfrm>
            <a:off x="8641080" y="2103120"/>
            <a:ext cx="2377440" cy="1005840"/>
          </a:xfrm>
          <a:prstGeom prst="roundRect">
            <a:avLst>
              <a:gd name="adj" fmla="val 7273"/>
            </a:avLst>
          </a:prstGeom>
          <a:solidFill>
            <a:srgbClr val="1B2A4A"/>
          </a:solidFill>
          <a:ln w="12700">
            <a:solidFill>
              <a:srgbClr val="1B2A4A"/>
            </a:solidFill>
            <a:prstDash val="solid"/>
          </a:ln>
        </p:spPr>
        <p:txBody>
          <a:bodyPr/>
          <a:lstStyle/>
          <a:p>
            <a:endParaRPr lang="en-US"/>
          </a:p>
        </p:txBody>
      </p:sp>
      <p:sp>
        <p:nvSpPr>
          <p:cNvPr id="21" name="Text 18"/>
          <p:cNvSpPr txBox="1"/>
          <p:nvPr/>
        </p:nvSpPr>
        <p:spPr>
          <a:xfrm>
            <a:off x="8714232" y="2103120"/>
            <a:ext cx="2231136"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Project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Closure</a:t>
            </a:r>
            <a:endParaRPr lang="en-US" sz="1300" dirty="0"/>
          </a:p>
        </p:txBody>
      </p:sp>
      <p:sp>
        <p:nvSpPr>
          <p:cNvPr id="22" name="Text 19"/>
          <p:cNvSpPr txBox="1"/>
          <p:nvPr/>
        </p:nvSpPr>
        <p:spPr>
          <a:xfrm>
            <a:off x="548640" y="4937760"/>
            <a:ext cx="10607040" cy="457200"/>
          </a:xfrm>
          <a:prstGeom prst="rect">
            <a:avLst/>
          </a:prstGeom>
          <a:noFill/>
          <a:ln/>
        </p:spPr>
        <p:txBody>
          <a:bodyPr wrap="square" lIns="0" tIns="0" rIns="0" bIns="0" rtlCol="0" anchor="ctr"/>
          <a:lstStyle/>
          <a:p>
            <a:pPr marL="0" indent="0">
              <a:buNone/>
            </a:pPr>
            <a:r>
              <a:rPr lang="en-US" sz="1300" i="1" dirty="0">
                <a:solidFill>
                  <a:srgbClr val="22304A"/>
                </a:solidFill>
                <a:latin typeface="Calibri" pitchFamily="34" charset="0"/>
                <a:ea typeface="Calibri" pitchFamily="34" charset="-122"/>
                <a:cs typeface="Calibri" pitchFamily="34" charset="-120"/>
              </a:rPr>
              <a:t>Each sprint delivers a working increment of the system to stakeholders.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Anatomy of a Sprint</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3.4 Agile Project Management</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23</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Fixed length — typically 2 to 4 weeks</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Starts from the product backlog, reviewed and prioritized with the customer</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The whole team selects the features to build during the sprint</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Short daily ‘stand-up’ meetings track progress and surface problems</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The Scrum Master shields the team from external distractions — not a traditional ‘project manager’</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The sprint ends with a review and demo to stakeholders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Why Scrum Works (Rising &amp; Janoff)</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3.4 Agile Project Management</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24</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Breaks the product into manageable, understandable chunks</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Unstable requirements don't have to block progress</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Whole-team visibility improves communication</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Customers see on-time delivery and give real, working feedback</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Builds trust between customers and developers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2286000"/>
            <a:ext cx="2743200" cy="914400"/>
          </a:xfrm>
          <a:prstGeom prst="rect">
            <a:avLst/>
          </a:prstGeom>
          <a:noFill/>
          <a:ln/>
        </p:spPr>
        <p:txBody>
          <a:bodyPr wrap="square" lIns="0" tIns="0" rIns="0" bIns="0" rtlCol="0" anchor="ctr"/>
          <a:lstStyle/>
          <a:p>
            <a:pPr marL="0" indent="0">
              <a:buNone/>
            </a:pPr>
            <a:r>
              <a:rPr lang="en-US" sz="2000" b="1" kern="0" spc="200" dirty="0">
                <a:solidFill>
                  <a:srgbClr val="F2A541"/>
                </a:solidFill>
                <a:latin typeface="Calibri" pitchFamily="34" charset="0"/>
                <a:ea typeface="Calibri" pitchFamily="34" charset="-122"/>
                <a:cs typeface="Calibri" pitchFamily="34" charset="-120"/>
              </a:rPr>
              <a:t>3.5</a:t>
            </a:r>
            <a:endParaRPr lang="en-US" sz="2000" dirty="0"/>
          </a:p>
        </p:txBody>
      </p:sp>
      <p:sp>
        <p:nvSpPr>
          <p:cNvPr id="3" name="Text 1"/>
          <p:cNvSpPr txBox="1"/>
          <p:nvPr/>
        </p:nvSpPr>
        <p:spPr>
          <a:xfrm>
            <a:off x="548640" y="2743200"/>
            <a:ext cx="10058400" cy="1280160"/>
          </a:xfrm>
          <a:prstGeom prst="rect">
            <a:avLst/>
          </a:prstGeom>
          <a:noFill/>
          <a:ln/>
        </p:spPr>
        <p:txBody>
          <a:bodyPr wrap="square" lIns="0" tIns="0" rIns="0" bIns="0" rtlCol="0" anchor="ctr"/>
          <a:lstStyle/>
          <a:p>
            <a:pPr marL="0" indent="0">
              <a:buNone/>
            </a:pPr>
            <a:r>
              <a:rPr lang="en-US" sz="3800" b="1" dirty="0">
                <a:latin typeface="Cambria" pitchFamily="34" charset="0"/>
                <a:ea typeface="Cambria" pitchFamily="34" charset="-122"/>
                <a:cs typeface="Cambria" pitchFamily="34" charset="-120"/>
              </a:rPr>
              <a:t>Scaling Agile Methods</a:t>
            </a:r>
            <a:endParaRPr lang="en-US" sz="3800" dirty="0"/>
          </a:p>
        </p:txBody>
      </p:sp>
      <p:sp>
        <p:nvSpPr>
          <p:cNvPr id="4" name="Text 2"/>
          <p:cNvSpPr txBox="1"/>
          <p:nvPr/>
        </p:nvSpPr>
        <p:spPr>
          <a:xfrm>
            <a:off x="548640" y="3794760"/>
            <a:ext cx="9144000" cy="5486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Agile was built for small teams — large systems need adaptation</a:t>
            </a:r>
            <a:endParaRPr lang="en-US" sz="16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Why Large Systems Are Different</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3.5 Scaling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26</a:t>
            </a:r>
            <a:endParaRPr lang="en-US" sz="1000" dirty="0"/>
          </a:p>
        </p:txBody>
      </p:sp>
      <p:sp>
        <p:nvSpPr>
          <p:cNvPr id="6" name="Shape 3"/>
          <p:cNvSpPr/>
          <p:nvPr/>
        </p:nvSpPr>
        <p:spPr>
          <a:xfrm>
            <a:off x="548640" y="1472184"/>
            <a:ext cx="384048" cy="384048"/>
          </a:xfrm>
          <a:prstGeom prst="ellipse">
            <a:avLst/>
          </a:prstGeom>
          <a:solidFill>
            <a:srgbClr val="2E86AB"/>
          </a:solidFill>
          <a:ln/>
        </p:spPr>
        <p:txBody>
          <a:bodyPr/>
          <a:lstStyle/>
          <a:p>
            <a:endParaRPr lang="en-US"/>
          </a:p>
        </p:txBody>
      </p:sp>
      <p:sp>
        <p:nvSpPr>
          <p:cNvPr id="7" name="Text 4"/>
          <p:cNvSpPr txBox="1"/>
          <p:nvPr/>
        </p:nvSpPr>
        <p:spPr>
          <a:xfrm>
            <a:off x="548640" y="14721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143000" y="141732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Distributed teams</a:t>
            </a:r>
            <a:endParaRPr lang="en-US" sz="1500" dirty="0"/>
          </a:p>
        </p:txBody>
      </p:sp>
      <p:sp>
        <p:nvSpPr>
          <p:cNvPr id="9" name="Text 6"/>
          <p:cNvSpPr txBox="1"/>
          <p:nvPr/>
        </p:nvSpPr>
        <p:spPr>
          <a:xfrm>
            <a:off x="4069080" y="141732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Large systems are collections of separate systems, often built by teams in different places and time zones.</a:t>
            </a:r>
            <a:endParaRPr lang="en-US" sz="1350" dirty="0"/>
          </a:p>
        </p:txBody>
      </p:sp>
      <p:sp>
        <p:nvSpPr>
          <p:cNvPr id="10" name="Shape 7"/>
          <p:cNvSpPr/>
          <p:nvPr/>
        </p:nvSpPr>
        <p:spPr>
          <a:xfrm>
            <a:off x="548640" y="2249424"/>
            <a:ext cx="384048" cy="384048"/>
          </a:xfrm>
          <a:prstGeom prst="ellipse">
            <a:avLst/>
          </a:prstGeom>
          <a:solidFill>
            <a:srgbClr val="2E86AB"/>
          </a:solidFill>
          <a:ln/>
        </p:spPr>
        <p:txBody>
          <a:bodyPr/>
          <a:lstStyle/>
          <a:p>
            <a:endParaRPr lang="en-US"/>
          </a:p>
        </p:txBody>
      </p:sp>
      <p:sp>
        <p:nvSpPr>
          <p:cNvPr id="11" name="Text 8"/>
          <p:cNvSpPr txBox="1"/>
          <p:nvPr/>
        </p:nvSpPr>
        <p:spPr>
          <a:xfrm>
            <a:off x="548640" y="224942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143000" y="219456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‘Brownfield’ systems</a:t>
            </a:r>
            <a:endParaRPr lang="en-US" sz="1500" dirty="0"/>
          </a:p>
        </p:txBody>
      </p:sp>
      <p:sp>
        <p:nvSpPr>
          <p:cNvPr id="13" name="Text 10"/>
          <p:cNvSpPr txBox="1"/>
          <p:nvPr/>
        </p:nvSpPr>
        <p:spPr>
          <a:xfrm>
            <a:off x="4069080" y="219456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Large systems must interact with existing systems — flexibility is constrained by what's already there.</a:t>
            </a:r>
            <a:endParaRPr lang="en-US" sz="1350" dirty="0"/>
          </a:p>
        </p:txBody>
      </p:sp>
      <p:sp>
        <p:nvSpPr>
          <p:cNvPr id="14" name="Shape 11"/>
          <p:cNvSpPr/>
          <p:nvPr/>
        </p:nvSpPr>
        <p:spPr>
          <a:xfrm>
            <a:off x="548640" y="3026664"/>
            <a:ext cx="384048" cy="384048"/>
          </a:xfrm>
          <a:prstGeom prst="ellipse">
            <a:avLst/>
          </a:prstGeom>
          <a:solidFill>
            <a:srgbClr val="2E86AB"/>
          </a:solidFill>
          <a:ln/>
        </p:spPr>
        <p:txBody>
          <a:bodyPr/>
          <a:lstStyle/>
          <a:p>
            <a:endParaRPr lang="en-US"/>
          </a:p>
        </p:txBody>
      </p:sp>
      <p:sp>
        <p:nvSpPr>
          <p:cNvPr id="15" name="Text 12"/>
          <p:cNvSpPr txBox="1"/>
          <p:nvPr/>
        </p:nvSpPr>
        <p:spPr>
          <a:xfrm>
            <a:off x="548640" y="30266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txBox="1"/>
          <p:nvPr/>
        </p:nvSpPr>
        <p:spPr>
          <a:xfrm>
            <a:off x="1143000" y="297180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Integration effort</a:t>
            </a:r>
            <a:endParaRPr lang="en-US" sz="1500" dirty="0"/>
          </a:p>
        </p:txBody>
      </p:sp>
      <p:sp>
        <p:nvSpPr>
          <p:cNvPr id="17" name="Text 14"/>
          <p:cNvSpPr txBox="1"/>
          <p:nvPr/>
        </p:nvSpPr>
        <p:spPr>
          <a:xfrm>
            <a:off x="4069080" y="297180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A significant share of the work is system configuration, not new code.</a:t>
            </a:r>
            <a:endParaRPr lang="en-US" sz="1350" dirty="0"/>
          </a:p>
        </p:txBody>
      </p:sp>
      <p:sp>
        <p:nvSpPr>
          <p:cNvPr id="18" name="Shape 15"/>
          <p:cNvSpPr/>
          <p:nvPr/>
        </p:nvSpPr>
        <p:spPr>
          <a:xfrm>
            <a:off x="548640" y="3803904"/>
            <a:ext cx="384048" cy="384048"/>
          </a:xfrm>
          <a:prstGeom prst="ellipse">
            <a:avLst/>
          </a:prstGeom>
          <a:solidFill>
            <a:srgbClr val="2E86AB"/>
          </a:solidFill>
          <a:ln/>
        </p:spPr>
        <p:txBody>
          <a:bodyPr/>
          <a:lstStyle/>
          <a:p>
            <a:endParaRPr lang="en-US"/>
          </a:p>
        </p:txBody>
      </p:sp>
      <p:sp>
        <p:nvSpPr>
          <p:cNvPr id="19" name="Text 16"/>
          <p:cNvSpPr txBox="1"/>
          <p:nvPr/>
        </p:nvSpPr>
        <p:spPr>
          <a:xfrm>
            <a:off x="548640" y="38039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1143000" y="374904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External constraints</a:t>
            </a:r>
            <a:endParaRPr lang="en-US" sz="1500" dirty="0"/>
          </a:p>
        </p:txBody>
      </p:sp>
      <p:sp>
        <p:nvSpPr>
          <p:cNvPr id="21" name="Text 18"/>
          <p:cNvSpPr txBox="1"/>
          <p:nvPr/>
        </p:nvSpPr>
        <p:spPr>
          <a:xfrm>
            <a:off x="4069080" y="374904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Rules, regulations, and required documentation often shape the process.</a:t>
            </a:r>
            <a:endParaRPr lang="en-US" sz="1350" dirty="0"/>
          </a:p>
        </p:txBody>
      </p:sp>
      <p:sp>
        <p:nvSpPr>
          <p:cNvPr id="22" name="Shape 19"/>
          <p:cNvSpPr/>
          <p:nvPr/>
        </p:nvSpPr>
        <p:spPr>
          <a:xfrm>
            <a:off x="548640" y="4581144"/>
            <a:ext cx="384048" cy="384048"/>
          </a:xfrm>
          <a:prstGeom prst="ellipse">
            <a:avLst/>
          </a:prstGeom>
          <a:solidFill>
            <a:srgbClr val="2E86AB"/>
          </a:solidFill>
          <a:ln/>
        </p:spPr>
        <p:txBody>
          <a:bodyPr/>
          <a:lstStyle/>
          <a:p>
            <a:endParaRPr lang="en-US"/>
          </a:p>
        </p:txBody>
      </p:sp>
      <p:sp>
        <p:nvSpPr>
          <p:cNvPr id="23" name="Text 20"/>
          <p:cNvSpPr txBox="1"/>
          <p:nvPr/>
        </p:nvSpPr>
        <p:spPr>
          <a:xfrm>
            <a:off x="548640" y="45811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txBox="1"/>
          <p:nvPr/>
        </p:nvSpPr>
        <p:spPr>
          <a:xfrm>
            <a:off x="1143000" y="452628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Long timelines</a:t>
            </a:r>
            <a:endParaRPr lang="en-US" sz="1500" dirty="0"/>
          </a:p>
        </p:txBody>
      </p:sp>
      <p:sp>
        <p:nvSpPr>
          <p:cNvPr id="25" name="Text 22"/>
          <p:cNvSpPr txBox="1"/>
          <p:nvPr/>
        </p:nvSpPr>
        <p:spPr>
          <a:xfrm>
            <a:off x="4069080" y="452628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Long procurement and development periods make it hard to keep a coherent team together.</a:t>
            </a:r>
            <a:endParaRPr lang="en-US" sz="1350" dirty="0"/>
          </a:p>
        </p:txBody>
      </p:sp>
      <p:sp>
        <p:nvSpPr>
          <p:cNvPr id="26" name="Shape 23"/>
          <p:cNvSpPr/>
          <p:nvPr/>
        </p:nvSpPr>
        <p:spPr>
          <a:xfrm>
            <a:off x="548640" y="5358384"/>
            <a:ext cx="384048" cy="384048"/>
          </a:xfrm>
          <a:prstGeom prst="ellipse">
            <a:avLst/>
          </a:prstGeom>
          <a:solidFill>
            <a:srgbClr val="2E86AB"/>
          </a:solidFill>
          <a:ln/>
        </p:spPr>
        <p:txBody>
          <a:bodyPr/>
          <a:lstStyle/>
          <a:p>
            <a:endParaRPr lang="en-US"/>
          </a:p>
        </p:txBody>
      </p:sp>
      <p:sp>
        <p:nvSpPr>
          <p:cNvPr id="27" name="Text 24"/>
          <p:cNvSpPr txBox="1"/>
          <p:nvPr/>
        </p:nvSpPr>
        <p:spPr>
          <a:xfrm>
            <a:off x="548640" y="53583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1143000" y="5303520"/>
            <a:ext cx="2834640" cy="685800"/>
          </a:xfrm>
          <a:prstGeom prst="rect">
            <a:avLst/>
          </a:prstGeom>
          <a:noFill/>
          <a:ln/>
        </p:spPr>
        <p:txBody>
          <a:bodyPr wrap="square" lIns="0" tIns="0" rIns="0" bIns="0" rtlCol="0" anchor="t"/>
          <a:lstStyle/>
          <a:p>
            <a:pPr marL="0" indent="0">
              <a:buNone/>
            </a:pPr>
            <a:r>
              <a:rPr lang="en-US" sz="1500" b="1" dirty="0">
                <a:solidFill>
                  <a:srgbClr val="1B2A4A"/>
                </a:solidFill>
                <a:latin typeface="Calibri" pitchFamily="34" charset="0"/>
                <a:ea typeface="Calibri" pitchFamily="34" charset="-122"/>
                <a:cs typeface="Calibri" pitchFamily="34" charset="-120"/>
              </a:rPr>
              <a:t>Diverse stakeholders</a:t>
            </a:r>
            <a:endParaRPr lang="en-US" sz="1500" dirty="0"/>
          </a:p>
        </p:txBody>
      </p:sp>
      <p:sp>
        <p:nvSpPr>
          <p:cNvPr id="29" name="Text 26"/>
          <p:cNvSpPr txBox="1"/>
          <p:nvPr/>
        </p:nvSpPr>
        <p:spPr>
          <a:xfrm>
            <a:off x="4069080" y="5303520"/>
            <a:ext cx="7772400" cy="685800"/>
          </a:xfrm>
          <a:prstGeom prst="rect">
            <a:avLst/>
          </a:prstGeom>
          <a:noFill/>
          <a:ln/>
        </p:spPr>
        <p:txBody>
          <a:bodyPr wrap="square" lIns="0" tIns="0" rIns="0" bIns="0" rtlCol="0" anchor="t"/>
          <a:lstStyle/>
          <a:p>
            <a:pPr marL="0" indent="0">
              <a:buNone/>
            </a:pPr>
            <a:r>
              <a:rPr lang="en-US" sz="1350" dirty="0">
                <a:solidFill>
                  <a:srgbClr val="22304A"/>
                </a:solidFill>
                <a:latin typeface="Calibri" pitchFamily="34" charset="0"/>
                <a:ea typeface="Calibri" pitchFamily="34" charset="-122"/>
                <a:cs typeface="Calibri" pitchFamily="34" charset="-120"/>
              </a:rPr>
              <a:t>It's often impossible to involve every stakeholder group directly.</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Scaling Up vs. Scaling Out</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3.5 Scaling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27</a:t>
            </a:r>
            <a:endParaRPr lang="en-US" sz="1000" dirty="0"/>
          </a:p>
        </p:txBody>
      </p:sp>
      <p:sp>
        <p:nvSpPr>
          <p:cNvPr id="6" name="Shape 3"/>
          <p:cNvSpPr/>
          <p:nvPr/>
        </p:nvSpPr>
        <p:spPr>
          <a:xfrm>
            <a:off x="548640" y="1371600"/>
            <a:ext cx="5120640" cy="457200"/>
          </a:xfrm>
          <a:prstGeom prst="rect">
            <a:avLst/>
          </a:prstGeom>
          <a:solidFill>
            <a:srgbClr val="EAF2FB"/>
          </a:solidFill>
          <a:ln/>
        </p:spPr>
        <p:txBody>
          <a:bodyPr/>
          <a:lstStyle/>
          <a:p>
            <a:endParaRPr lang="en-US"/>
          </a:p>
        </p:txBody>
      </p:sp>
      <p:sp>
        <p:nvSpPr>
          <p:cNvPr id="7" name="Text 4"/>
          <p:cNvSpPr txBox="1"/>
          <p:nvPr/>
        </p:nvSpPr>
        <p:spPr>
          <a:xfrm>
            <a:off x="6858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Two Perspectives</a:t>
            </a:r>
            <a:endParaRPr lang="en-US" sz="1500" dirty="0"/>
          </a:p>
        </p:txBody>
      </p:sp>
      <p:sp>
        <p:nvSpPr>
          <p:cNvPr id="8" name="Shape 5"/>
          <p:cNvSpPr/>
          <p:nvPr/>
        </p:nvSpPr>
        <p:spPr>
          <a:xfrm>
            <a:off x="6492240" y="1371600"/>
            <a:ext cx="5120640" cy="457200"/>
          </a:xfrm>
          <a:prstGeom prst="rect">
            <a:avLst/>
          </a:prstGeom>
          <a:solidFill>
            <a:srgbClr val="EAF2FB"/>
          </a:solidFill>
          <a:ln/>
        </p:spPr>
        <p:txBody>
          <a:bodyPr/>
          <a:lstStyle/>
          <a:p>
            <a:endParaRPr lang="en-US"/>
          </a:p>
        </p:txBody>
      </p:sp>
      <p:sp>
        <p:nvSpPr>
          <p:cNvPr id="9" name="Text 6"/>
          <p:cNvSpPr txBox="1"/>
          <p:nvPr/>
        </p:nvSpPr>
        <p:spPr>
          <a:xfrm>
            <a:off x="6629400" y="1371600"/>
            <a:ext cx="4846320" cy="4572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Critical Adaptations</a:t>
            </a:r>
            <a:endParaRPr lang="en-US" sz="1500" dirty="0"/>
          </a:p>
        </p:txBody>
      </p:sp>
      <p:sp>
        <p:nvSpPr>
          <p:cNvPr id="10" name="Text 7"/>
          <p:cNvSpPr txBox="1"/>
          <p:nvPr/>
        </p:nvSpPr>
        <p:spPr>
          <a:xfrm>
            <a:off x="548640" y="2011680"/>
            <a:ext cx="5120640" cy="4114800"/>
          </a:xfrm>
          <a:prstGeom prst="rect">
            <a:avLst/>
          </a:prstGeom>
          <a:noFill/>
          <a:ln/>
        </p:spPr>
        <p:txBody>
          <a:bodyPr wrap="square" rtlCol="0" anchor="t"/>
          <a:lstStyle/>
          <a:p>
            <a:pPr marL="279400" indent="-279400">
              <a:spcAft>
                <a:spcPts val="400"/>
              </a:spcAft>
              <a:buSzPct val="100000"/>
              <a:buChar char="◆"/>
            </a:pPr>
            <a:r>
              <a:rPr lang="en-US" sz="1400" dirty="0">
                <a:solidFill>
                  <a:srgbClr val="22304A"/>
                </a:solidFill>
                <a:latin typeface="Calibri" pitchFamily="34" charset="0"/>
                <a:ea typeface="Calibri" pitchFamily="34" charset="-122"/>
                <a:cs typeface="Calibri" pitchFamily="34" charset="-120"/>
              </a:rPr>
              <a:t>Scaling up:</a:t>
            </a:r>
            <a:endParaRPr lang="en-US" sz="1400" dirty="0"/>
          </a:p>
          <a:p>
            <a:pPr marL="558800" lvl="1" indent="-279400">
              <a:spcAft>
                <a:spcPts val="1200"/>
              </a:spcAft>
              <a:buSzPct val="100000"/>
              <a:buChar char="–"/>
            </a:pPr>
            <a:r>
              <a:rPr lang="en-US" sz="1400" dirty="0">
                <a:solidFill>
                  <a:srgbClr val="5B6B82"/>
                </a:solidFill>
                <a:latin typeface="Calibri" pitchFamily="34" charset="0"/>
                <a:ea typeface="Calibri" pitchFamily="34" charset="-122"/>
                <a:cs typeface="Calibri" pitchFamily="34" charset="-120"/>
              </a:rPr>
              <a:t>Using agile methods for genuinely large systems that no small team could build alone</a:t>
            </a:r>
            <a:endParaRPr lang="en-US" sz="1400" dirty="0"/>
          </a:p>
          <a:p>
            <a:pPr marL="279400" indent="-279400">
              <a:spcAft>
                <a:spcPts val="400"/>
              </a:spcAft>
              <a:buSzPct val="100000"/>
              <a:buChar char="◆"/>
            </a:pPr>
            <a:r>
              <a:rPr lang="en-US" sz="1400" dirty="0">
                <a:solidFill>
                  <a:srgbClr val="22304A"/>
                </a:solidFill>
                <a:latin typeface="Calibri" pitchFamily="34" charset="0"/>
                <a:ea typeface="Calibri" pitchFamily="34" charset="-122"/>
                <a:cs typeface="Calibri" pitchFamily="34" charset="-120"/>
              </a:rPr>
              <a:t>Scaling out:</a:t>
            </a:r>
            <a:endParaRPr lang="en-US" sz="1400" dirty="0"/>
          </a:p>
          <a:p>
            <a:pPr marL="558800" lvl="1" indent="-279400">
              <a:spcAft>
                <a:spcPts val="1200"/>
              </a:spcAft>
              <a:buSzPct val="100000"/>
              <a:buChar char="–"/>
            </a:pPr>
            <a:r>
              <a:rPr lang="en-US" sz="1400" dirty="0">
                <a:solidFill>
                  <a:srgbClr val="5B6B82"/>
                </a:solidFill>
                <a:latin typeface="Calibri" pitchFamily="34" charset="0"/>
                <a:ea typeface="Calibri" pitchFamily="34" charset="-122"/>
                <a:cs typeface="Calibri" pitchFamily="34" charset="-120"/>
              </a:rPr>
              <a:t>Introducing agile practice across a large organization with an established plan-driven culture</a:t>
            </a:r>
            <a:endParaRPr lang="en-US" sz="1400" dirty="0"/>
          </a:p>
        </p:txBody>
      </p:sp>
      <p:sp>
        <p:nvSpPr>
          <p:cNvPr id="11" name="Text 8"/>
          <p:cNvSpPr txBox="1"/>
          <p:nvPr/>
        </p:nvSpPr>
        <p:spPr>
          <a:xfrm>
            <a:off x="6492240" y="2011680"/>
            <a:ext cx="5120640" cy="4114800"/>
          </a:xfrm>
          <a:prstGeom prst="rect">
            <a:avLst/>
          </a:prstGeom>
          <a:noFill/>
          <a:ln/>
        </p:spPr>
        <p:txBody>
          <a:bodyPr wrap="square" rtlCol="0" anchor="t"/>
          <a:lstStyle/>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More up-front design and architecture documentation</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Deliberate cross-team communication channels (video, wikis, chat)</a:t>
            </a:r>
            <a:endParaRPr lang="en-US" sz="1400" dirty="0"/>
          </a:p>
          <a:p>
            <a:pPr marL="279400" indent="-279400">
              <a:spcAft>
                <a:spcPts val="1200"/>
              </a:spcAft>
              <a:buSzPct val="100000"/>
              <a:buChar char="◆"/>
            </a:pPr>
            <a:r>
              <a:rPr lang="en-US" sz="1400" dirty="0">
                <a:solidFill>
                  <a:srgbClr val="22304A"/>
                </a:solidFill>
                <a:latin typeface="Calibri" pitchFamily="34" charset="0"/>
                <a:ea typeface="Calibri" pitchFamily="34" charset="-122"/>
                <a:cs typeface="Calibri" pitchFamily="34" charset="-120"/>
              </a:rPr>
              <a:t>Frequent builds and releases, even where full continuous integration isn't realistic</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961120" cy="68580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Barriers to Adoption in Large Organizations</a:t>
            </a:r>
            <a:endParaRPr lang="en-US" sz="3000" dirty="0"/>
          </a:p>
        </p:txBody>
      </p:sp>
      <p:sp>
        <p:nvSpPr>
          <p:cNvPr id="4" name="Text 1"/>
          <p:cNvSpPr txBox="1"/>
          <p:nvPr/>
        </p:nvSpPr>
        <p:spPr>
          <a:xfrm>
            <a:off x="548640" y="6446520"/>
            <a:ext cx="68580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Chapter 3 — Agile Software Development   •   3.5 Scaling Agile Methods</a:t>
            </a:r>
            <a:endParaRPr lang="en-US" sz="1000" dirty="0"/>
          </a:p>
        </p:txBody>
      </p:sp>
      <p:sp>
        <p:nvSpPr>
          <p:cNvPr id="5"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28</a:t>
            </a:r>
            <a:endParaRPr lang="en-US" sz="1000" dirty="0"/>
          </a:p>
        </p:txBody>
      </p:sp>
      <p:sp>
        <p:nvSpPr>
          <p:cNvPr id="6" name="Text 3"/>
          <p:cNvSpPr txBox="1"/>
          <p:nvPr/>
        </p:nvSpPr>
        <p:spPr>
          <a:xfrm>
            <a:off x="548640" y="1371600"/>
            <a:ext cx="10607040" cy="4754880"/>
          </a:xfrm>
          <a:prstGeom prst="rect">
            <a:avLst/>
          </a:prstGeom>
          <a:noFill/>
          <a:ln/>
        </p:spPr>
        <p:txBody>
          <a:bodyPr wrap="square" rtlCol="0" anchor="t"/>
          <a:lstStyle/>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Managers unfamiliar with agile may be reluctant to accept the risk on their projects</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Existing quality standards and mandated tools often conflict with agile practice</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Skill-level variance across large teams undermines agile's assumption of a highly skilled team</a:t>
            </a:r>
            <a:endParaRPr lang="en-US" sz="1600" dirty="0"/>
          </a:p>
          <a:p>
            <a:pPr marL="279400" indent="-279400">
              <a:spcAft>
                <a:spcPts val="1200"/>
              </a:spcAft>
              <a:buSzPct val="100000"/>
              <a:buChar char="◆"/>
            </a:pPr>
            <a:r>
              <a:rPr lang="en-US" sz="1600" dirty="0">
                <a:solidFill>
                  <a:srgbClr val="22304A"/>
                </a:solidFill>
                <a:latin typeface="Calibri" pitchFamily="34" charset="0"/>
                <a:ea typeface="Calibri" pitchFamily="34" charset="-122"/>
                <a:cs typeface="Calibri" pitchFamily="34" charset="-120"/>
              </a:rPr>
              <a:t>Cultural resistance in organizations built around long-standing, plan-driven processes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64008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Key Points</a:t>
            </a:r>
            <a:endParaRPr lang="en-US" sz="3000" dirty="0"/>
          </a:p>
        </p:txBody>
      </p:sp>
      <p:sp>
        <p:nvSpPr>
          <p:cNvPr id="3" name="Text 1"/>
          <p:cNvSpPr txBox="1"/>
          <p:nvPr/>
        </p:nvSpPr>
        <p:spPr>
          <a:xfrm>
            <a:off x="548640" y="1371600"/>
            <a:ext cx="10789920" cy="4846320"/>
          </a:xfrm>
          <a:prstGeom prst="rect">
            <a:avLst/>
          </a:prstGeom>
          <a:noFill/>
          <a:ln/>
        </p:spPr>
        <p:txBody>
          <a:bodyPr wrap="square" rtlCol="0" anchor="t"/>
          <a:lstStyle/>
          <a:p>
            <a:pPr marL="279400" indent="-279400">
              <a:spcAft>
                <a:spcPts val="1400"/>
              </a:spcAft>
              <a:buSzPct val="100000"/>
              <a:buChar char="◆"/>
            </a:pPr>
            <a:r>
              <a:rPr lang="en-US" sz="1600" dirty="0">
                <a:latin typeface="Calibri" pitchFamily="34" charset="0"/>
                <a:ea typeface="Calibri" pitchFamily="34" charset="-122"/>
                <a:cs typeface="Calibri" pitchFamily="34" charset="-120"/>
              </a:rPr>
              <a:t>Agile methods are incremental, customer-involved, and low-overhead by design</a:t>
            </a:r>
            <a:endParaRPr lang="en-US" sz="1600" dirty="0"/>
          </a:p>
          <a:p>
            <a:pPr marL="279400" indent="-279400">
              <a:spcAft>
                <a:spcPts val="1400"/>
              </a:spcAft>
              <a:buSzPct val="100000"/>
              <a:buChar char="◆"/>
            </a:pPr>
            <a:r>
              <a:rPr lang="en-US" sz="1600" dirty="0">
                <a:latin typeface="Calibri" pitchFamily="34" charset="0"/>
                <a:ea typeface="Calibri" pitchFamily="34" charset="-122"/>
                <a:cs typeface="Calibri" pitchFamily="34" charset="-120"/>
              </a:rPr>
              <a:t>The choice between agile and plan-driven depends on system type, team, and organizational culture — not ideology</a:t>
            </a:r>
            <a:endParaRPr lang="en-US" sz="1600" dirty="0"/>
          </a:p>
          <a:p>
            <a:pPr marL="279400" indent="-279400">
              <a:spcAft>
                <a:spcPts val="1400"/>
              </a:spcAft>
              <a:buSzPct val="100000"/>
              <a:buChar char="◆"/>
            </a:pPr>
            <a:r>
              <a:rPr lang="en-US" sz="1600" dirty="0">
                <a:latin typeface="Calibri" pitchFamily="34" charset="0"/>
                <a:ea typeface="Calibri" pitchFamily="34" charset="-122"/>
                <a:cs typeface="Calibri" pitchFamily="34" charset="-120"/>
              </a:rPr>
              <a:t>Extreme Programming combines frequent releases, continuous improvement, customer participation, and test-first development</a:t>
            </a:r>
            <a:endParaRPr lang="en-US" sz="1600" dirty="0"/>
          </a:p>
          <a:p>
            <a:pPr marL="279400" indent="-279400">
              <a:spcAft>
                <a:spcPts val="1400"/>
              </a:spcAft>
              <a:buSzPct val="100000"/>
              <a:buChar char="◆"/>
            </a:pPr>
            <a:r>
              <a:rPr lang="en-US" sz="1600" dirty="0">
                <a:latin typeface="Calibri" pitchFamily="34" charset="0"/>
                <a:ea typeface="Calibri" pitchFamily="34" charset="-122"/>
                <a:cs typeface="Calibri" pitchFamily="34" charset="-120"/>
              </a:rPr>
              <a:t>Scrum is a project-management framework built around fixed-length sprints and a prioritized backlog</a:t>
            </a:r>
            <a:endParaRPr lang="en-US" sz="1600" dirty="0"/>
          </a:p>
          <a:p>
            <a:pPr marL="279400" indent="-279400">
              <a:spcAft>
                <a:spcPts val="1400"/>
              </a:spcAft>
              <a:buSzPct val="100000"/>
              <a:buChar char="◆"/>
            </a:pPr>
            <a:r>
              <a:rPr lang="en-US" sz="1600" dirty="0">
                <a:latin typeface="Calibri" pitchFamily="34" charset="0"/>
                <a:ea typeface="Calibri" pitchFamily="34" charset="-122"/>
                <a:cs typeface="Calibri" pitchFamily="34" charset="-120"/>
              </a:rPr>
              <a:t>Scaling agile to large systems is genuinely difficult — some up-front design and documentation becomes necessary</a:t>
            </a:r>
            <a:endParaRPr lang="en-US" sz="1600" dirty="0"/>
          </a:p>
        </p:txBody>
      </p:sp>
      <p:sp>
        <p:nvSpPr>
          <p:cNvPr id="4" name="Text 2"/>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7315200" cy="548640"/>
          </a:xfrm>
          <a:prstGeom prst="rect">
            <a:avLst/>
          </a:prstGeom>
          <a:noFill/>
          <a:ln/>
        </p:spPr>
        <p:txBody>
          <a:bodyPr wrap="square" lIns="0" tIns="0" rIns="0" bIns="0" rtlCol="0" anchor="ctr"/>
          <a:lstStyle/>
          <a:p>
            <a:pPr marL="0" indent="0">
              <a:buNone/>
            </a:pPr>
            <a:r>
              <a:rPr lang="en-US" sz="1600" b="1" kern="0" spc="200" dirty="0">
                <a:solidFill>
                  <a:srgbClr val="F2A541"/>
                </a:solidFill>
                <a:latin typeface="Calibri" pitchFamily="34" charset="0"/>
                <a:ea typeface="Calibri" pitchFamily="34" charset="-122"/>
                <a:cs typeface="Calibri" pitchFamily="34" charset="-120"/>
              </a:rPr>
              <a:t>Discussion</a:t>
            </a:r>
            <a:endParaRPr lang="en-US" sz="1600" dirty="0"/>
          </a:p>
        </p:txBody>
      </p:sp>
      <p:sp>
        <p:nvSpPr>
          <p:cNvPr id="3" name="Text 1"/>
          <p:cNvSpPr txBox="1"/>
          <p:nvPr/>
        </p:nvSpPr>
        <p:spPr>
          <a:xfrm>
            <a:off x="548640" y="1005840"/>
            <a:ext cx="10058400" cy="82296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Agile &amp; Our Structured Prompt Library</a:t>
            </a:r>
            <a:endParaRPr lang="en-US" sz="3000" dirty="0"/>
          </a:p>
        </p:txBody>
      </p:sp>
      <p:sp>
        <p:nvSpPr>
          <p:cNvPr id="4" name="Text 2"/>
          <p:cNvSpPr txBox="1"/>
          <p:nvPr/>
        </p:nvSpPr>
        <p:spPr>
          <a:xfrm>
            <a:off x="548640" y="2103120"/>
            <a:ext cx="10332720" cy="3657600"/>
          </a:xfrm>
          <a:prstGeom prst="rect">
            <a:avLst/>
          </a:prstGeom>
          <a:noFill/>
          <a:ln/>
        </p:spPr>
        <p:txBody>
          <a:bodyPr wrap="square" rtlCol="0" anchor="t"/>
          <a:lstStyle/>
          <a:p>
            <a:pPr marL="279400" indent="-279400">
              <a:spcAft>
                <a:spcPts val="1200"/>
              </a:spcAft>
              <a:buSzPct val="100000"/>
              <a:buChar char="◆"/>
            </a:pPr>
            <a:r>
              <a:rPr lang="en-US" sz="1700" dirty="0">
                <a:latin typeface="Calibri" pitchFamily="34" charset="0"/>
                <a:ea typeface="Calibri" pitchFamily="34" charset="-122"/>
                <a:cs typeface="Calibri" pitchFamily="34" charset="-120"/>
              </a:rPr>
              <a:t>This chapter maps to the Week 3 entry in our prompt library: scoping a project and choosing a process model</a:t>
            </a:r>
            <a:endParaRPr lang="en-US" sz="1700" dirty="0"/>
          </a:p>
          <a:p>
            <a:pPr marL="279400" indent="-279400">
              <a:spcAft>
                <a:spcPts val="1200"/>
              </a:spcAft>
              <a:buSzPct val="100000"/>
              <a:buChar char="◆"/>
            </a:pPr>
            <a:r>
              <a:rPr lang="en-US" sz="1700" dirty="0">
                <a:latin typeface="Calibri" pitchFamily="34" charset="0"/>
                <a:ea typeface="Calibri" pitchFamily="34" charset="-122"/>
                <a:cs typeface="Calibri" pitchFamily="34" charset="-120"/>
              </a:rPr>
              <a:t>Sommerville: “There are no right or wrong software processes.” Does the same apply to prompting techniques?</a:t>
            </a:r>
            <a:endParaRPr lang="en-US" sz="1700" dirty="0"/>
          </a:p>
          <a:p>
            <a:pPr marL="279400" indent="-279400">
              <a:spcAft>
                <a:spcPts val="1200"/>
              </a:spcAft>
              <a:buSzPct val="100000"/>
              <a:buChar char="◆"/>
            </a:pPr>
            <a:r>
              <a:rPr lang="en-US" sz="1700" dirty="0">
                <a:latin typeface="Calibri" pitchFamily="34" charset="0"/>
                <a:ea typeface="Calibri" pitchFamily="34" charset="-122"/>
                <a:cs typeface="Calibri" pitchFamily="34" charset="-120"/>
              </a:rPr>
              <a:t>Is ‘vibe coding’ agile without discipline — or is it no process at all?</a:t>
            </a:r>
            <a:endParaRPr lang="en-US" sz="1700" dirty="0"/>
          </a:p>
        </p:txBody>
      </p:sp>
      <p:sp>
        <p:nvSpPr>
          <p:cNvPr id="5" name="Text 3"/>
          <p:cNvSpPr txBox="1"/>
          <p:nvPr/>
        </p:nvSpPr>
        <p:spPr>
          <a:xfrm>
            <a:off x="11274552" y="644652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37</TotalTime>
  <Words>3501</Words>
  <Application>Microsoft Office PowerPoint</Application>
  <PresentationFormat>Custom</PresentationFormat>
  <Paragraphs>405</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Whitworth, Clifford</cp:lastModifiedBy>
  <cp:revision>3</cp:revision>
  <dcterms:created xsi:type="dcterms:W3CDTF">2026-09-02T22:10:48Z</dcterms:created>
  <dcterms:modified xsi:type="dcterms:W3CDTF">2026-09-03T02:31:34Z</dcterms:modified>
</cp:coreProperties>
</file>