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9b018df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f9b018df9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9b018df9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3f9b018df9e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9b018df9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f9b018df9e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9b018df9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f9b018df9e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9b018df9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f9b018df9e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9b018df9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f9b018df9e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9b018df9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f9b018df9e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9b018df9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f9b018df9e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9b018df9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f9b018df9e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9b018df9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f9b018df9e_0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9b018df9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f9b018df9e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9b018df9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f9b018df9e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9b018df9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f9b018df9e_0_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9b018df9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f9b018df9e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9b018df9e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f9b018df9e_0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9b018df9e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f9b018df9e_0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9b018df9e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f9b018df9e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9b018df9e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f9b018df9e_0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9b018df9e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f9b018df9e_0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9b018df9e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f9b018df9e_0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9b018df9e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f9b018df9e_0_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9b018df9e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f9b018df9e_0_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9b018df9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f9b018df9e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9b018df9e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f9b018df9e_0_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81000" lvl="0" marL="457200" marR="0" algn="l">
              <a:spcBef>
                <a:spcPts val="600"/>
              </a:spcBef>
              <a:spcAft>
                <a:spcPts val="0"/>
              </a:spcAft>
              <a:buClr>
                <a:srgbClr val="46424D"/>
              </a:buClr>
              <a:buSzPts val="2400"/>
              <a:buFont typeface="Noto Sans Symbols"/>
              <a:buChar char="✧"/>
              <a:defRPr b="0" i="0" sz="2400" u="none" cap="none" strike="noStrike">
                <a:solidFill>
                  <a:srgbClr val="46424D"/>
                </a:solidFill>
                <a:latin typeface="Arial"/>
                <a:ea typeface="Arial"/>
                <a:cs typeface="Arial"/>
                <a:sym typeface="Arial"/>
              </a:defRPr>
            </a:lvl1pPr>
            <a:lvl2pPr indent="-355600" lvl="1" marL="914400" marR="0" algn="l">
              <a:spcBef>
                <a:spcPts val="600"/>
              </a:spcBef>
              <a:spcAft>
                <a:spcPts val="0"/>
              </a:spcAft>
              <a:buClr>
                <a:srgbClr val="46424D"/>
              </a:buClr>
              <a:buSzPts val="2000"/>
              <a:buFont typeface="Noto Sans Symbols"/>
              <a:buChar char="▪"/>
              <a:defRPr b="0" i="0" sz="2000" u="none" cap="none" strike="noStrike">
                <a:solidFill>
                  <a:srgbClr val="46424D"/>
                </a:solidFill>
                <a:latin typeface="Arial"/>
                <a:ea typeface="Arial"/>
                <a:cs typeface="Arial"/>
                <a:sym typeface="Arial"/>
              </a:defRPr>
            </a:lvl2pPr>
            <a:lvl3pPr indent="-342900" lvl="2" marL="1371600" marR="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3pPr>
            <a:lvl4pPr indent="-342900" lvl="3" marL="1828800" marR="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4pPr>
            <a:lvl5pPr indent="-342900" lvl="4" marL="2286000" marR="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457200" y="1785542"/>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Case studies</a:t>
            </a:r>
            <a:endParaRPr/>
          </a:p>
        </p:txBody>
      </p:sp>
      <p:sp>
        <p:nvSpPr>
          <p:cNvPr id="61" name="Google Shape;61;p1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62" name="Google Shape;62;p1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63" name="Google Shape;63;p1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Ethical dilemmas</a:t>
            </a:r>
            <a:endParaRPr/>
          </a:p>
        </p:txBody>
      </p:sp>
      <p:sp>
        <p:nvSpPr>
          <p:cNvPr id="69" name="Google Shape;69;p1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rgbClr val="46424D"/>
              </a:buClr>
              <a:buSzPts val="2400"/>
              <a:buFont typeface="Noto Sans Symbols"/>
              <a:buChar char="✧"/>
            </a:pPr>
            <a:r>
              <a:rPr lang="en"/>
              <a:t>Disagreement in principle with the policies of senior management.</a:t>
            </a:r>
            <a:endParaRPr/>
          </a:p>
          <a:p>
            <a:pPr indent="-342900" lvl="0" marL="342900" rtl="0" algn="l">
              <a:spcBef>
                <a:spcPts val="1200"/>
              </a:spcBef>
              <a:spcAft>
                <a:spcPts val="0"/>
              </a:spcAft>
              <a:buClr>
                <a:srgbClr val="46424D"/>
              </a:buClr>
              <a:buSzPts val="2400"/>
              <a:buFont typeface="Noto Sans Symbols"/>
              <a:buChar char="✧"/>
            </a:pPr>
            <a:r>
              <a:rPr lang="en"/>
              <a:t>Your employer acts in an unethical way and releases a safety-critical system without finishing the testing of the system.</a:t>
            </a:r>
            <a:endParaRPr/>
          </a:p>
          <a:p>
            <a:pPr indent="-342900" lvl="0" marL="342900" rtl="0" algn="l">
              <a:spcBef>
                <a:spcPts val="1200"/>
              </a:spcBef>
              <a:spcAft>
                <a:spcPts val="0"/>
              </a:spcAft>
              <a:buClr>
                <a:srgbClr val="46424D"/>
              </a:buClr>
              <a:buSzPts val="2400"/>
              <a:buFont typeface="Noto Sans Symbols"/>
              <a:buChar char="✧"/>
            </a:pPr>
            <a:r>
              <a:rPr lang="en"/>
              <a:t>Participation in the development of military weapons systems or nuclear systems.</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70" name="Google Shape;70;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71" name="Google Shape;71;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72" name="Google Shape;72;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Case studies</a:t>
            </a:r>
            <a:endParaRPr/>
          </a:p>
        </p:txBody>
      </p:sp>
      <p:sp>
        <p:nvSpPr>
          <p:cNvPr id="78" name="Google Shape;78;p1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70000" lnSpcReduction="10000"/>
          </a:bodyPr>
          <a:lstStyle/>
          <a:p>
            <a:pPr indent="-297180" lvl="0" marL="342900" rtl="0" algn="l">
              <a:spcBef>
                <a:spcPts val="0"/>
              </a:spcBef>
              <a:spcAft>
                <a:spcPts val="0"/>
              </a:spcAft>
              <a:buClr>
                <a:srgbClr val="46424D"/>
              </a:buClr>
              <a:buSzPct val="100000"/>
              <a:buFont typeface="Noto Sans Symbols"/>
              <a:buChar char="✧"/>
            </a:pPr>
            <a:r>
              <a:rPr lang="en"/>
              <a:t>A personal insulin pump</a:t>
            </a:r>
            <a:endParaRPr/>
          </a:p>
          <a:p>
            <a:pPr indent="-247650" lvl="1" marL="742950" rtl="0" algn="l">
              <a:spcBef>
                <a:spcPts val="900"/>
              </a:spcBef>
              <a:spcAft>
                <a:spcPts val="0"/>
              </a:spcAft>
              <a:buClr>
                <a:srgbClr val="46424D"/>
              </a:buClr>
              <a:buSzPct val="100000"/>
              <a:buChar char="▪"/>
            </a:pPr>
            <a:r>
              <a:rPr lang="en"/>
              <a:t>An embedded system in an insulin pump used by diabetics to maintain blood glucose control.</a:t>
            </a:r>
            <a:endParaRPr/>
          </a:p>
          <a:p>
            <a:pPr indent="-297180" lvl="0" marL="342900" rtl="0" algn="l">
              <a:spcBef>
                <a:spcPts val="900"/>
              </a:spcBef>
              <a:spcAft>
                <a:spcPts val="0"/>
              </a:spcAft>
              <a:buClr>
                <a:srgbClr val="46424D"/>
              </a:buClr>
              <a:buSzPct val="100000"/>
              <a:buFont typeface="Noto Sans Symbols"/>
              <a:buChar char="✧"/>
            </a:pPr>
            <a:r>
              <a:rPr lang="en"/>
              <a:t>A mental health case patient management system </a:t>
            </a:r>
            <a:endParaRPr/>
          </a:p>
          <a:p>
            <a:pPr indent="-247650" lvl="1" marL="742950" rtl="0" algn="l">
              <a:spcBef>
                <a:spcPts val="900"/>
              </a:spcBef>
              <a:spcAft>
                <a:spcPts val="0"/>
              </a:spcAft>
              <a:buClr>
                <a:srgbClr val="46424D"/>
              </a:buClr>
              <a:buSzPct val="100000"/>
              <a:buChar char="▪"/>
            </a:pPr>
            <a:r>
              <a:rPr lang="en"/>
              <a:t>Mentcare. A system used to maintain records of people receiving care for mental health problems.</a:t>
            </a:r>
            <a:endParaRPr/>
          </a:p>
          <a:p>
            <a:pPr indent="-297180" lvl="0" marL="342900" rtl="0" algn="l">
              <a:spcBef>
                <a:spcPts val="900"/>
              </a:spcBef>
              <a:spcAft>
                <a:spcPts val="0"/>
              </a:spcAft>
              <a:buClr>
                <a:srgbClr val="46424D"/>
              </a:buClr>
              <a:buSzPct val="100000"/>
              <a:buFont typeface="Noto Sans Symbols"/>
              <a:buChar char="✧"/>
            </a:pPr>
            <a:r>
              <a:rPr lang="en"/>
              <a:t>A wilderness weather station</a:t>
            </a:r>
            <a:endParaRPr/>
          </a:p>
          <a:p>
            <a:pPr indent="-247650" lvl="1" marL="742950" rtl="0" algn="l">
              <a:spcBef>
                <a:spcPts val="900"/>
              </a:spcBef>
              <a:spcAft>
                <a:spcPts val="0"/>
              </a:spcAft>
              <a:buClr>
                <a:srgbClr val="46424D"/>
              </a:buClr>
              <a:buSzPct val="100000"/>
              <a:buChar char="▪"/>
            </a:pPr>
            <a:r>
              <a:rPr lang="en"/>
              <a:t>A data collection system that collects data about weather conditions in remote areas.</a:t>
            </a:r>
            <a:endParaRPr/>
          </a:p>
          <a:p>
            <a:pPr indent="-297180" lvl="0" marL="342900" rtl="0" algn="l">
              <a:spcBef>
                <a:spcPts val="900"/>
              </a:spcBef>
              <a:spcAft>
                <a:spcPts val="0"/>
              </a:spcAft>
              <a:buClr>
                <a:srgbClr val="46424D"/>
              </a:buClr>
              <a:buSzPct val="100000"/>
              <a:buFont typeface="Noto Sans Symbols"/>
              <a:buChar char="✧"/>
            </a:pPr>
            <a:r>
              <a:rPr lang="en"/>
              <a:t>iLearn: a digital learning environment</a:t>
            </a:r>
            <a:endParaRPr/>
          </a:p>
          <a:p>
            <a:pPr indent="-247650" lvl="1" marL="742950" rtl="0" algn="l">
              <a:spcBef>
                <a:spcPts val="900"/>
              </a:spcBef>
              <a:spcAft>
                <a:spcPts val="0"/>
              </a:spcAft>
              <a:buClr>
                <a:srgbClr val="46424D"/>
              </a:buClr>
              <a:buSzPct val="100000"/>
              <a:buChar char="▪"/>
            </a:pPr>
            <a:r>
              <a:rPr lang="en"/>
              <a:t>A system to support learning in schools</a:t>
            </a:r>
            <a:endParaRPr/>
          </a:p>
        </p:txBody>
      </p:sp>
      <p:sp>
        <p:nvSpPr>
          <p:cNvPr id="79" name="Google Shape;79;p1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80" name="Google Shape;80;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81" name="Google Shape;81;p1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Insulin pump control system</a:t>
            </a:r>
            <a:endParaRPr/>
          </a:p>
        </p:txBody>
      </p:sp>
      <p:sp>
        <p:nvSpPr>
          <p:cNvPr id="87" name="Google Shape;87;p17"/>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85000"/>
          </a:bodyPr>
          <a:lstStyle/>
          <a:p>
            <a:pPr indent="-320040" lvl="0" marL="342900" rtl="0" algn="l">
              <a:spcBef>
                <a:spcPts val="0"/>
              </a:spcBef>
              <a:spcAft>
                <a:spcPts val="0"/>
              </a:spcAft>
              <a:buClr>
                <a:srgbClr val="46424D"/>
              </a:buClr>
              <a:buSzPct val="100000"/>
              <a:buFont typeface="Noto Sans Symbols"/>
              <a:buChar char="✧"/>
            </a:pPr>
            <a:r>
              <a:rPr lang="en"/>
              <a:t>Collects data from a blood sugar sensor and calculates the amount of insulin required to be injected.</a:t>
            </a:r>
            <a:endParaRPr/>
          </a:p>
          <a:p>
            <a:pPr indent="-320040" lvl="0" marL="342900" rtl="0" algn="l">
              <a:spcBef>
                <a:spcPts val="1200"/>
              </a:spcBef>
              <a:spcAft>
                <a:spcPts val="0"/>
              </a:spcAft>
              <a:buClr>
                <a:srgbClr val="46424D"/>
              </a:buClr>
              <a:buSzPct val="100000"/>
              <a:buFont typeface="Noto Sans Symbols"/>
              <a:buChar char="✧"/>
            </a:pPr>
            <a:r>
              <a:rPr lang="en"/>
              <a:t>Calculation based on the rate of change of blood sugar levels.</a:t>
            </a:r>
            <a:endParaRPr/>
          </a:p>
          <a:p>
            <a:pPr indent="-320040" lvl="0" marL="342900" rtl="0" algn="l">
              <a:spcBef>
                <a:spcPts val="1200"/>
              </a:spcBef>
              <a:spcAft>
                <a:spcPts val="0"/>
              </a:spcAft>
              <a:buClr>
                <a:srgbClr val="46424D"/>
              </a:buClr>
              <a:buSzPct val="100000"/>
              <a:buFont typeface="Noto Sans Symbols"/>
              <a:buChar char="✧"/>
            </a:pPr>
            <a:r>
              <a:rPr lang="en"/>
              <a:t>Sends signals to a micro-pump to deliver the correct dose of insulin.</a:t>
            </a:r>
            <a:endParaRPr/>
          </a:p>
          <a:p>
            <a:pPr indent="-320040" lvl="0" marL="342900" rtl="0" algn="l">
              <a:spcBef>
                <a:spcPts val="1200"/>
              </a:spcBef>
              <a:spcAft>
                <a:spcPts val="0"/>
              </a:spcAft>
              <a:buClr>
                <a:srgbClr val="46424D"/>
              </a:buClr>
              <a:buSzPct val="100000"/>
              <a:buFont typeface="Noto Sans Symbols"/>
              <a:buChar char="✧"/>
            </a:pPr>
            <a:r>
              <a:rPr lang="en"/>
              <a:t>Safety-critical system as low blood sugars can lead to brain malfunctioning, coma and death; high-blood sugar levels have long-term consequences such as eye and kidney damage.</a:t>
            </a:r>
            <a:endParaRPr/>
          </a:p>
        </p:txBody>
      </p:sp>
      <p:sp>
        <p:nvSpPr>
          <p:cNvPr id="88" name="Google Shape;88;p1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89" name="Google Shape;89;p1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90" name="Google Shape;90;p1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Insulin pump hardware architecture</a:t>
            </a:r>
            <a:endParaRPr/>
          </a:p>
        </p:txBody>
      </p:sp>
      <p:pic>
        <p:nvPicPr>
          <p:cNvPr descr="1.4 InsulinPumpHW.eps" id="96" name="Google Shape;96;p18"/>
          <p:cNvPicPr preferRelativeResize="0"/>
          <p:nvPr/>
        </p:nvPicPr>
        <p:blipFill rotWithShape="1">
          <a:blip r:embed="rId3">
            <a:alphaModFix/>
          </a:blip>
          <a:srcRect b="0" l="0" r="0" t="0"/>
          <a:stretch/>
        </p:blipFill>
        <p:spPr>
          <a:xfrm>
            <a:off x="1911696" y="1551215"/>
            <a:ext cx="4009086" cy="2551236"/>
          </a:xfrm>
          <a:prstGeom prst="rect">
            <a:avLst/>
          </a:prstGeom>
          <a:noFill/>
          <a:ln>
            <a:noFill/>
          </a:ln>
        </p:spPr>
      </p:pic>
      <p:sp>
        <p:nvSpPr>
          <p:cNvPr id="97" name="Google Shape;97;p1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98" name="Google Shape;98;p1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99" name="Google Shape;99;p1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Activity model of the insulin pump</a:t>
            </a:r>
            <a:endParaRPr/>
          </a:p>
        </p:txBody>
      </p:sp>
      <p:pic>
        <p:nvPicPr>
          <p:cNvPr descr="1.5 InsulinPumpActDiag.eps" id="105" name="Google Shape;105;p19"/>
          <p:cNvPicPr preferRelativeResize="0"/>
          <p:nvPr/>
        </p:nvPicPr>
        <p:blipFill rotWithShape="1">
          <a:blip r:embed="rId3">
            <a:alphaModFix/>
          </a:blip>
          <a:srcRect b="0" l="0" r="0" t="0"/>
          <a:stretch/>
        </p:blipFill>
        <p:spPr>
          <a:xfrm>
            <a:off x="1522043" y="1873460"/>
            <a:ext cx="4903425" cy="1679256"/>
          </a:xfrm>
          <a:prstGeom prst="rect">
            <a:avLst/>
          </a:prstGeom>
          <a:noFill/>
          <a:ln>
            <a:noFill/>
          </a:ln>
        </p:spPr>
      </p:pic>
      <p:sp>
        <p:nvSpPr>
          <p:cNvPr id="106" name="Google Shape;106;p1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07" name="Google Shape;107;p1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08" name="Google Shape;108;p1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Essential high-level requirements</a:t>
            </a:r>
            <a:endParaRPr/>
          </a:p>
        </p:txBody>
      </p:sp>
      <p:sp>
        <p:nvSpPr>
          <p:cNvPr id="114" name="Google Shape;114;p2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rgbClr val="46424D"/>
              </a:buClr>
              <a:buSzPts val="2400"/>
              <a:buFont typeface="Noto Sans Symbols"/>
              <a:buChar char="✧"/>
            </a:pPr>
            <a:r>
              <a:rPr lang="en"/>
              <a:t>The system shall be available to deliver insulin when required. </a:t>
            </a:r>
            <a:endParaRPr/>
          </a:p>
          <a:p>
            <a:pPr indent="-342900" lvl="0" marL="342900" rtl="0" algn="l">
              <a:spcBef>
                <a:spcPts val="1200"/>
              </a:spcBef>
              <a:spcAft>
                <a:spcPts val="0"/>
              </a:spcAft>
              <a:buClr>
                <a:srgbClr val="46424D"/>
              </a:buClr>
              <a:buSzPts val="2400"/>
              <a:buFont typeface="Noto Sans Symbols"/>
              <a:buChar char="✧"/>
            </a:pPr>
            <a:r>
              <a:rPr lang="en"/>
              <a:t>The system shall perform reliably and deliver the correct amount of insulin to counteract the current level of blood sugar.</a:t>
            </a:r>
            <a:endParaRPr/>
          </a:p>
          <a:p>
            <a:pPr indent="-342900" lvl="0" marL="342900" rtl="0" algn="l">
              <a:spcBef>
                <a:spcPts val="1200"/>
              </a:spcBef>
              <a:spcAft>
                <a:spcPts val="0"/>
              </a:spcAft>
              <a:buClr>
                <a:srgbClr val="46424D"/>
              </a:buClr>
              <a:buSzPts val="2400"/>
              <a:buFont typeface="Noto Sans Symbols"/>
              <a:buChar char="✧"/>
            </a:pPr>
            <a:r>
              <a:rPr lang="en"/>
              <a:t>The system must therefore be designed and implemented to ensure that the system always meets these requirements. </a:t>
            </a:r>
            <a:endParaRPr/>
          </a:p>
        </p:txBody>
      </p:sp>
      <p:sp>
        <p:nvSpPr>
          <p:cNvPr id="115" name="Google Shape;115;p2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16" name="Google Shape;116;p2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17" name="Google Shape;117;p2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
              <a:t>Mentcare: A patient information system for mental health care</a:t>
            </a:r>
            <a:endParaRPr/>
          </a:p>
        </p:txBody>
      </p:sp>
      <p:sp>
        <p:nvSpPr>
          <p:cNvPr id="123" name="Google Shape;123;p2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85000" lnSpcReduction="20000"/>
          </a:bodyPr>
          <a:lstStyle/>
          <a:p>
            <a:pPr indent="-320040" lvl="0" marL="342900" rtl="0" algn="l">
              <a:spcBef>
                <a:spcPts val="0"/>
              </a:spcBef>
              <a:spcAft>
                <a:spcPts val="0"/>
              </a:spcAft>
              <a:buClr>
                <a:srgbClr val="46424D"/>
              </a:buClr>
              <a:buSzPct val="100000"/>
              <a:buFont typeface="Noto Sans Symbols"/>
              <a:buChar char="✧"/>
            </a:pPr>
            <a:r>
              <a:rPr lang="en"/>
              <a:t>A patient information system to support mental health care is a medical information system that maintains information about patients suffering from mental health problems and the treatments that they have received.</a:t>
            </a:r>
            <a:endParaRPr/>
          </a:p>
          <a:p>
            <a:pPr indent="-320040" lvl="0" marL="342900" rtl="0" algn="l">
              <a:spcBef>
                <a:spcPts val="1200"/>
              </a:spcBef>
              <a:spcAft>
                <a:spcPts val="0"/>
              </a:spcAft>
              <a:buClr>
                <a:srgbClr val="46424D"/>
              </a:buClr>
              <a:buSzPct val="100000"/>
              <a:buFont typeface="Noto Sans Symbols"/>
              <a:buChar char="✧"/>
            </a:pPr>
            <a:r>
              <a:rPr lang="en"/>
              <a:t>Most mental health patients do not require dedicated hospital treatment but need to attend specialist clinics regularly where they can meet a doctor who has detailed knowledge of their problems. </a:t>
            </a:r>
            <a:endParaRPr/>
          </a:p>
          <a:p>
            <a:pPr indent="-320040" lvl="0" marL="342900" rtl="0" algn="l">
              <a:spcBef>
                <a:spcPts val="1200"/>
              </a:spcBef>
              <a:spcAft>
                <a:spcPts val="0"/>
              </a:spcAft>
              <a:buClr>
                <a:srgbClr val="46424D"/>
              </a:buClr>
              <a:buSzPct val="100000"/>
              <a:buFont typeface="Noto Sans Symbols"/>
              <a:buChar char="✧"/>
            </a:pPr>
            <a:r>
              <a:rPr lang="en"/>
              <a:t>To make it easier for patients to attend, these clinics are not just run in hospitals. They may also be held in local medical practices or community centres. </a:t>
            </a:r>
            <a:endParaRPr/>
          </a:p>
        </p:txBody>
      </p:sp>
      <p:sp>
        <p:nvSpPr>
          <p:cNvPr id="124" name="Google Shape;124;p2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25" name="Google Shape;125;p2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26" name="Google Shape;126;p2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Mentcare</a:t>
            </a:r>
            <a:endParaRPr/>
          </a:p>
        </p:txBody>
      </p:sp>
      <p:sp>
        <p:nvSpPr>
          <p:cNvPr id="132" name="Google Shape;132;p2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85000"/>
          </a:bodyPr>
          <a:lstStyle/>
          <a:p>
            <a:pPr indent="-320040" lvl="0" marL="342900" rtl="0" algn="l">
              <a:spcBef>
                <a:spcPts val="0"/>
              </a:spcBef>
              <a:spcAft>
                <a:spcPts val="0"/>
              </a:spcAft>
              <a:buClr>
                <a:srgbClr val="46424D"/>
              </a:buClr>
              <a:buSzPct val="100000"/>
              <a:buFont typeface="Noto Sans Symbols"/>
              <a:buChar char="✧"/>
            </a:pPr>
            <a:r>
              <a:rPr lang="en"/>
              <a:t>Mentcare is an information system that is intended for use in clinics. </a:t>
            </a:r>
            <a:endParaRPr/>
          </a:p>
          <a:p>
            <a:pPr indent="-320040" lvl="0" marL="342900" rtl="0" algn="l">
              <a:spcBef>
                <a:spcPts val="1200"/>
              </a:spcBef>
              <a:spcAft>
                <a:spcPts val="0"/>
              </a:spcAft>
              <a:buClr>
                <a:srgbClr val="46424D"/>
              </a:buClr>
              <a:buSzPct val="100000"/>
              <a:buFont typeface="Noto Sans Symbols"/>
              <a:buChar char="✧"/>
            </a:pPr>
            <a:r>
              <a:rPr lang="en"/>
              <a:t>It makes use of a centralized database of patient information but has also been designed to run on a PC, so that it may be accessed and used from sites that do not have secure network connectivity. </a:t>
            </a:r>
            <a:endParaRPr/>
          </a:p>
          <a:p>
            <a:pPr indent="-320040" lvl="0" marL="342900" rtl="0" algn="l">
              <a:spcBef>
                <a:spcPts val="1200"/>
              </a:spcBef>
              <a:spcAft>
                <a:spcPts val="0"/>
              </a:spcAft>
              <a:buClr>
                <a:srgbClr val="46424D"/>
              </a:buClr>
              <a:buSzPct val="100000"/>
              <a:buFont typeface="Noto Sans Symbols"/>
              <a:buChar char="✧"/>
            </a:pPr>
            <a:r>
              <a:rPr lang="en"/>
              <a:t>When the local systems have secure network access, they use patient information in the database but they can download and use local copies of patient records when they are disconnected. </a:t>
            </a:r>
            <a:endParaRPr/>
          </a:p>
        </p:txBody>
      </p:sp>
      <p:sp>
        <p:nvSpPr>
          <p:cNvPr id="133" name="Google Shape;133;p2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34" name="Google Shape;134;p2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35" name="Google Shape;135;p2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Mentcare goals</a:t>
            </a:r>
            <a:endParaRPr/>
          </a:p>
        </p:txBody>
      </p:sp>
      <p:sp>
        <p:nvSpPr>
          <p:cNvPr id="141" name="Google Shape;141;p2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46424D"/>
              </a:buClr>
              <a:buSzPts val="2400"/>
              <a:buFont typeface="Noto Sans Symbols"/>
              <a:buChar char="✧"/>
            </a:pPr>
            <a:r>
              <a:rPr lang="en"/>
              <a:t>To generate management information that allows health service managers to assess performance against local and government targets.</a:t>
            </a:r>
            <a:endParaRPr/>
          </a:p>
          <a:p>
            <a:pPr indent="-342900" lvl="0" marL="342900" rtl="0" algn="l">
              <a:spcBef>
                <a:spcPts val="1200"/>
              </a:spcBef>
              <a:spcAft>
                <a:spcPts val="0"/>
              </a:spcAft>
              <a:buClr>
                <a:srgbClr val="46424D"/>
              </a:buClr>
              <a:buSzPts val="2400"/>
              <a:buFont typeface="Noto Sans Symbols"/>
              <a:buChar char="✧"/>
            </a:pPr>
            <a:r>
              <a:rPr lang="en"/>
              <a:t>To provide medical staff with timely information to support the treatment of patients.</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142" name="Google Shape;142;p2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43" name="Google Shape;143;p2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44" name="Google Shape;144;p2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The organization of the Mentcare system</a:t>
            </a:r>
            <a:endParaRPr/>
          </a:p>
        </p:txBody>
      </p:sp>
      <p:pic>
        <p:nvPicPr>
          <p:cNvPr descr="1.6 MHC-PMS.eps" id="150" name="Google Shape;150;p24"/>
          <p:cNvPicPr preferRelativeResize="0"/>
          <p:nvPr/>
        </p:nvPicPr>
        <p:blipFill rotWithShape="1">
          <a:blip r:embed="rId3">
            <a:alphaModFix/>
          </a:blip>
          <a:srcRect b="0" l="0" r="0" t="0"/>
          <a:stretch/>
        </p:blipFill>
        <p:spPr>
          <a:xfrm>
            <a:off x="2209799" y="1338263"/>
            <a:ext cx="3803649" cy="3194408"/>
          </a:xfrm>
          <a:prstGeom prst="rect">
            <a:avLst/>
          </a:prstGeom>
          <a:noFill/>
          <a:ln>
            <a:noFill/>
          </a:ln>
        </p:spPr>
      </p:pic>
      <p:sp>
        <p:nvSpPr>
          <p:cNvPr id="151" name="Google Shape;151;p2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52" name="Google Shape;152;p2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53" name="Google Shape;153;p2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Key features of the Mentcare system</a:t>
            </a:r>
            <a:endParaRPr/>
          </a:p>
        </p:txBody>
      </p:sp>
      <p:sp>
        <p:nvSpPr>
          <p:cNvPr id="159" name="Google Shape;159;p25"/>
          <p:cNvSpPr txBox="1"/>
          <p:nvPr>
            <p:ph idx="1" type="body"/>
          </p:nvPr>
        </p:nvSpPr>
        <p:spPr>
          <a:xfrm>
            <a:off x="457200" y="1200150"/>
            <a:ext cx="8474100" cy="3394500"/>
          </a:xfrm>
          <a:prstGeom prst="rect">
            <a:avLst/>
          </a:prstGeom>
          <a:noFill/>
          <a:ln>
            <a:noFill/>
          </a:ln>
        </p:spPr>
        <p:txBody>
          <a:bodyPr anchorCtr="0" anchor="t" bIns="45700" lIns="91425" spcFirstLastPara="1" rIns="91425" wrap="square" tIns="45700">
            <a:normAutofit fontScale="77500" lnSpcReduction="20000"/>
          </a:bodyPr>
          <a:lstStyle/>
          <a:p>
            <a:pPr indent="-308610" lvl="0" marL="342900" rtl="0" algn="l">
              <a:spcBef>
                <a:spcPts val="0"/>
              </a:spcBef>
              <a:spcAft>
                <a:spcPts val="0"/>
              </a:spcAft>
              <a:buClr>
                <a:srgbClr val="46424D"/>
              </a:buClr>
              <a:buSzPct val="100000"/>
              <a:buFont typeface="Noto Sans Symbols"/>
              <a:buChar char="✧"/>
            </a:pPr>
            <a:r>
              <a:rPr lang="en"/>
              <a:t>Individual care management </a:t>
            </a:r>
            <a:endParaRPr/>
          </a:p>
          <a:p>
            <a:pPr indent="-257175" lvl="1" marL="742950" rtl="0" algn="l">
              <a:spcBef>
                <a:spcPts val="900"/>
              </a:spcBef>
              <a:spcAft>
                <a:spcPts val="0"/>
              </a:spcAft>
              <a:buClr>
                <a:srgbClr val="46424D"/>
              </a:buClr>
              <a:buSzPct val="100000"/>
              <a:buChar char="▪"/>
            </a:pPr>
            <a:r>
              <a:rPr lang="en"/>
              <a:t>Clinicians can create records for patients, edit the information in the system, view patient history, etc. The system supports data summaries so that doctors can quickly learn about the key problems and treatments that have been prescribed.</a:t>
            </a:r>
            <a:endParaRPr/>
          </a:p>
          <a:p>
            <a:pPr indent="-308610" lvl="0" marL="342900" rtl="0" algn="l">
              <a:spcBef>
                <a:spcPts val="900"/>
              </a:spcBef>
              <a:spcAft>
                <a:spcPts val="0"/>
              </a:spcAft>
              <a:buClr>
                <a:srgbClr val="46424D"/>
              </a:buClr>
              <a:buSzPct val="100000"/>
              <a:buFont typeface="Noto Sans Symbols"/>
              <a:buChar char="✧"/>
            </a:pPr>
            <a:r>
              <a:rPr lang="en"/>
              <a:t>Patient monitoring </a:t>
            </a:r>
            <a:endParaRPr/>
          </a:p>
          <a:p>
            <a:pPr indent="-257175" lvl="1" marL="742950" rtl="0" algn="l">
              <a:spcBef>
                <a:spcPts val="900"/>
              </a:spcBef>
              <a:spcAft>
                <a:spcPts val="0"/>
              </a:spcAft>
              <a:buClr>
                <a:srgbClr val="46424D"/>
              </a:buClr>
              <a:buSzPct val="100000"/>
              <a:buChar char="▪"/>
            </a:pPr>
            <a:r>
              <a:rPr lang="en"/>
              <a:t>The system monitors the records of patients that are involved in treatment and issues warnings if possible problems are detected. </a:t>
            </a:r>
            <a:endParaRPr/>
          </a:p>
          <a:p>
            <a:pPr indent="-308610" lvl="0" marL="342900" rtl="0" algn="l">
              <a:spcBef>
                <a:spcPts val="900"/>
              </a:spcBef>
              <a:spcAft>
                <a:spcPts val="0"/>
              </a:spcAft>
              <a:buClr>
                <a:srgbClr val="46424D"/>
              </a:buClr>
              <a:buSzPct val="100000"/>
              <a:buFont typeface="Noto Sans Symbols"/>
              <a:buChar char="✧"/>
            </a:pPr>
            <a:r>
              <a:rPr lang="en"/>
              <a:t>Administrative reporting </a:t>
            </a:r>
            <a:endParaRPr/>
          </a:p>
          <a:p>
            <a:pPr indent="-257175" lvl="1" marL="742950" rtl="0" algn="l">
              <a:spcBef>
                <a:spcPts val="900"/>
              </a:spcBef>
              <a:spcAft>
                <a:spcPts val="0"/>
              </a:spcAft>
              <a:buClr>
                <a:srgbClr val="46424D"/>
              </a:buClr>
              <a:buSzPct val="100000"/>
              <a:buChar char="▪"/>
            </a:pPr>
            <a:r>
              <a:rPr lang="en"/>
              <a:t>The system generates monthly management reports showing the number of patients treated at each clinic, the number of patients who have entered and left the care system, number of patients sectioned, the drugs prescribed and their costs, etc. </a:t>
            </a:r>
            <a:endParaRPr/>
          </a:p>
        </p:txBody>
      </p:sp>
      <p:sp>
        <p:nvSpPr>
          <p:cNvPr id="160" name="Google Shape;160;p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61" name="Google Shape;161;p2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62" name="Google Shape;162;p2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Mentcare system concerns</a:t>
            </a:r>
            <a:endParaRPr/>
          </a:p>
        </p:txBody>
      </p:sp>
      <p:sp>
        <p:nvSpPr>
          <p:cNvPr id="168" name="Google Shape;168;p2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85000" lnSpcReduction="10000"/>
          </a:bodyPr>
          <a:lstStyle/>
          <a:p>
            <a:pPr indent="-320040" lvl="0" marL="342900" rtl="0" algn="l">
              <a:spcBef>
                <a:spcPts val="0"/>
              </a:spcBef>
              <a:spcAft>
                <a:spcPts val="0"/>
              </a:spcAft>
              <a:buClr>
                <a:srgbClr val="46424D"/>
              </a:buClr>
              <a:buSzPct val="100000"/>
              <a:buFont typeface="Noto Sans Symbols"/>
              <a:buChar char="✧"/>
            </a:pPr>
            <a:r>
              <a:rPr lang="en"/>
              <a:t>Privacy</a:t>
            </a:r>
            <a:endParaRPr/>
          </a:p>
          <a:p>
            <a:pPr indent="-266700" lvl="1" marL="742950" rtl="0" algn="l">
              <a:spcBef>
                <a:spcPts val="900"/>
              </a:spcBef>
              <a:spcAft>
                <a:spcPts val="0"/>
              </a:spcAft>
              <a:buClr>
                <a:srgbClr val="46424D"/>
              </a:buClr>
              <a:buSzPct val="100000"/>
              <a:buChar char="▪"/>
            </a:pPr>
            <a:r>
              <a:rPr lang="en"/>
              <a:t>It is essential that patient information is confidential and is never disclosed to anyone apart from authorised medical staff and the patient themselves. </a:t>
            </a:r>
            <a:endParaRPr/>
          </a:p>
          <a:p>
            <a:pPr indent="-320040" lvl="0" marL="342900" rtl="0" algn="l">
              <a:spcBef>
                <a:spcPts val="900"/>
              </a:spcBef>
              <a:spcAft>
                <a:spcPts val="0"/>
              </a:spcAft>
              <a:buClr>
                <a:srgbClr val="46424D"/>
              </a:buClr>
              <a:buSzPct val="100000"/>
              <a:buFont typeface="Noto Sans Symbols"/>
              <a:buChar char="✧"/>
            </a:pPr>
            <a:r>
              <a:rPr lang="en"/>
              <a:t>Safety</a:t>
            </a:r>
            <a:endParaRPr/>
          </a:p>
          <a:p>
            <a:pPr indent="-266700" lvl="1" marL="742950" rtl="0" algn="l">
              <a:spcBef>
                <a:spcPts val="900"/>
              </a:spcBef>
              <a:spcAft>
                <a:spcPts val="0"/>
              </a:spcAft>
              <a:buClr>
                <a:srgbClr val="46424D"/>
              </a:buClr>
              <a:buSzPct val="100000"/>
              <a:buChar char="▪"/>
            </a:pPr>
            <a:r>
              <a:rPr lang="en"/>
              <a:t>Some mental illnesses cause patients to become suicidal or a danger to other people. Wherever possible, the system should warn medical staff about potentially suicidal or dangerous patients. </a:t>
            </a:r>
            <a:endParaRPr/>
          </a:p>
          <a:p>
            <a:pPr indent="-266700" lvl="1" marL="742950" rtl="0" algn="l">
              <a:spcBef>
                <a:spcPts val="600"/>
              </a:spcBef>
              <a:spcAft>
                <a:spcPts val="0"/>
              </a:spcAft>
              <a:buClr>
                <a:srgbClr val="46424D"/>
              </a:buClr>
              <a:buSzPct val="100000"/>
              <a:buChar char="▪"/>
            </a:pPr>
            <a:r>
              <a:rPr lang="en"/>
              <a:t>The system must be available when needed otherwise safety may be compromised and it may be impossible to prescribe the correct medication to patients. </a:t>
            </a:r>
            <a:endParaRPr/>
          </a:p>
        </p:txBody>
      </p:sp>
      <p:sp>
        <p:nvSpPr>
          <p:cNvPr id="169" name="Google Shape;169;p2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70" name="Google Shape;170;p2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71" name="Google Shape;171;p2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Wilderness weather station</a:t>
            </a:r>
            <a:endParaRPr/>
          </a:p>
        </p:txBody>
      </p:sp>
      <p:sp>
        <p:nvSpPr>
          <p:cNvPr id="177" name="Google Shape;177;p27"/>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70000" lnSpcReduction="10000"/>
          </a:bodyPr>
          <a:lstStyle/>
          <a:p>
            <a:pPr indent="-297180" lvl="0" marL="342900" rtl="0" algn="l">
              <a:spcBef>
                <a:spcPts val="0"/>
              </a:spcBef>
              <a:spcAft>
                <a:spcPts val="0"/>
              </a:spcAft>
              <a:buClr>
                <a:srgbClr val="46424D"/>
              </a:buClr>
              <a:buSzPct val="100000"/>
              <a:buFont typeface="Noto Sans Symbols"/>
              <a:buChar char="✧"/>
            </a:pPr>
            <a:r>
              <a:rPr lang="en"/>
              <a:t>The government of a country with large areas of wilderness decides to deploy several hundred weather stations in remote areas. </a:t>
            </a:r>
            <a:endParaRPr/>
          </a:p>
          <a:p>
            <a:pPr indent="-297180" lvl="0" marL="342900" rtl="0" algn="l">
              <a:spcBef>
                <a:spcPts val="1200"/>
              </a:spcBef>
              <a:spcAft>
                <a:spcPts val="0"/>
              </a:spcAft>
              <a:buClr>
                <a:srgbClr val="46424D"/>
              </a:buClr>
              <a:buSzPct val="100000"/>
              <a:buFont typeface="Noto Sans Symbols"/>
              <a:buChar char="✧"/>
            </a:pPr>
            <a:r>
              <a:rPr lang="en"/>
              <a:t>Weather stations collect data from a set of instruments that measure temperature and pressure, sunshine, rainfall, wind speed and wind direction.</a:t>
            </a:r>
            <a:endParaRPr/>
          </a:p>
          <a:p>
            <a:pPr indent="-247650" lvl="1" marL="742950" rtl="0" algn="l">
              <a:spcBef>
                <a:spcPts val="900"/>
              </a:spcBef>
              <a:spcAft>
                <a:spcPts val="0"/>
              </a:spcAft>
              <a:buClr>
                <a:srgbClr val="46424D"/>
              </a:buClr>
              <a:buSzPct val="100000"/>
              <a:buChar char="▪"/>
            </a:pPr>
            <a:r>
              <a:rPr lang="en"/>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endParaRPr/>
          </a:p>
          <a:p>
            <a:pPr indent="-297180" lvl="0" marL="342900" rtl="0" algn="l">
              <a:spcBef>
                <a:spcPts val="900"/>
              </a:spcBef>
              <a:spcAft>
                <a:spcPts val="0"/>
              </a:spcAft>
              <a:buClr>
                <a:srgbClr val="46424D"/>
              </a:buClr>
              <a:buSzPct val="100000"/>
              <a:buFont typeface="Noto Sans Symbols"/>
              <a:buChar char="✧"/>
            </a:pPr>
            <a:r>
              <a:rPr lang="en"/>
              <a:t> </a:t>
            </a:r>
            <a:endParaRPr/>
          </a:p>
          <a:p>
            <a:pPr indent="-190500" lvl="0" marL="342900" rtl="0" algn="l">
              <a:spcBef>
                <a:spcPts val="1200"/>
              </a:spcBef>
              <a:spcAft>
                <a:spcPts val="0"/>
              </a:spcAft>
              <a:buClr>
                <a:srgbClr val="46424D"/>
              </a:buClr>
              <a:buSzPct val="100000"/>
              <a:buFont typeface="Noto Sans Symbols"/>
              <a:buNone/>
            </a:pPr>
            <a:r>
              <a:t/>
            </a:r>
            <a:endParaRPr/>
          </a:p>
        </p:txBody>
      </p:sp>
      <p:sp>
        <p:nvSpPr>
          <p:cNvPr id="178" name="Google Shape;178;p2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79" name="Google Shape;179;p2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80" name="Google Shape;180;p2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The weather station’s environment </a:t>
            </a:r>
            <a:endParaRPr/>
          </a:p>
        </p:txBody>
      </p:sp>
      <p:pic>
        <p:nvPicPr>
          <p:cNvPr descr="1.7 WeatherStationEnv.eps" id="186" name="Google Shape;186;p28"/>
          <p:cNvPicPr preferRelativeResize="0"/>
          <p:nvPr/>
        </p:nvPicPr>
        <p:blipFill rotWithShape="1">
          <a:blip r:embed="rId3">
            <a:alphaModFix/>
          </a:blip>
          <a:srcRect b="0" l="0" r="0" t="0"/>
          <a:stretch/>
        </p:blipFill>
        <p:spPr>
          <a:xfrm>
            <a:off x="1932944" y="1736024"/>
            <a:ext cx="3869806" cy="1868182"/>
          </a:xfrm>
          <a:prstGeom prst="rect">
            <a:avLst/>
          </a:prstGeom>
          <a:noFill/>
          <a:ln>
            <a:noFill/>
          </a:ln>
        </p:spPr>
      </p:pic>
      <p:sp>
        <p:nvSpPr>
          <p:cNvPr id="187" name="Google Shape;187;p2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88" name="Google Shape;188;p2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89" name="Google Shape;189;p2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Weather information system</a:t>
            </a:r>
            <a:endParaRPr/>
          </a:p>
        </p:txBody>
      </p:sp>
      <p:sp>
        <p:nvSpPr>
          <p:cNvPr id="195" name="Google Shape;195;p29"/>
          <p:cNvSpPr txBox="1"/>
          <p:nvPr>
            <p:ph idx="1" type="body"/>
          </p:nvPr>
        </p:nvSpPr>
        <p:spPr>
          <a:xfrm>
            <a:off x="283745" y="1200150"/>
            <a:ext cx="8607000" cy="3394500"/>
          </a:xfrm>
          <a:prstGeom prst="rect">
            <a:avLst/>
          </a:prstGeom>
          <a:noFill/>
          <a:ln>
            <a:noFill/>
          </a:ln>
        </p:spPr>
        <p:txBody>
          <a:bodyPr anchorCtr="0" anchor="t" bIns="45700" lIns="91425" spcFirstLastPara="1" rIns="91425" wrap="square" tIns="45700">
            <a:normAutofit fontScale="85000" lnSpcReduction="10000"/>
          </a:bodyPr>
          <a:lstStyle/>
          <a:p>
            <a:pPr indent="-320040" lvl="0" marL="342900" rtl="0" algn="l">
              <a:spcBef>
                <a:spcPts val="0"/>
              </a:spcBef>
              <a:spcAft>
                <a:spcPts val="0"/>
              </a:spcAft>
              <a:buClr>
                <a:srgbClr val="46424D"/>
              </a:buClr>
              <a:buSzPct val="100000"/>
              <a:buFont typeface="Noto Sans Symbols"/>
              <a:buChar char="✧"/>
            </a:pPr>
            <a:r>
              <a:rPr lang="en"/>
              <a:t>	The weather station system </a:t>
            </a:r>
            <a:endParaRPr/>
          </a:p>
          <a:p>
            <a:pPr indent="-266700" lvl="1" marL="742950" rtl="0" algn="l">
              <a:spcBef>
                <a:spcPts val="900"/>
              </a:spcBef>
              <a:spcAft>
                <a:spcPts val="0"/>
              </a:spcAft>
              <a:buClr>
                <a:srgbClr val="46424D"/>
              </a:buClr>
              <a:buSzPct val="100000"/>
              <a:buChar char="▪"/>
            </a:pPr>
            <a:r>
              <a:rPr lang="en"/>
              <a:t>This is responsible for collecting weather data, carrying out some initial data processing and transmitting it to the data management system.</a:t>
            </a:r>
            <a:endParaRPr/>
          </a:p>
          <a:p>
            <a:pPr indent="-320040" lvl="0" marL="342900" rtl="0" algn="l">
              <a:spcBef>
                <a:spcPts val="900"/>
              </a:spcBef>
              <a:spcAft>
                <a:spcPts val="0"/>
              </a:spcAft>
              <a:buClr>
                <a:srgbClr val="46424D"/>
              </a:buClr>
              <a:buSzPct val="100000"/>
              <a:buFont typeface="Noto Sans Symbols"/>
              <a:buChar char="✧"/>
            </a:pPr>
            <a:r>
              <a:rPr lang="en"/>
              <a:t>The data management and archiving system </a:t>
            </a:r>
            <a:endParaRPr/>
          </a:p>
          <a:p>
            <a:pPr indent="-266700" lvl="1" marL="742950" rtl="0" algn="l">
              <a:spcBef>
                <a:spcPts val="900"/>
              </a:spcBef>
              <a:spcAft>
                <a:spcPts val="0"/>
              </a:spcAft>
              <a:buClr>
                <a:srgbClr val="46424D"/>
              </a:buClr>
              <a:buSzPct val="100000"/>
              <a:buChar char="▪"/>
            </a:pPr>
            <a:r>
              <a:rPr lang="en"/>
              <a:t>This system collects the data from all of the wilderness weather stations, carries out data processing and analysis and archives the data.</a:t>
            </a:r>
            <a:endParaRPr/>
          </a:p>
          <a:p>
            <a:pPr indent="-320040" lvl="0" marL="342900" rtl="0" algn="l">
              <a:spcBef>
                <a:spcPts val="900"/>
              </a:spcBef>
              <a:spcAft>
                <a:spcPts val="0"/>
              </a:spcAft>
              <a:buClr>
                <a:srgbClr val="46424D"/>
              </a:buClr>
              <a:buSzPct val="100000"/>
              <a:buFont typeface="Noto Sans Symbols"/>
              <a:buChar char="✧"/>
            </a:pPr>
            <a:r>
              <a:rPr lang="en"/>
              <a:t>The station maintenance system </a:t>
            </a:r>
            <a:endParaRPr/>
          </a:p>
          <a:p>
            <a:pPr indent="-266700" lvl="1" marL="742950" rtl="0" algn="l">
              <a:spcBef>
                <a:spcPts val="900"/>
              </a:spcBef>
              <a:spcAft>
                <a:spcPts val="0"/>
              </a:spcAft>
              <a:buClr>
                <a:srgbClr val="46424D"/>
              </a:buClr>
              <a:buSzPct val="100000"/>
              <a:buChar char="▪"/>
            </a:pPr>
            <a:r>
              <a:rPr lang="en"/>
              <a:t>This system can communicate by satellite with all wilderness weather stations to monitor the health of these systems and provide reports of problems. </a:t>
            </a:r>
            <a:endParaRPr/>
          </a:p>
        </p:txBody>
      </p:sp>
      <p:sp>
        <p:nvSpPr>
          <p:cNvPr id="196" name="Google Shape;196;p2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197" name="Google Shape;197;p2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198" name="Google Shape;198;p2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Additional software functionality</a:t>
            </a:r>
            <a:endParaRPr/>
          </a:p>
        </p:txBody>
      </p:sp>
      <p:sp>
        <p:nvSpPr>
          <p:cNvPr id="204" name="Google Shape;204;p3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77500" lnSpcReduction="10000"/>
          </a:bodyPr>
          <a:lstStyle/>
          <a:p>
            <a:pPr indent="-308610" lvl="0" marL="342900" rtl="0" algn="l">
              <a:spcBef>
                <a:spcPts val="0"/>
              </a:spcBef>
              <a:spcAft>
                <a:spcPts val="0"/>
              </a:spcAft>
              <a:buClr>
                <a:srgbClr val="46424D"/>
              </a:buClr>
              <a:buSzPct val="100000"/>
              <a:buFont typeface="Noto Sans Symbols"/>
              <a:buChar char="✧"/>
            </a:pPr>
            <a:r>
              <a:rPr lang="en"/>
              <a:t>Monitor the instruments, power and communication hardware and report faults to the management system.</a:t>
            </a:r>
            <a:endParaRPr/>
          </a:p>
          <a:p>
            <a:pPr indent="-308610" lvl="0" marL="342900" rtl="0" algn="l">
              <a:spcBef>
                <a:spcPts val="1200"/>
              </a:spcBef>
              <a:spcAft>
                <a:spcPts val="0"/>
              </a:spcAft>
              <a:buClr>
                <a:srgbClr val="46424D"/>
              </a:buClr>
              <a:buSzPct val="100000"/>
              <a:buFont typeface="Noto Sans Symbols"/>
              <a:buChar char="✧"/>
            </a:pPr>
            <a:r>
              <a:rPr lang="en"/>
              <a:t>Manage the system power, ensuring that batteries are charged whenever the environmental conditions permit but also that generators are shut down in potentially damaging weather conditions, such as high wind.</a:t>
            </a:r>
            <a:endParaRPr/>
          </a:p>
          <a:p>
            <a:pPr indent="-308610" lvl="0" marL="342900" rtl="0" algn="l">
              <a:spcBef>
                <a:spcPts val="1200"/>
              </a:spcBef>
              <a:spcAft>
                <a:spcPts val="0"/>
              </a:spcAft>
              <a:buClr>
                <a:srgbClr val="46424D"/>
              </a:buClr>
              <a:buSzPct val="100000"/>
              <a:buFont typeface="Noto Sans Symbols"/>
              <a:buChar char="✧"/>
            </a:pPr>
            <a:r>
              <a:rPr lang="en"/>
              <a:t>Support dynamic reconfiguration where parts of the software are replaced with new versions and where backup instruments are switched into the system in the event of system failure.</a:t>
            </a:r>
            <a:endParaRPr/>
          </a:p>
          <a:p>
            <a:pPr indent="-190500" lvl="0" marL="342900" rtl="0" algn="l">
              <a:spcBef>
                <a:spcPts val="1200"/>
              </a:spcBef>
              <a:spcAft>
                <a:spcPts val="0"/>
              </a:spcAft>
              <a:buClr>
                <a:srgbClr val="46424D"/>
              </a:buClr>
              <a:buSzPct val="100000"/>
              <a:buFont typeface="Noto Sans Symbols"/>
              <a:buNone/>
            </a:pPr>
            <a:r>
              <a:t/>
            </a:r>
            <a:endParaRPr/>
          </a:p>
        </p:txBody>
      </p:sp>
      <p:sp>
        <p:nvSpPr>
          <p:cNvPr id="205" name="Google Shape;205;p3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206" name="Google Shape;206;p3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207" name="Google Shape;207;p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iLearn: A digital learning environment</a:t>
            </a:r>
            <a:endParaRPr/>
          </a:p>
        </p:txBody>
      </p:sp>
      <p:sp>
        <p:nvSpPr>
          <p:cNvPr id="213" name="Google Shape;213;p3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92500" lnSpcReduction="20000"/>
          </a:bodyPr>
          <a:lstStyle/>
          <a:p>
            <a:pPr indent="-331470" lvl="0" marL="342900" rtl="0" algn="l">
              <a:spcBef>
                <a:spcPts val="0"/>
              </a:spcBef>
              <a:spcAft>
                <a:spcPts val="0"/>
              </a:spcAft>
              <a:buClr>
                <a:srgbClr val="46424D"/>
              </a:buClr>
              <a:buSzPct val="100000"/>
              <a:buFont typeface="Noto Sans Symbols"/>
              <a:buChar char="✧"/>
            </a:pPr>
            <a:r>
              <a:rPr lang="en"/>
              <a:t>A digital learning environment is a framework in which a set of general-purpose and specially designed tools for learning may be embedded plus a set of applications that are geared to the needs of the learners using the system. </a:t>
            </a:r>
            <a:endParaRPr/>
          </a:p>
          <a:p>
            <a:pPr indent="-331470" lvl="0" marL="342900" rtl="0" algn="l">
              <a:spcBef>
                <a:spcPts val="1200"/>
              </a:spcBef>
              <a:spcAft>
                <a:spcPts val="0"/>
              </a:spcAft>
              <a:buClr>
                <a:srgbClr val="46424D"/>
              </a:buClr>
              <a:buSzPct val="100000"/>
              <a:buFont typeface="Noto Sans Symbols"/>
              <a:buChar char="✧"/>
            </a:pPr>
            <a:r>
              <a:rPr lang="en"/>
              <a:t>The tools included in each version of the environment are chosen by teachers and learners to suit their specific needs. </a:t>
            </a:r>
            <a:endParaRPr/>
          </a:p>
          <a:p>
            <a:pPr indent="-276225" lvl="1" marL="742950" rtl="0" algn="l">
              <a:spcBef>
                <a:spcPts val="900"/>
              </a:spcBef>
              <a:spcAft>
                <a:spcPts val="0"/>
              </a:spcAft>
              <a:buClr>
                <a:srgbClr val="46424D"/>
              </a:buClr>
              <a:buSzPct val="100000"/>
              <a:buChar char="▪"/>
            </a:pPr>
            <a:r>
              <a:rPr lang="en"/>
              <a:t>These can be general applications such as spreadsheets, learning management applications such as a Virtual Learning Environment (VLE) to manage homework submission and assessment, games and simulations. </a:t>
            </a:r>
            <a:endParaRPr/>
          </a:p>
        </p:txBody>
      </p:sp>
      <p:sp>
        <p:nvSpPr>
          <p:cNvPr id="214" name="Google Shape;214;p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215" name="Google Shape;215;p3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216" name="Google Shape;216;p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Service-oriented systems</a:t>
            </a:r>
            <a:endParaRPr/>
          </a:p>
        </p:txBody>
      </p:sp>
      <p:sp>
        <p:nvSpPr>
          <p:cNvPr id="222" name="Google Shape;222;p3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rgbClr val="46424D"/>
              </a:buClr>
              <a:buSzPts val="2400"/>
              <a:buFont typeface="Noto Sans Symbols"/>
              <a:buChar char="✧"/>
            </a:pPr>
            <a:r>
              <a:rPr lang="en"/>
              <a:t>The system is a service-oriented system with all system components considered to be a replaceable service.</a:t>
            </a:r>
            <a:endParaRPr/>
          </a:p>
          <a:p>
            <a:pPr indent="-342900" lvl="0" marL="342900" rtl="0" algn="l">
              <a:spcBef>
                <a:spcPts val="1200"/>
              </a:spcBef>
              <a:spcAft>
                <a:spcPts val="0"/>
              </a:spcAft>
              <a:buClr>
                <a:srgbClr val="46424D"/>
              </a:buClr>
              <a:buSzPts val="2400"/>
              <a:buFont typeface="Noto Sans Symbols"/>
              <a:buChar char="✧"/>
            </a:pPr>
            <a:r>
              <a:rPr lang="en"/>
              <a:t>This allows the system to be updated incrementally as new services become available.</a:t>
            </a:r>
            <a:endParaRPr/>
          </a:p>
          <a:p>
            <a:pPr indent="-342900" lvl="0" marL="342900" rtl="0" algn="l">
              <a:spcBef>
                <a:spcPts val="1200"/>
              </a:spcBef>
              <a:spcAft>
                <a:spcPts val="0"/>
              </a:spcAft>
              <a:buClr>
                <a:srgbClr val="46424D"/>
              </a:buClr>
              <a:buSzPts val="2400"/>
              <a:buFont typeface="Noto Sans Symbols"/>
              <a:buChar char="✧"/>
            </a:pPr>
            <a:r>
              <a:rPr lang="en"/>
              <a:t>It also makes it possible to rapidly configure the system to create versions of the environment for different groups such as very young children who cannot read, senior students, etc. </a:t>
            </a:r>
            <a:endParaRPr/>
          </a:p>
        </p:txBody>
      </p:sp>
      <p:sp>
        <p:nvSpPr>
          <p:cNvPr id="223" name="Google Shape;223;p3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224" name="Google Shape;224;p3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225" name="Google Shape;225;p3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iLearn services</a:t>
            </a:r>
            <a:endParaRPr/>
          </a:p>
        </p:txBody>
      </p:sp>
      <p:sp>
        <p:nvSpPr>
          <p:cNvPr id="231" name="Google Shape;231;p3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85000" lnSpcReduction="10000"/>
          </a:bodyPr>
          <a:lstStyle/>
          <a:p>
            <a:pPr indent="-320040" lvl="0" marL="342900" rtl="0" algn="l">
              <a:spcBef>
                <a:spcPts val="0"/>
              </a:spcBef>
              <a:spcAft>
                <a:spcPts val="0"/>
              </a:spcAft>
              <a:buClr>
                <a:srgbClr val="46424D"/>
              </a:buClr>
              <a:buSzPct val="100000"/>
              <a:buFont typeface="Noto Sans Symbols"/>
              <a:buChar char="✧"/>
            </a:pPr>
            <a:r>
              <a:rPr i="1" lang="en"/>
              <a:t>Utility services</a:t>
            </a:r>
            <a:r>
              <a:rPr lang="en"/>
              <a:t> that provide basic application-independent functionality and which may be used by other services in the system. </a:t>
            </a:r>
            <a:endParaRPr/>
          </a:p>
          <a:p>
            <a:pPr indent="-320040" lvl="0" marL="342900" rtl="0" algn="l">
              <a:spcBef>
                <a:spcPts val="1200"/>
              </a:spcBef>
              <a:spcAft>
                <a:spcPts val="0"/>
              </a:spcAft>
              <a:buClr>
                <a:srgbClr val="46424D"/>
              </a:buClr>
              <a:buSzPct val="100000"/>
              <a:buFont typeface="Noto Sans Symbols"/>
              <a:buChar char="✧"/>
            </a:pPr>
            <a:r>
              <a:rPr i="1" lang="en"/>
              <a:t>Application services</a:t>
            </a:r>
            <a:r>
              <a:rPr lang="en"/>
              <a:t> that provide specific applications such as email, conferencing, photo sharing etc. and access to specific educational content such as scientific films or historical resources. </a:t>
            </a:r>
            <a:endParaRPr/>
          </a:p>
          <a:p>
            <a:pPr indent="-320040" lvl="0" marL="342900" rtl="0" algn="l">
              <a:spcBef>
                <a:spcPts val="1200"/>
              </a:spcBef>
              <a:spcAft>
                <a:spcPts val="0"/>
              </a:spcAft>
              <a:buClr>
                <a:srgbClr val="46424D"/>
              </a:buClr>
              <a:buSzPct val="100000"/>
              <a:buFont typeface="Noto Sans Symbols"/>
              <a:buChar char="✧"/>
            </a:pPr>
            <a:r>
              <a:rPr i="1" lang="en"/>
              <a:t>Configuration services</a:t>
            </a:r>
            <a:r>
              <a:rPr lang="en"/>
              <a:t> that are used to adapt the environment with a specific set of application services and do define how services are shared between students, teachers and their parents. </a:t>
            </a:r>
            <a:endParaRPr/>
          </a:p>
        </p:txBody>
      </p:sp>
      <p:sp>
        <p:nvSpPr>
          <p:cNvPr id="232" name="Google Shape;232;p3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233" name="Google Shape;233;p3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234" name="Google Shape;234;p3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iLearn architecture</a:t>
            </a:r>
            <a:endParaRPr/>
          </a:p>
        </p:txBody>
      </p:sp>
      <p:pic>
        <p:nvPicPr>
          <p:cNvPr descr="1.8 iLearn architecture.eps" id="240" name="Google Shape;240;p34"/>
          <p:cNvPicPr preferRelativeResize="0"/>
          <p:nvPr/>
        </p:nvPicPr>
        <p:blipFill rotWithShape="1">
          <a:blip r:embed="rId3">
            <a:alphaModFix/>
          </a:blip>
          <a:srcRect b="0" l="0" r="0" t="0"/>
          <a:stretch/>
        </p:blipFill>
        <p:spPr>
          <a:xfrm>
            <a:off x="1552701" y="1154099"/>
            <a:ext cx="4399662" cy="3660786"/>
          </a:xfrm>
          <a:prstGeom prst="rect">
            <a:avLst/>
          </a:prstGeom>
          <a:noFill/>
          <a:ln>
            <a:noFill/>
          </a:ln>
        </p:spPr>
      </p:pic>
      <p:sp>
        <p:nvSpPr>
          <p:cNvPr id="241" name="Google Shape;241;p3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242" name="Google Shape;242;p3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243" name="Google Shape;243;p3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iLearn service integration</a:t>
            </a:r>
            <a:endParaRPr/>
          </a:p>
        </p:txBody>
      </p:sp>
      <p:sp>
        <p:nvSpPr>
          <p:cNvPr id="249" name="Google Shape;249;p3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85000" lnSpcReduction="10000"/>
          </a:bodyPr>
          <a:lstStyle/>
          <a:p>
            <a:pPr indent="-320040" lvl="0" marL="342900" rtl="0" algn="l">
              <a:spcBef>
                <a:spcPts val="0"/>
              </a:spcBef>
              <a:spcAft>
                <a:spcPts val="0"/>
              </a:spcAft>
              <a:buClr>
                <a:srgbClr val="46424D"/>
              </a:buClr>
              <a:buSzPct val="100000"/>
              <a:buFont typeface="Noto Sans Symbols"/>
              <a:buChar char="✧"/>
            </a:pPr>
            <a:r>
              <a:rPr i="1" lang="en"/>
              <a:t>Integrated services </a:t>
            </a:r>
            <a:r>
              <a:rPr lang="en"/>
              <a:t>are services which offer an API (application programming interface) and which can be accessed by other services through that API.  Direct service-to-service communication is therefore possible. </a:t>
            </a:r>
            <a:endParaRPr/>
          </a:p>
          <a:p>
            <a:pPr indent="-320040" lvl="0" marL="342900" rtl="0" algn="l">
              <a:spcBef>
                <a:spcPts val="1200"/>
              </a:spcBef>
              <a:spcAft>
                <a:spcPts val="0"/>
              </a:spcAft>
              <a:buClr>
                <a:srgbClr val="46424D"/>
              </a:buClr>
              <a:buSzPct val="100000"/>
              <a:buFont typeface="Noto Sans Symbols"/>
              <a:buChar char="✧"/>
            </a:pPr>
            <a:r>
              <a:rPr i="1" lang="en"/>
              <a:t>Independent services</a:t>
            </a:r>
            <a:r>
              <a:rPr lang="en"/>
              <a:t> are services which are simply accessed through a browser interface and which operate independently of other services. Information can only be shared with other services through explicit user actions such as copy and paste; re-authentication may be required for each independent service. </a:t>
            </a:r>
            <a:endParaRPr/>
          </a:p>
        </p:txBody>
      </p:sp>
      <p:sp>
        <p:nvSpPr>
          <p:cNvPr id="250" name="Google Shape;250;p3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251" name="Google Shape;251;p3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252" name="Google Shape;252;p3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Key points</a:t>
            </a:r>
            <a:endParaRPr/>
          </a:p>
        </p:txBody>
      </p:sp>
      <p:sp>
        <p:nvSpPr>
          <p:cNvPr id="258" name="Google Shape;258;p3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92500" lnSpcReduction="10000"/>
          </a:bodyPr>
          <a:lstStyle/>
          <a:p>
            <a:pPr indent="-331470" lvl="0" marL="342900" rtl="0" algn="l">
              <a:spcBef>
                <a:spcPts val="0"/>
              </a:spcBef>
              <a:spcAft>
                <a:spcPts val="0"/>
              </a:spcAft>
              <a:buClr>
                <a:srgbClr val="46424D"/>
              </a:buClr>
              <a:buSzPct val="100000"/>
              <a:buFont typeface="Noto Sans Symbols"/>
              <a:buChar char="✧"/>
            </a:pPr>
            <a:r>
              <a:rPr lang="en"/>
              <a:t>Software engineering is an engineering discipline that is concerned with all aspects of software production.</a:t>
            </a:r>
            <a:endParaRPr/>
          </a:p>
          <a:p>
            <a:pPr indent="-331470" lvl="0" marL="342900" rtl="0" algn="l">
              <a:spcBef>
                <a:spcPts val="1200"/>
              </a:spcBef>
              <a:spcAft>
                <a:spcPts val="0"/>
              </a:spcAft>
              <a:buClr>
                <a:srgbClr val="46424D"/>
              </a:buClr>
              <a:buSzPct val="100000"/>
              <a:buFont typeface="Noto Sans Symbols"/>
              <a:buChar char="✧"/>
            </a:pPr>
            <a:r>
              <a:rPr lang="en"/>
              <a:t>Essential software product attributes are maintainability, dependability and security, efficiency and acceptability.</a:t>
            </a:r>
            <a:endParaRPr/>
          </a:p>
          <a:p>
            <a:pPr indent="-331470" lvl="0" marL="342900" rtl="0" algn="l">
              <a:spcBef>
                <a:spcPts val="1200"/>
              </a:spcBef>
              <a:spcAft>
                <a:spcPts val="0"/>
              </a:spcAft>
              <a:buClr>
                <a:srgbClr val="46424D"/>
              </a:buClr>
              <a:buSzPct val="100000"/>
              <a:buFont typeface="Noto Sans Symbols"/>
              <a:buChar char="✧"/>
            </a:pPr>
            <a:r>
              <a:rPr lang="en"/>
              <a:t>The high-level activities of specification, development, validation and evolution are part of all software processes.</a:t>
            </a:r>
            <a:endParaRPr/>
          </a:p>
          <a:p>
            <a:pPr indent="-331470" lvl="0" marL="342900" rtl="0" algn="l">
              <a:spcBef>
                <a:spcPts val="1200"/>
              </a:spcBef>
              <a:spcAft>
                <a:spcPts val="0"/>
              </a:spcAft>
              <a:buClr>
                <a:srgbClr val="46424D"/>
              </a:buClr>
              <a:buSzPct val="100000"/>
              <a:buFont typeface="Noto Sans Symbols"/>
              <a:buChar char="✧"/>
            </a:pPr>
            <a:r>
              <a:rPr lang="en"/>
              <a:t>The fundamental notions of software engineering are universally applicable to all types of system development.  </a:t>
            </a:r>
            <a:endParaRPr/>
          </a:p>
        </p:txBody>
      </p:sp>
      <p:sp>
        <p:nvSpPr>
          <p:cNvPr id="259" name="Google Shape;259;p3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260" name="Google Shape;260;p3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261" name="Google Shape;261;p3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7"/>
          <p:cNvSpPr txBox="1"/>
          <p:nvPr>
            <p:ph type="title"/>
          </p:nvPr>
        </p:nvSpPr>
        <p:spPr>
          <a:xfrm>
            <a:off x="457200" y="205978"/>
            <a:ext cx="7293300" cy="857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
              <a:t>Key points</a:t>
            </a:r>
            <a:endParaRPr/>
          </a:p>
        </p:txBody>
      </p:sp>
      <p:sp>
        <p:nvSpPr>
          <p:cNvPr id="267" name="Google Shape;267;p37"/>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70000" lnSpcReduction="20000"/>
          </a:bodyPr>
          <a:lstStyle/>
          <a:p>
            <a:pPr indent="-297180" lvl="0" marL="342900" rtl="0" algn="l">
              <a:spcBef>
                <a:spcPts val="0"/>
              </a:spcBef>
              <a:spcAft>
                <a:spcPts val="0"/>
              </a:spcAft>
              <a:buClr>
                <a:srgbClr val="46424D"/>
              </a:buClr>
              <a:buSzPct val="100000"/>
              <a:buFont typeface="Noto Sans Symbols"/>
              <a:buChar char="✧"/>
            </a:pPr>
            <a:r>
              <a:rPr lang="en"/>
              <a:t>There are many different types of system and each requires appropriate software engineering tools and techniques for their development. </a:t>
            </a:r>
            <a:endParaRPr/>
          </a:p>
          <a:p>
            <a:pPr indent="-297180" lvl="0" marL="342900" rtl="0" algn="l">
              <a:spcBef>
                <a:spcPts val="1200"/>
              </a:spcBef>
              <a:spcAft>
                <a:spcPts val="0"/>
              </a:spcAft>
              <a:buClr>
                <a:srgbClr val="46424D"/>
              </a:buClr>
              <a:buSzPct val="100000"/>
              <a:buFont typeface="Noto Sans Symbols"/>
              <a:buChar char="✧"/>
            </a:pPr>
            <a:r>
              <a:rPr lang="en"/>
              <a:t>The fundamental ideas of software engineering are applicable to all types of software system. </a:t>
            </a:r>
            <a:endParaRPr/>
          </a:p>
          <a:p>
            <a:pPr indent="-297180" lvl="0" marL="342900" rtl="0" algn="l">
              <a:spcBef>
                <a:spcPts val="1200"/>
              </a:spcBef>
              <a:spcAft>
                <a:spcPts val="0"/>
              </a:spcAft>
              <a:buClr>
                <a:srgbClr val="46424D"/>
              </a:buClr>
              <a:buSzPct val="100000"/>
              <a:buFont typeface="Noto Sans Symbols"/>
              <a:buChar char="✧"/>
            </a:pPr>
            <a:r>
              <a:rPr lang="en"/>
              <a:t>Software engineers have responsibilities to the engineering profession and society. They should not simply be concerned with technical issues.</a:t>
            </a:r>
            <a:endParaRPr/>
          </a:p>
          <a:p>
            <a:pPr indent="-297180" lvl="0" marL="342900" rtl="0" algn="l">
              <a:spcBef>
                <a:spcPts val="1200"/>
              </a:spcBef>
              <a:spcAft>
                <a:spcPts val="0"/>
              </a:spcAft>
              <a:buClr>
                <a:srgbClr val="46424D"/>
              </a:buClr>
              <a:buSzPct val="100000"/>
              <a:buFont typeface="Noto Sans Symbols"/>
              <a:buChar char="✧"/>
            </a:pPr>
            <a:r>
              <a:rPr lang="en"/>
              <a:t>Professional societies publish codes of conduct which set out the standards of behaviour expected of their members.</a:t>
            </a:r>
            <a:endParaRPr/>
          </a:p>
          <a:p>
            <a:pPr indent="-190500" lvl="0" marL="342900" rtl="0" algn="l">
              <a:spcBef>
                <a:spcPts val="1200"/>
              </a:spcBef>
              <a:spcAft>
                <a:spcPts val="0"/>
              </a:spcAft>
              <a:buClr>
                <a:srgbClr val="46424D"/>
              </a:buClr>
              <a:buSzPct val="100000"/>
              <a:buFont typeface="Noto Sans Symbols"/>
              <a:buNone/>
            </a:pPr>
            <a:r>
              <a:t/>
            </a:r>
            <a:endParaRPr/>
          </a:p>
          <a:p>
            <a:pPr indent="-342900" lvl="0" marL="342900" rtl="0" algn="l">
              <a:spcBef>
                <a:spcPts val="1200"/>
              </a:spcBef>
              <a:spcAft>
                <a:spcPts val="0"/>
              </a:spcAft>
              <a:buClr>
                <a:srgbClr val="46424D"/>
              </a:buClr>
              <a:buSzPct val="100000"/>
              <a:buNone/>
            </a:pPr>
            <a:r>
              <a:t/>
            </a:r>
            <a:endParaRPr/>
          </a:p>
        </p:txBody>
      </p:sp>
      <p:sp>
        <p:nvSpPr>
          <p:cNvPr id="268" name="Google Shape;268;p3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Chapter 1 Introduction</a:t>
            </a:r>
            <a:endParaRPr/>
          </a:p>
        </p:txBody>
      </p:sp>
      <p:sp>
        <p:nvSpPr>
          <p:cNvPr id="269" name="Google Shape;269;p3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30/10/2014</a:t>
            </a:r>
            <a:endParaRPr/>
          </a:p>
        </p:txBody>
      </p:sp>
      <p:sp>
        <p:nvSpPr>
          <p:cNvPr id="270" name="Google Shape;270;p3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