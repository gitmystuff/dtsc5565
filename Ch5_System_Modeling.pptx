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6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9503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assets/cover.jp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171432" y="2651760"/>
            <a:ext cx="2560320" cy="35661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03A">
              <a:alpha val="5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548640" y="1965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3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42316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Modeling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179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CSCE 5565 — Software Engineering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Topics Covered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Overview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3736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 Context models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 Interaction models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  Structural models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  Behavioral models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  Model-driven engineering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System Modeling?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Developing abstract models of a system, each presenting a different view or perspective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an abstraction — it deliberately simplifies and picks out the most salient characteristics, unlike an alternative representation that preserves everything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 an existing system clarify what it does and expose strengths/weaknesses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of a new system explain proposed requirements, support design discussion, and document the system for implementation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model-driven engineering, a complete or partial implementation can be generated directly from the model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Modeling Perspectives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79222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 txBox="1"/>
          <p:nvPr/>
        </p:nvSpPr>
        <p:spPr>
          <a:xfrm>
            <a:off x="548640" y="17922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73736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(external)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73736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environment of the system — what sits outside its boundary.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7980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8"/>
          <p:cNvSpPr txBox="1"/>
          <p:nvPr/>
        </p:nvSpPr>
        <p:spPr>
          <a:xfrm>
            <a:off x="54864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7432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7432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interactions between the system and its environment, or between its own components.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80390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 txBox="1"/>
          <p:nvPr/>
        </p:nvSpPr>
        <p:spPr>
          <a:xfrm>
            <a:off x="54864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74904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749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organization of the system, or the structure of the data it processes.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 txBox="1"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75488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47548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the dynamic behavior of the system and how it responds to events.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UML: Five Key Diagram Types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7218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 txBox="1"/>
          <p:nvPr/>
        </p:nvSpPr>
        <p:spPr>
          <a:xfrm>
            <a:off x="548640" y="1472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417320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diagrams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417320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activities involved in a process or in data processing.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368296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8"/>
          <p:cNvSpPr txBox="1"/>
          <p:nvPr/>
        </p:nvSpPr>
        <p:spPr>
          <a:xfrm>
            <a:off x="548640" y="2368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313432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313432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interactions between a system and its environment.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264408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 txBox="1"/>
          <p:nvPr/>
        </p:nvSpPr>
        <p:spPr>
          <a:xfrm>
            <a:off x="548640" y="32644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209544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209544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interactions between actors and the system, and between system components.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4160520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 txBox="1"/>
          <p:nvPr/>
        </p:nvSpPr>
        <p:spPr>
          <a:xfrm>
            <a:off x="5486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105656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4105656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object classes in a system and the associations between them.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5056632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Text 20"/>
          <p:cNvSpPr txBox="1"/>
          <p:nvPr/>
        </p:nvSpPr>
        <p:spPr>
          <a:xfrm>
            <a:off x="548640" y="50566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1143000" y="5001768"/>
            <a:ext cx="28346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diagrams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4069080" y="5001768"/>
            <a:ext cx="77724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how a system reacts to internal and external events.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Models Are Used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Introduction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facilitate discussion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may be incomplete, used informally — the norm in agile modeling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documentation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not be complete, but must be correct — an accurate use of notation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detailed specification for code generation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be both complete and correct, since source code is generated from them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Models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where the system ends and its environment begins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System Boundaries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5.1 Context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early decision: what functionality is inside the system vs. handled by its environment (manual process, another system)?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Sometimes the boundary is clear — e.g. automating an existing manual process keeps the same environment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times it's a genuine design choice made during requirements engineering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is not a value-free judgment — social and organizational factors (site politics, cost, who must be consulted) can shape where it's drawn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hape 5"/>
          <p:cNvSpPr/>
          <p:nvPr/>
        </p:nvSpPr>
        <p:spPr>
          <a:xfrm flipH="1" flipV="1">
            <a:off x="1828800" y="1463040"/>
            <a:ext cx="4206240" cy="21031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 flipH="1" flipV="1">
            <a:off x="4983480" y="1897380"/>
            <a:ext cx="1051560" cy="16687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 flipV="1">
            <a:off x="6035040" y="1097280"/>
            <a:ext cx="1554480" cy="24688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 flipV="1">
            <a:off x="6035040" y="2103120"/>
            <a:ext cx="4206240" cy="146304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6035040" y="3566160"/>
            <a:ext cx="4206240" cy="11887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H="1">
            <a:off x="3108960" y="3566160"/>
            <a:ext cx="2926080" cy="201168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Context Model: MHC-PMS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5.1 Context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846320" y="310896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901184" y="3108960"/>
            <a:ext cx="2267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MHC-PMS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45820" y="10058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900684" y="100584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4000500" y="1429512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4075938" y="140208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606540" y="6400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6661404" y="64008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9258300" y="164592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313164" y="164592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System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9258300" y="429768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 txBox="1"/>
          <p:nvPr/>
        </p:nvSpPr>
        <p:spPr>
          <a:xfrm>
            <a:off x="9313164" y="429768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Prescription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125980" y="5120640"/>
            <a:ext cx="1965960" cy="914400"/>
          </a:xfrm>
          <a:prstGeom prst="roundRect">
            <a:avLst>
              <a:gd name="adj" fmla="val 8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 txBox="1"/>
          <p:nvPr/>
        </p:nvSpPr>
        <p:spPr>
          <a:xfrm>
            <a:off x="2235708" y="5143500"/>
            <a:ext cx="18562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«system»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 Statistics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893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context model shows the systems in the MHC-PMS's environment, but not the type of relationship between them (data producer/consumer, shared data, network connection, etc.)</a:t>
            </a:r>
            <a:endParaRPr lang="en-US" sz="115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492676D-C15A-B113-8E8A-6BF63E80E660}"/>
              </a:ext>
            </a:extLst>
          </p:cNvPr>
          <p:cNvSpPr txBox="1"/>
          <p:nvPr/>
        </p:nvSpPr>
        <p:spPr>
          <a:xfrm>
            <a:off x="6515227" y="5574268"/>
            <a:ext cx="512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Mental Health Care–Patient Management System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Pairing Context Models with Process Models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5.1 Context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models are usually paired with business process models (activity diagrams) that show how the system is actually used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diagram notation: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 = start; filled circle inside a circle = end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rectangles = activities (sub-processes)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solid bar = coordination — all incoming activities must finish before continuing; outgoing activities may run in parallel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Arrows may carry guards in square brackets, showing which condition that flow applies to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Interaction Models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how a system talks to its users, other systems, and itself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Approaches to Interaction Modeling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5.2 Interaction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modeling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interactions between a system and external actors — users or other systems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diagrams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interactions between system components, though external agents may appear too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are complementary: a high-level use case's details are often documented in a sequence diagram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Case Diagrams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5.2 Interaction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206240" y="2377440"/>
            <a:ext cx="3749040" cy="1188720"/>
          </a:xfrm>
          <a:prstGeom prst="ellipse">
            <a:avLst/>
          </a:prstGeom>
          <a:solidFill>
            <a:srgbClr val="EAF2FB"/>
          </a:solidFill>
          <a:ln w="1905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206240" y="23774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Data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914400" y="2651760"/>
            <a:ext cx="137160" cy="640080"/>
          </a:xfrm>
          <a:prstGeom prst="rect">
            <a:avLst/>
          </a:prstGeom>
          <a:solidFill>
            <a:srgbClr val="22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rgbClr val="22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182880" y="34290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Receptionist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1280160" y="2926080"/>
            <a:ext cx="2834640" cy="9144"/>
          </a:xfrm>
          <a:prstGeom prst="line">
            <a:avLst/>
          </a:prstGeom>
          <a:noFill/>
          <a:ln w="22225">
            <a:solidFill>
              <a:srgbClr val="2230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9966960" y="2651760"/>
            <a:ext cx="137160" cy="640080"/>
          </a:xfrm>
          <a:prstGeom prst="rect">
            <a:avLst/>
          </a:prstGeom>
          <a:solidFill>
            <a:srgbClr val="22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829800" y="2286000"/>
            <a:ext cx="411480" cy="411480"/>
          </a:xfrm>
          <a:prstGeom prst="ellipse">
            <a:avLst/>
          </a:prstGeom>
          <a:solidFill>
            <a:srgbClr val="2230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9235440" y="342900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138160" y="2926080"/>
            <a:ext cx="1783080" cy="9144"/>
          </a:xfrm>
          <a:prstGeom prst="line">
            <a:avLst/>
          </a:prstGeom>
          <a:noFill/>
          <a:ln w="22225">
            <a:solidFill>
              <a:srgbClr val="22304A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 txBox="1"/>
          <p:nvPr/>
        </p:nvSpPr>
        <p:spPr>
          <a:xfrm>
            <a:off x="548640" y="4389120"/>
            <a:ext cx="106070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ellipse represents the use case; stick figures represent actors — human or another system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Formally, use case diagram lines carry no arrowheads (messages flow both ways) — arrows are sometimes added informally to show who initiates the interaction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use case diagram gives only an overview; detail is added in a textual, tabular, or sequence-diagram description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Documenting a Use Case in Detail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5.2 Interaction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463040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 txBox="1"/>
          <p:nvPr/>
        </p:nvSpPr>
        <p:spPr>
          <a:xfrm>
            <a:off x="640080" y="146304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2743200" y="1463040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9" name="Text 6"/>
          <p:cNvSpPr txBox="1"/>
          <p:nvPr/>
        </p:nvSpPr>
        <p:spPr>
          <a:xfrm>
            <a:off x="2880360" y="146304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 receptionist, patient records system (PRS)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8"/>
          <p:cNvSpPr txBox="1"/>
          <p:nvPr/>
        </p:nvSpPr>
        <p:spPr>
          <a:xfrm>
            <a:off x="640080" y="2212848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2743200" y="2212848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3" name="Text 10"/>
          <p:cNvSpPr txBox="1"/>
          <p:nvPr/>
        </p:nvSpPr>
        <p:spPr>
          <a:xfrm>
            <a:off x="2880360" y="2212848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receptionist transfers updated personal information, or a treatment summary, from the MHC-PMS to the PRS.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2962656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 txBox="1"/>
          <p:nvPr/>
        </p:nvSpPr>
        <p:spPr>
          <a:xfrm>
            <a:off x="640080" y="2962656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2743200" y="2962656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17" name="Text 14"/>
          <p:cNvSpPr txBox="1"/>
          <p:nvPr/>
        </p:nvSpPr>
        <p:spPr>
          <a:xfrm>
            <a:off x="2880360" y="2962656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Patient's personal information, treatment summary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3712464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 txBox="1"/>
          <p:nvPr/>
        </p:nvSpPr>
        <p:spPr>
          <a:xfrm>
            <a:off x="640080" y="3712464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Stimulus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2743200" y="3712464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1" name="Text 18"/>
          <p:cNvSpPr txBox="1"/>
          <p:nvPr/>
        </p:nvSpPr>
        <p:spPr>
          <a:xfrm>
            <a:off x="2880360" y="3712464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command issued by medical receptionist</a:t>
            </a:r>
            <a:endParaRPr lang="en-US" sz="2000" dirty="0"/>
          </a:p>
        </p:txBody>
      </p:sp>
      <p:sp>
        <p:nvSpPr>
          <p:cNvPr id="22" name="Shape 19"/>
          <p:cNvSpPr/>
          <p:nvPr/>
        </p:nvSpPr>
        <p:spPr>
          <a:xfrm>
            <a:off x="548640" y="4462272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Text 20"/>
          <p:cNvSpPr txBox="1"/>
          <p:nvPr/>
        </p:nvSpPr>
        <p:spPr>
          <a:xfrm>
            <a:off x="640080" y="4462272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sp>
        <p:nvSpPr>
          <p:cNvPr id="24" name="Shape 21"/>
          <p:cNvSpPr/>
          <p:nvPr/>
        </p:nvSpPr>
        <p:spPr>
          <a:xfrm>
            <a:off x="2743200" y="4462272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5" name="Text 22"/>
          <p:cNvSpPr txBox="1"/>
          <p:nvPr/>
        </p:nvSpPr>
        <p:spPr>
          <a:xfrm>
            <a:off x="2880360" y="4462272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that the PRS has been updated</a:t>
            </a:r>
            <a:endParaRPr lang="en-US" sz="2000" dirty="0"/>
          </a:p>
        </p:txBody>
      </p:sp>
      <p:sp>
        <p:nvSpPr>
          <p:cNvPr id="26" name="Shape 23"/>
          <p:cNvSpPr/>
          <p:nvPr/>
        </p:nvSpPr>
        <p:spPr>
          <a:xfrm>
            <a:off x="548640" y="5212080"/>
            <a:ext cx="2194560" cy="713232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" name="Text 24"/>
          <p:cNvSpPr txBox="1"/>
          <p:nvPr/>
        </p:nvSpPr>
        <p:spPr>
          <a:xfrm>
            <a:off x="640080" y="5212080"/>
            <a:ext cx="2011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Comments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2743200" y="5212080"/>
            <a:ext cx="8412480" cy="713232"/>
          </a:xfrm>
          <a:prstGeom prst="rect">
            <a:avLst/>
          </a:prstGeom>
          <a:noFill/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 sz="2000"/>
          </a:p>
        </p:txBody>
      </p:sp>
      <p:sp>
        <p:nvSpPr>
          <p:cNvPr id="29" name="Text 26"/>
          <p:cNvSpPr txBox="1"/>
          <p:nvPr/>
        </p:nvSpPr>
        <p:spPr>
          <a:xfrm>
            <a:off x="2880360" y="5212080"/>
            <a:ext cx="8138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receptionist must have appropriate security permissions.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 Diagrams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5.2 Interaction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sequence of interactions in a particular use case, read top to bottom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Objects and actors are listed along the top, with a dotted vertical lifeline below each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rectangle on a lifeline shows when that object is actively involved in the computation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Annotated arrows represent calls, their parameters, and return values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‘alt’ box with bracketed conditions shows alternative paths through the interaction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Sequence Diagram: View Patient Info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5.2 Interaction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65506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4"/>
          <p:cNvSpPr txBox="1"/>
          <p:nvPr/>
        </p:nvSpPr>
        <p:spPr>
          <a:xfrm>
            <a:off x="548640" y="1655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43000" y="160020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069080" y="160020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medical receptionist triggers ViewInfo on a PatientInfo form object, P, supplying the patient's ID.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548640" y="270662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8"/>
          <p:cNvSpPr txBox="1"/>
          <p:nvPr/>
        </p:nvSpPr>
        <p:spPr>
          <a:xfrm>
            <a:off x="548640" y="2706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143000" y="265176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2000" dirty="0"/>
          </a:p>
        </p:txBody>
      </p:sp>
      <p:sp>
        <p:nvSpPr>
          <p:cNvPr id="13" name="Text 10"/>
          <p:cNvSpPr txBox="1"/>
          <p:nvPr/>
        </p:nvSpPr>
        <p:spPr>
          <a:xfrm>
            <a:off x="4069080" y="265176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calls the database, supplying the receptionist's ID so access can be checked.</a:t>
            </a:r>
            <a:endParaRPr lang="en-US" sz="2000" dirty="0"/>
          </a:p>
        </p:txBody>
      </p:sp>
      <p:sp>
        <p:nvSpPr>
          <p:cNvPr id="14" name="Shape 11"/>
          <p:cNvSpPr/>
          <p:nvPr/>
        </p:nvSpPr>
        <p:spPr>
          <a:xfrm>
            <a:off x="548640" y="375818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5" name="Text 12"/>
          <p:cNvSpPr txBox="1"/>
          <p:nvPr/>
        </p:nvSpPr>
        <p:spPr>
          <a:xfrm>
            <a:off x="548640" y="375818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143000" y="370332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4069080" y="370332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checks with an authorization system that the user is permitted to view this data.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384048" cy="384048"/>
          </a:xfrm>
          <a:prstGeom prst="ellipse">
            <a:avLst/>
          </a:prstGeom>
          <a:solidFill>
            <a:srgbClr val="2E86AB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9" name="Text 16"/>
          <p:cNvSpPr txBox="1"/>
          <p:nvPr/>
        </p:nvSpPr>
        <p:spPr>
          <a:xfrm>
            <a:off x="548640" y="48097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143000" y="4754880"/>
            <a:ext cx="2834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4069080" y="4754880"/>
            <a:ext cx="7772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authorized, patient information is returned and the form is filled in; otherwise, an error message is returned.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Models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organization of a system and the data it processes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 Diagrams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5.3 Structural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models show a system's components and their relationships — static (design) or dynamic (as it executes)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object class is a general definition of one kind of system object; classes are shown as boxes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association is a link indicating a relationship between two classes — shown as a line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Multiplicity annotates each end of an association — e.g. ‘1’ for exactly one, ‘*’ or ‘1..*’ for an indefinite number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Patient has exactly one Patient Record, and a Patient Record belongs to exactly one Patient — a 1:1 association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Detail: Attributes and Operations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5.3 Structural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solidFill>
            <a:srgbClr val="1B2A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4480560" y="15544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480560" y="2057400"/>
            <a:ext cx="3200400" cy="1554480"/>
          </a:xfrm>
          <a:prstGeom prst="rect">
            <a:avLst/>
          </a:prstGeom>
          <a:solidFill>
            <a:srgbClr val="EAF2FB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4617720" y="2103120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Doctors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Clinic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Reason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Medication Prescribed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Treatment Prescribed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Voice Notes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Transcript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80560" y="361188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4617720" y="365760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Prescribe()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RecordNotes()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2230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Transcribe()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475488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section: the class name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section: attributes — the characteristics of an object (names, optionally types)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section: operations — the things you can request from an object (called methods in Java and similar languages)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Generalization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5.3 Structural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266944" y="576072"/>
            <a:ext cx="1920240" cy="640080"/>
          </a:xfrm>
          <a:prstGeom prst="roundRect">
            <a:avLst>
              <a:gd name="adj" fmla="val 11429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321808" y="576072"/>
            <a:ext cx="18105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072384" y="1947672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127248" y="194767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Practitioner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187184" y="1947672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242048" y="1947672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Doctor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 flipV="1">
            <a:off x="4169664" y="1216152"/>
            <a:ext cx="1645920" cy="7315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H="1" flipV="1">
            <a:off x="6227064" y="1216152"/>
            <a:ext cx="2057400" cy="7315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5724144" y="3136392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5779008" y="313639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 flipV="1">
            <a:off x="6501384" y="2587752"/>
            <a:ext cx="1783080" cy="5486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461504" y="3136392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 txBox="1"/>
          <p:nvPr/>
        </p:nvSpPr>
        <p:spPr>
          <a:xfrm>
            <a:off x="7516368" y="313639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 flipV="1">
            <a:off x="8238744" y="2587752"/>
            <a:ext cx="45720" cy="5486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7"/>
          <p:cNvSpPr/>
          <p:nvPr/>
        </p:nvSpPr>
        <p:spPr>
          <a:xfrm>
            <a:off x="9198864" y="3136392"/>
            <a:ext cx="1554480" cy="640080"/>
          </a:xfrm>
          <a:prstGeom prst="roundRect">
            <a:avLst>
              <a:gd name="adj" fmla="val 11429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 txBox="1"/>
          <p:nvPr/>
        </p:nvSpPr>
        <p:spPr>
          <a:xfrm>
            <a:off x="9253728" y="3136392"/>
            <a:ext cx="144475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Consultant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 flipH="1" flipV="1">
            <a:off x="8284464" y="2587752"/>
            <a:ext cx="1691640" cy="5486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 txBox="1"/>
          <p:nvPr/>
        </p:nvSpPr>
        <p:spPr>
          <a:xfrm>
            <a:off x="667512" y="3941064"/>
            <a:ext cx="10607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generalization hierarchy groups common information in one place — change it once, not everywhere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arrowhead points up to the more general class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Attributes and operations of a higher-level class are inherited by its subclasses, which add their own specifics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object-oriented languages via class inheritance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Aggregation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5.3 Structural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120640" y="182880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5175504" y="182880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37744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2432304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863840" y="3383280"/>
            <a:ext cx="1920240" cy="731520"/>
          </a:xfrm>
          <a:prstGeom prst="roundRect">
            <a:avLst>
              <a:gd name="adj" fmla="val 10000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7918704" y="3383280"/>
            <a:ext cx="18105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Consultation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852160" y="2514600"/>
            <a:ext cx="320040" cy="320040"/>
          </a:xfrm>
          <a:prstGeom prst="diamond">
            <a:avLst/>
          </a:prstGeom>
          <a:solidFill>
            <a:srgbClr val="FFFFFF"/>
          </a:solidFill>
          <a:ln w="254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 flipH="1">
            <a:off x="3337560" y="2651760"/>
            <a:ext cx="2697480" cy="7315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035040" y="2651760"/>
            <a:ext cx="2788920" cy="731520"/>
          </a:xfrm>
          <a:prstGeom prst="line">
            <a:avLst/>
          </a:prstGeom>
          <a:noFill/>
          <a:ln w="19050">
            <a:solidFill>
              <a:srgbClr val="5B6B8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080760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84048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31520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1..*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663440"/>
            <a:ext cx="10607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shows that one object (the whole) is composed of other objects (the parts)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diamond next to the ‘whole’ class marks this special kind of association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 Patient Record is composed of one Patient and an indefinite number of Consultations</a:t>
            </a:r>
            <a:endParaRPr lang="en-US" sz="2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5.4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Behavioral Models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the dynamic behavior of a system as it executes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Stimuli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5.4 Behavioral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arrives and must be processed by the system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event triggers processing — it may or may not carry associated data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business systems are data-driven — controlled by input data, with a sequence of actions producing an output (e.g. a phone billing system)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systems are often event-driven with minimal data processing (e.g. a phone switch responding to ‘receiver off hook’)</a:t>
            </a:r>
            <a:endParaRPr lang="en-US" sz="2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Data-Driven Modeling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5.4 Behavioral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sequence of actions involved in processing input data into an output — useful for showing end-to-end processing during requirements analysis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Historically modeled with data-flow diagrams (DFDs), introduced in 1970s structured methods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doesn't include DFDs directly, since they focus on functions rather than objects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2.0's activity diagrams serve a similar purpose — showing processing steps and the data objects flowing between them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sequence diagram drawn left-to-right can also show sequential data processing, highlighting objects rather than functions</a:t>
            </a:r>
            <a:endParaRPr lang="en-US" sz="2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Event-Driven Modeling: State Diagrams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5.4 Behavioral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Assumes a system has a finite number of states, and that events (stimuli) trigger transitions between them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Particularly appropriate for real-time systems; based on Harel's Statecharts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Notation: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rectangles = states, optionally annotated with the action taken (‘do’)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Labeled arrows = stimuli that force a transition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circles mark start and end states, as in activity diagrams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diagrams don't show data flow — only how the system reacts to events</a:t>
            </a:r>
            <a:endParaRPr lang="en-US" sz="2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Example: A Microwave Oven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5.4 Behavioral Models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914400" y="15544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969264" y="155448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Waiting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84048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895344" y="128016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 Power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0" y="23774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895344" y="237744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Power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92240" y="18288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6547104" y="182880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Time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9052560" y="128016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9107424" y="128016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Disabled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9052560" y="237744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9107424" y="237744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92240" y="38404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AF2FB"/>
          </a:solidFill>
          <a:ln w="12700">
            <a:solidFill>
              <a:srgbClr val="EAF2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6547104" y="3840480"/>
            <a:ext cx="16276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 flipV="1">
            <a:off x="2651760" y="1600200"/>
            <a:ext cx="1143000" cy="13716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2651760" y="2011680"/>
            <a:ext cx="1143000" cy="59436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577840" y="1600200"/>
            <a:ext cx="868680" cy="45720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 flipV="1">
            <a:off x="5577840" y="2286000"/>
            <a:ext cx="868680" cy="3200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 flipV="1">
            <a:off x="8229600" y="1645920"/>
            <a:ext cx="777240" cy="3200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8229600" y="2331720"/>
            <a:ext cx="777240" cy="27432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 flipH="1">
            <a:off x="7406640" y="2697480"/>
            <a:ext cx="2514600" cy="114300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 flipH="1" flipV="1">
            <a:off x="1783080" y="1920240"/>
            <a:ext cx="4709160" cy="1920240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 txBox="1"/>
          <p:nvPr/>
        </p:nvSpPr>
        <p:spPr>
          <a:xfrm>
            <a:off x="548640" y="475488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half or full power → set the cooking time → if the door is closed, Start is enabled → Operation runs the oven for the set time, then returns to Waiting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superstate (like Operation) can encapsulate sub-states — e.g. checking status, cooking, sounding the buzzer — expanded on a separate diagram to manage complexity as models grow</a:t>
            </a:r>
            <a:endParaRPr lang="en-US" sz="2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</a:t>
            </a:r>
            <a:endParaRPr lang="en-US" sz="2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74320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Model-Driven Engineering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79476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Models, not programs, as the principal output of development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Model-Driven Engineering?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5.5 Model-Driven Engineering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approach where models, rather than programs, are the principal output — executable programs are generated automatically from them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Raises the level of abstraction: engineers focus less on programming language and platform details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Rooted in Model-Driven Architecture (MDA), proposed by the OMG in 2001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has a wider scope than MDA — it also covers model-based requirements engineering, process, and testing, not just design and implementation</a:t>
            </a:r>
            <a:endParaRPr lang="en-US" sz="2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Case For and Against MDE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5.5 Model-Driven Engineering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6858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MDE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492240" y="1371600"/>
            <a:ext cx="5120640" cy="457200"/>
          </a:xfrm>
          <a:prstGeom prst="rect">
            <a:avLst/>
          </a:prstGeom>
          <a:solidFill>
            <a:srgbClr val="EAF2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6629400" y="13716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Against MDE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engineers think at a high level of abstraction, without implementation details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errors, speeds up design and implementation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reusable, platform-independent models — rehost by writing one new translator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492240" y="2011680"/>
            <a:ext cx="5120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abstractions for discussion aren't always the right ones for implementation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independence mainly matters for large, long-lifetime systems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those systems, requirements, security, integration, and testing are the bigger challenges — not implementation</a:t>
            </a:r>
            <a:endParaRPr lang="en-US" sz="2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Model-Driven Architecture: Three Model Types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5.5 Model-Driven Engineering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768096" y="18288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 txBox="1"/>
          <p:nvPr/>
        </p:nvSpPr>
        <p:spPr>
          <a:xfrm>
            <a:off x="822960" y="18288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(CIM)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099816" y="2377440"/>
            <a:ext cx="4114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 txBox="1"/>
          <p:nvPr/>
        </p:nvSpPr>
        <p:spPr>
          <a:xfrm>
            <a:off x="3054096" y="2971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557016" y="18288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3611880" y="18288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(PIM)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888736" y="2377440"/>
            <a:ext cx="4114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 txBox="1"/>
          <p:nvPr/>
        </p:nvSpPr>
        <p:spPr>
          <a:xfrm>
            <a:off x="5843016" y="2971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345936" y="18288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 txBox="1"/>
          <p:nvPr/>
        </p:nvSpPr>
        <p:spPr>
          <a:xfrm>
            <a:off x="6400800" y="18288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(PSM)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677656" y="2377440"/>
            <a:ext cx="411480" cy="9144"/>
          </a:xfrm>
          <a:prstGeom prst="line">
            <a:avLst/>
          </a:prstGeom>
          <a:noFill/>
          <a:ln w="22225">
            <a:solidFill>
              <a:srgbClr val="5B6B82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 txBox="1"/>
          <p:nvPr/>
        </p:nvSpPr>
        <p:spPr>
          <a:xfrm>
            <a:off x="8631936" y="29718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9134856" y="1828800"/>
            <a:ext cx="2286000" cy="1097280"/>
          </a:xfrm>
          <a:prstGeom prst="roundRect">
            <a:avLst>
              <a:gd name="adj" fmla="val 6667"/>
            </a:avLst>
          </a:prstGeom>
          <a:solidFill>
            <a:srgbClr val="F2A541"/>
          </a:solidFill>
          <a:ln w="12700">
            <a:solidFill>
              <a:srgbClr val="F2A5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 txBox="1"/>
          <p:nvPr/>
        </p:nvSpPr>
        <p:spPr>
          <a:xfrm>
            <a:off x="9189720" y="1828800"/>
            <a:ext cx="21762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Executable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38328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33832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abstractions used in the system — also called a domain model. There may be several (e.g. a security CIM, a patient-record CIM).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20624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PIM</a:t>
            </a:r>
            <a:endParaRPr lang="en-US" sz="2000" dirty="0"/>
          </a:p>
        </p:txBody>
      </p:sp>
      <p:sp>
        <p:nvSpPr>
          <p:cNvPr id="23" name="Text 20"/>
          <p:cNvSpPr txBox="1"/>
          <p:nvPr/>
        </p:nvSpPr>
        <p:spPr>
          <a:xfrm>
            <a:off x="1828800" y="420624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system operates, without reference to implementation — typically UML models of structure and event response.</a:t>
            </a:r>
            <a:endParaRPr lang="en-US" sz="20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50292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PSM</a:t>
            </a:r>
            <a:endParaRPr lang="en-US" sz="2000" dirty="0"/>
          </a:p>
        </p:txBody>
      </p:sp>
      <p:sp>
        <p:nvSpPr>
          <p:cNvPr id="25" name="Text 22"/>
          <p:cNvSpPr txBox="1"/>
          <p:nvPr/>
        </p:nvSpPr>
        <p:spPr>
          <a:xfrm>
            <a:off x="1828800" y="5029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platform-specific transformation of the PIM — a separate PSM per application platform (e.g. Java, .NET).</a:t>
            </a:r>
            <a:endParaRPr lang="en-US" sz="20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9436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CIM → PIM translation is still largely a research problem; PIM → PSM has mature commercial tool support for common platforms.</a:t>
            </a:r>
            <a:endParaRPr lang="en-US" sz="11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Executable UML (xUML)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5.5 Model-Driven Engineering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subset of UML 2 designed so that models can be automatically transformed all the way to code</a:t>
            </a:r>
            <a:endParaRPr lang="en-US" sz="2000" dirty="0"/>
          </a:p>
          <a:p>
            <a:pPr marL="279400" indent="-279400">
              <a:spcAft>
                <a:spcPts val="4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to three key model types: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models — class diagrams with objects, attributes, associations</a:t>
            </a:r>
            <a:endParaRPr lang="en-US" sz="2000" dirty="0"/>
          </a:p>
          <a:p>
            <a:pPr marL="558800" lvl="1" indent="-279400">
              <a:spcAft>
                <a:spcPts val="3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models — classes with their attributes and operations defined</a:t>
            </a:r>
            <a:endParaRPr lang="en-US" sz="2000" dirty="0"/>
          </a:p>
          <a:p>
            <a:pPr marL="558800" lvl="1" indent="-279400">
              <a:spcAft>
                <a:spcPts val="1200"/>
              </a:spcAft>
              <a:buSzPct val="100000"/>
              <a:buChar char="–"/>
            </a:pPr>
            <a:r>
              <a:rPr lang="en-US" sz="2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models — a state diagram describing each class's lifecycle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behavior is specified using the Object Constraint Language (OCL) or UML's action language — a very high-level language for referencing objects and specifying actions</a:t>
            </a:r>
            <a:endParaRPr lang="en-US" sz="2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96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MDE and Agile: An Uneasy Relationship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46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5 — System Modeling   •   5.5 Model-Driven Engineering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371600"/>
            <a:ext cx="106070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Extensive up-front modeling sits in tension with the agile manifesto's core values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MDA's developers argue it can support iterative development — if transformations are fully automated, no separate coding is required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practice, no widely available MDA tools yet support practices like regression testing or test-driven development</a:t>
            </a:r>
            <a:endParaRPr lang="en-US" sz="2000" dirty="0"/>
          </a:p>
          <a:p>
            <a:pPr marL="279400" indent="-279400">
              <a:spcAft>
                <a:spcPts val="1200"/>
              </a:spcAft>
              <a:buSzPct val="100000"/>
              <a:buChar char="◆"/>
            </a:pPr>
            <a:r>
              <a:rPr lang="en-US" sz="2000" dirty="0">
                <a:solidFill>
                  <a:srgbClr val="2230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MDE has real success stories at large companies (IBM, Siemens) for long-lifetime systems like air traffic management — but remains a minority approach overall</a:t>
            </a:r>
            <a:endParaRPr lang="en-US" sz="2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Points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10789920" cy="4846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 is an abstract view of a system that leaves out detail — complementary models show context, interaction, structure, and behavior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models position a system in its environment and help define its boundaries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diagrams and sequence diagrams describe interactions between a system, its users, and other systems, at different levels of detail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diagrams define the static structure of a system's classes and their associations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models describe dynamic behavior from the perspective of data (activity diagrams) or events (state diagrams)</a:t>
            </a:r>
            <a:endParaRPr lang="en-US" sz="2400" dirty="0"/>
          </a:p>
          <a:p>
            <a:pPr marL="279400" indent="-279400">
              <a:spcAft>
                <a:spcPts val="1400"/>
              </a:spcAft>
              <a:buSzPct val="100000"/>
              <a:buChar char="◆"/>
            </a:pPr>
            <a:r>
              <a:rPr lang="en-US" sz="2400" dirty="0">
                <a:solidFill>
                  <a:srgbClr val="EAF2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Model-driven engineering treats models, transformable to executable code, as the principal output of development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ED89013-EDD8-4522-815C-46386869F8A3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f855b2ef-0e07-4d42-8576-9fb3064f56f3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2501</Words>
  <Application>Microsoft Office PowerPoint</Application>
  <PresentationFormat>Custom</PresentationFormat>
  <Paragraphs>373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Whitworth, Clifford</cp:lastModifiedBy>
  <cp:revision>3</cp:revision>
  <dcterms:created xsi:type="dcterms:W3CDTF">2026-09-24T02:22:27Z</dcterms:created>
  <dcterms:modified xsi:type="dcterms:W3CDTF">2026-09-24T13:05:32Z</dcterms:modified>
</cp:coreProperties>
</file>