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777240"/>
            <a:ext cx="1005840" cy="1005840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777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822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691640" y="1874520"/>
            <a:ext cx="7132320" cy="45720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91640" y="2011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 ·  Software Engineering (Sommerville)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514600"/>
            <a:ext cx="7132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Document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Specification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Processes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Elicitation, Analysis &amp; Validation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Management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170432"/>
            <a:ext cx="8412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user requirements vs. system requirements and why they need different descriptions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functional and non-functional software requirements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requirements can be organised in a software requirements document (SRS)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principal RE activities: elicitation, analysis, and validation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requirements management is necessary to support RE activities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Requirements?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Descriptions of what a system should do — its services and operational constraints.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4023360" cy="1463040"/>
          </a:xfrm>
          <a:prstGeom prst="rect">
            <a:avLst/>
          </a:prstGeom>
          <a:solidFill>
            <a:srgbClr val="E8F1F8"/>
          </a:solidFill>
          <a:ln w="19050">
            <a:solidFill>
              <a:srgbClr val="3B9D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691640"/>
            <a:ext cx="4023360" cy="347472"/>
          </a:xfrm>
          <a:prstGeom prst="rect">
            <a:avLst/>
          </a:prstGeom>
          <a:solidFill>
            <a:srgbClr val="2E6DB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Requirements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08483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High-level, abstract statements written in natural language (+ diagrams) for system users and managers. Describe services and constraints — not implementation.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4023360" cy="1463040"/>
          </a:xfrm>
          <a:prstGeom prst="rect">
            <a:avLst/>
          </a:prstGeom>
          <a:solidFill>
            <a:srgbClr val="E8F1F8"/>
          </a:solidFill>
          <a:ln w="19050">
            <a:solidFill>
              <a:srgbClr val="3B9D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691640"/>
            <a:ext cx="4023360" cy="347472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084832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descriptions of functions, services, and constraints. May form part of the contract between buyer and developers (functional specification).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of User Requirements: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35661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managers · System end-users · Client engineers · Contractor managers · System architects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of System Requirements: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566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end-users · Client engineers · System architects · Software developers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vs. Non-Functional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29260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" y="1161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206240" cy="29260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9160" y="1161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35608"/>
            <a:ext cx="4114800" cy="347472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35608"/>
            <a:ext cx="4206240" cy="347472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1508760"/>
            <a:ext cx="3840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of services the system should provide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reacts to particular inputs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behaves in particular situations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also state what the system should NOT do</a:t>
            </a:r>
            <a:endParaRPr lang="en-US" sz="13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"A user shall be able to search appointment lists for all clinics."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508760"/>
            <a:ext cx="3931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on services or functions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Timing, development process, and standards constraints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the system as a whole, not individual features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more critical — failing one can make the whole system unusable</a:t>
            </a:r>
            <a:endParaRPr lang="en-US" sz="1300" dirty="0"/>
          </a:p>
          <a:p>
            <a:pPr lvl="1">
              <a:spcAft>
                <a:spcPts val="600"/>
              </a:spcAft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"The system shall be available Mon–Fri, 08:30–17:30."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MHC-PMS Case Study Examples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115568"/>
            <a:ext cx="84124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 of functional requirements: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— all services required by the user should be defined</a:t>
            </a:r>
            <a:endParaRPr lang="en-US" sz="1400" dirty="0"/>
          </a:p>
          <a:p>
            <a:pPr>
              <a:spcAft>
                <a:spcPts val="10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— requirements must not have contradictory definitions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MHC-PMS Example Requirements:</a:t>
            </a:r>
            <a:endParaRPr lang="en-US" sz="1400" dirty="0"/>
          </a:p>
          <a:p>
            <a:pPr lvl="1">
              <a:spcAft>
                <a:spcPts val="500"/>
              </a:spcAft>
            </a:pPr>
            <a:r>
              <a:rPr lang="en-US" sz="13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user shall be able to search the appointments lists for all clinics."</a:t>
            </a:r>
            <a:endParaRPr lang="en-US" sz="1400" dirty="0"/>
          </a:p>
          <a:p>
            <a:pPr lvl="1">
              <a:spcAft>
                <a:spcPts val="500"/>
              </a:spcAft>
            </a:pPr>
            <a:r>
              <a:rPr lang="en-US" sz="13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system shall generate each day, for each clinic, a list of patients expected to attend that day."</a:t>
            </a:r>
            <a:endParaRPr lang="en-US" sz="1400" dirty="0"/>
          </a:p>
          <a:p>
            <a:pPr lvl="1">
              <a:spcAft>
                <a:spcPts val="1000"/>
              </a:spcAft>
            </a:pPr>
            <a:r>
              <a:rPr lang="en-US" sz="13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"Each staff member shall be uniquely identified by their eight-digit employee number."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Dangers of imprecise requirements:</a:t>
            </a:r>
            <a:endParaRPr lang="en-US" sz="14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may interpret ambiguous requirements differently from customers</a:t>
            </a:r>
            <a:endParaRPr lang="en-US" sz="14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rework, delays, and increased costs</a:t>
            </a:r>
            <a:endParaRPr lang="en-US" sz="14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systems also face domain requirements — from the application domain, not just user needs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Non-Functional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43000"/>
            <a:ext cx="2834640" cy="34747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28600" y="11430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490472"/>
            <a:ext cx="2834640" cy="214884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040" y="15544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speed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/ space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failure rate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&amp; ease of use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834640" cy="34747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46120" y="11430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Requirements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90472"/>
            <a:ext cx="2834640" cy="214884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37560" y="15544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process standards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language / tools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environment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143000"/>
            <a:ext cx="2834640" cy="347472"/>
          </a:xfrm>
          <a:prstGeom prst="rect">
            <a:avLst/>
          </a:prstGeom>
          <a:solidFill>
            <a:srgbClr val="8B2E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11430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Requirements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490472"/>
            <a:ext cx="2834640" cy="214884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15544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/ certification rules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Legislative compliance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privacy standards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3749040"/>
            <a:ext cx="8686800" cy="109728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D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3767328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</a:t>
            </a:r>
            <a:pPr indent="0" marL="0">
              <a:buNone/>
            </a:pPr>
            <a:r>
              <a:rPr lang="en-US" sz="12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non-functional requirements quantitatively so they can be tested. Instead of "easy to use", write: "Medical staff shall be able to use all system functions after 4 hours of training, with fewer than 2 errors per hour."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for Non-Functional Requirements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NFRs measurable and testable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143000"/>
            <a:ext cx="1463040" cy="502920"/>
          </a:xfrm>
          <a:prstGeom prst="rect">
            <a:avLst/>
          </a:prstGeom>
          <a:solidFill>
            <a:srgbClr val="1B3A6B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11887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1143000"/>
            <a:ext cx="6949440" cy="502920"/>
          </a:xfrm>
          <a:prstGeom prst="rect">
            <a:avLst/>
          </a:prstGeom>
          <a:solidFill>
            <a:srgbClr val="2E6DB4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83080" y="118872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645920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91640" y="1645920"/>
            <a:ext cx="6949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83080" y="169164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transactions/second · User/event response time · Screen refresh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148840"/>
            <a:ext cx="146304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7432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691640" y="2148840"/>
            <a:ext cx="694944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83080" y="219456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Megabytes (Mbytes) · Number of ROM chips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2651760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4320" y="2697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91640" y="2651760"/>
            <a:ext cx="6949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83080" y="269748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 required · Number of help frames accessed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3154680"/>
            <a:ext cx="146304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4320" y="32004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691640" y="3154680"/>
            <a:ext cx="694944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783080" y="320040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failure (MTTF) · Probability of unavailability · Rate of failure occurrence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3657600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4320" y="37033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691640" y="3657600"/>
            <a:ext cx="69494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783080" y="370332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restart after failure · % of events causing failure · Probability of data corruption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" y="4160520"/>
            <a:ext cx="146304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432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691640" y="4160520"/>
            <a:ext cx="6949440" cy="50292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783080" y="420624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target-dependent statements · Number of target systems supported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Requirements Document (SRS)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official statement of what developers should implement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115568"/>
            <a:ext cx="84124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SRS (Software Requirements Specification) — the official statement of what developers should implement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include both user requirements and detailed system requirements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 the document:</a:t>
            </a:r>
            <a:endParaRPr lang="en-US" sz="1300" dirty="0"/>
          </a:p>
          <a:p>
            <a:pPr lvl="1">
              <a:spcAft>
                <a:spcPts val="4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customers — specify and validate requirements</a:t>
            </a:r>
            <a:endParaRPr lang="en-US" sz="1300" dirty="0"/>
          </a:p>
          <a:p>
            <a:pPr lvl="1">
              <a:spcAft>
                <a:spcPts val="4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— plan the project bid and development process</a:t>
            </a:r>
            <a:endParaRPr lang="en-US" sz="1300" dirty="0"/>
          </a:p>
          <a:p>
            <a:pPr lvl="1">
              <a:spcAft>
                <a:spcPts val="4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engineers — understand what system to develop</a:t>
            </a:r>
            <a:endParaRPr lang="en-US" sz="1300" dirty="0"/>
          </a:p>
          <a:p>
            <a:pPr lvl="1">
              <a:spcAft>
                <a:spcPts val="4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engineers — plan and develop validation tests</a:t>
            </a:r>
            <a:endParaRPr lang="en-US" sz="1300" dirty="0"/>
          </a:p>
          <a:p>
            <a:pPr lvl="1"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engineers — understand system and its parts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caveat: In agile methods, user stories may replace heavy SRS docs. However, a short document capturing business and dependability requirements is still valuable.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 Requirements Document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IEEE recommended practice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115568"/>
            <a:ext cx="8686800" cy="402336"/>
          </a:xfrm>
          <a:prstGeom prst="rect">
            <a:avLst/>
          </a:prstGeom>
          <a:solidFill>
            <a:srgbClr val="F0F4F8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115568"/>
            <a:ext cx="1920240" cy="402336"/>
          </a:xfrm>
          <a:prstGeom prst="rect">
            <a:avLst/>
          </a:prstGeom>
          <a:solidFill>
            <a:srgbClr val="E8F1F8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" y="1133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Preface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212848" y="113385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readership, version history, rationale for new versions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517904"/>
            <a:ext cx="8686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517904"/>
            <a:ext cx="1920240" cy="402336"/>
          </a:xfrm>
          <a:prstGeom prst="rect">
            <a:avLst/>
          </a:prstGeom>
          <a:solidFill>
            <a:srgbClr val="EAF2FB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" y="1536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153619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the system, functions overview, fit with business objectives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1920240"/>
            <a:ext cx="8686800" cy="402336"/>
          </a:xfrm>
          <a:prstGeom prst="rect">
            <a:avLst/>
          </a:prstGeom>
          <a:solidFill>
            <a:srgbClr val="F0F4F8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1920240"/>
            <a:ext cx="1920240" cy="402336"/>
          </a:xfrm>
          <a:prstGeom prst="rect">
            <a:avLst/>
          </a:prstGeom>
          <a:solidFill>
            <a:srgbClr val="E8F1F8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" y="1938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212848" y="19385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terms defined — no expertise assumed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322576"/>
            <a:ext cx="8686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322576"/>
            <a:ext cx="1920240" cy="402336"/>
          </a:xfrm>
          <a:prstGeom prst="rect">
            <a:avLst/>
          </a:prstGeom>
          <a:solidFill>
            <a:srgbClr val="EAF2FB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" y="2340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Requirements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212848" y="234086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for users in natural language; non-functional requirements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2724912"/>
            <a:ext cx="8686800" cy="402336"/>
          </a:xfrm>
          <a:prstGeom prst="rect">
            <a:avLst/>
          </a:prstGeom>
          <a:solidFill>
            <a:srgbClr val="F0F4F8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2724912"/>
            <a:ext cx="1920240" cy="402336"/>
          </a:xfrm>
          <a:prstGeom prst="rect">
            <a:avLst/>
          </a:prstGeom>
          <a:solidFill>
            <a:srgbClr val="E8F1F8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432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212848" y="27432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overview; distribution of functions; reused components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3127248"/>
            <a:ext cx="8686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127248"/>
            <a:ext cx="1920240" cy="402336"/>
          </a:xfrm>
          <a:prstGeom prst="rect">
            <a:avLst/>
          </a:prstGeom>
          <a:solidFill>
            <a:srgbClr val="EAF2FB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4320" y="31455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212848" y="3145536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functional and non-functional requirements; interfaces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3529584"/>
            <a:ext cx="8686800" cy="402336"/>
          </a:xfrm>
          <a:prstGeom prst="rect">
            <a:avLst/>
          </a:prstGeom>
          <a:solidFill>
            <a:srgbClr val="F0F4F8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3529584"/>
            <a:ext cx="1920240" cy="402336"/>
          </a:xfrm>
          <a:prstGeom prst="rect">
            <a:avLst/>
          </a:prstGeom>
          <a:solidFill>
            <a:srgbClr val="E8F1F8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4320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212848" y="35478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models, data-flow models, semantic data models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3931920"/>
            <a:ext cx="8686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" y="3931920"/>
            <a:ext cx="1920240" cy="402336"/>
          </a:xfrm>
          <a:prstGeom prst="rect">
            <a:avLst/>
          </a:prstGeom>
          <a:solidFill>
            <a:srgbClr val="EAF2FB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74320" y="3950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Evolution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212848" y="395020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and anticipated changes; helps designers avoid rigid decisions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8600" y="4334256"/>
            <a:ext cx="8686800" cy="402336"/>
          </a:xfrm>
          <a:prstGeom prst="rect">
            <a:avLst/>
          </a:prstGeom>
          <a:solidFill>
            <a:srgbClr val="F0F4F8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4334256"/>
            <a:ext cx="1920240" cy="402336"/>
          </a:xfrm>
          <a:prstGeom prst="rect">
            <a:avLst/>
          </a:prstGeom>
          <a:solidFill>
            <a:srgbClr val="E8F1F8"/>
          </a:solidFill>
          <a:ln w="3810">
            <a:solidFill>
              <a:srgbClr val="C5D9E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74320" y="4352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 &amp; Index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2212848" y="435254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Hardware/database specifications; alphabetic, diagram, and function indexes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Specification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Notations for expressing requirements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143000"/>
            <a:ext cx="2286000" cy="347472"/>
          </a:xfrm>
          <a:prstGeom prst="rect">
            <a:avLst/>
          </a:prstGeom>
          <a:solidFill>
            <a:srgbClr val="1B3A6B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1143000"/>
            <a:ext cx="6400800" cy="347472"/>
          </a:xfrm>
          <a:prstGeom prst="rect">
            <a:avLst/>
          </a:prstGeom>
          <a:solidFill>
            <a:srgbClr val="2E6DB4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" y="117957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117957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490472"/>
            <a:ext cx="2286000" cy="640080"/>
          </a:xfrm>
          <a:prstGeom prst="rect">
            <a:avLst/>
          </a:prstGeom>
          <a:solidFill>
            <a:srgbClr val="E8F1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490472"/>
            <a:ext cx="6400800" cy="64008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" y="15270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15270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sentences expressing one requirement each. Universal but potentially vague or ambiguous.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130552"/>
            <a:ext cx="2286000" cy="640080"/>
          </a:xfrm>
          <a:prstGeom prst="rect">
            <a:avLst/>
          </a:prstGeom>
          <a:solidFill>
            <a:srgbClr val="E8F1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2130552"/>
            <a:ext cx="6400800" cy="64008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" y="216712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NL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216712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forms or templates. Maintains expressiveness while imposing uniformity.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2770632"/>
            <a:ext cx="2286000" cy="640080"/>
          </a:xfrm>
          <a:prstGeom prst="rect">
            <a:avLst/>
          </a:prstGeom>
          <a:solidFill>
            <a:srgbClr val="E8F1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2770632"/>
            <a:ext cx="6400800" cy="64008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" y="280720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Description Languages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606040" y="280720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Programming-language-like constructs. Abstract operational model. Rarely used today.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3410712"/>
            <a:ext cx="2286000" cy="640080"/>
          </a:xfrm>
          <a:prstGeom prst="rect">
            <a:avLst/>
          </a:prstGeom>
          <a:solidFill>
            <a:srgbClr val="E8F1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3410712"/>
            <a:ext cx="6400800" cy="64008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4320" y="34472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Notations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606040" y="344728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use case and sequence diagrams + text annotations. Best for showing behavior and sequences.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4050792"/>
            <a:ext cx="2286000" cy="640080"/>
          </a:xfrm>
          <a:prstGeom prst="rect">
            <a:avLst/>
          </a:prstGeom>
          <a:solidFill>
            <a:srgbClr val="E8F1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14600" y="4050792"/>
            <a:ext cx="6400800" cy="64008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4320" y="408736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Specs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606040" y="408736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Finite-state machines, sets. Precise but customers struggle to verify them.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Specification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for minimising ambiguity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115568"/>
            <a:ext cx="84124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Invent a standard format and use it consistently — reduces omissions and makes checking easier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Use "shall" for mandatory requirements; "should" for desirable ones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 text highlighting (bold, italic, colour) to emphasise key parts</a:t>
            </a:r>
            <a:endParaRPr lang="en-US" sz="1300" dirty="0"/>
          </a:p>
          <a:p>
            <a:pPr>
              <a:spcAft>
                <a:spcPts val="7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Avoid jargon, abbreviations, and acronyms — not everyone has the same technical background</a:t>
            </a:r>
            <a:endParaRPr lang="en-US" sz="1300" dirty="0"/>
          </a:p>
          <a:p>
            <a:pPr>
              <a:spcAft>
                <a:spcPts val="12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Associate a rationale with each user requirement explaining why it is included and who proposed it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(Insulin Pump System):</a:t>
            </a:r>
            <a:endParaRPr lang="en-US" sz="1300" dirty="0"/>
          </a:p>
          <a:p>
            <a:pPr lvl="1">
              <a:spcAft>
                <a:spcPts val="500"/>
              </a:spcAft>
            </a:pPr>
            <a:r>
              <a:rPr lang="en-US" sz="13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"3.2 The system shall measure blood sugar and deliver insulin, if required, every 10 minutes. (Changes in blood sugar are relatively slow so more frequent measurement is unnecessary; less frequent measurement could lead to unnecessarily high sugar levels.)"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Specifications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 for system requirements (Insulin Pump example)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143000"/>
            <a:ext cx="1554480" cy="402336"/>
          </a:xfrm>
          <a:prstGeom prst="rect">
            <a:avLst/>
          </a:prstGeom>
          <a:solidFill>
            <a:srgbClr val="E8F1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1143000"/>
            <a:ext cx="7132320" cy="402336"/>
          </a:xfrm>
          <a:prstGeom prst="rect">
            <a:avLst/>
          </a:prstGeom>
          <a:solidFill>
            <a:srgbClr val="F0F4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" y="11704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17043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insulin dose: Safe sugar level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545336"/>
            <a:ext cx="1554480" cy="548640"/>
          </a:xfrm>
          <a:prstGeom prst="rect">
            <a:avLst/>
          </a:prstGeom>
          <a:solidFill>
            <a:srgbClr val="E8F1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1545336"/>
            <a:ext cx="713232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4320" y="1572768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1572768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dose of insulin to be delivered when blood sugar is in the safe zone (3–7 units)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093976"/>
            <a:ext cx="1554480" cy="402336"/>
          </a:xfrm>
          <a:prstGeom prst="rect">
            <a:avLst/>
          </a:prstGeom>
          <a:solidFill>
            <a:srgbClr val="E8F1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83080" y="2093976"/>
            <a:ext cx="7132320" cy="402336"/>
          </a:xfrm>
          <a:prstGeom prst="rect">
            <a:avLst/>
          </a:prstGeom>
          <a:solidFill>
            <a:srgbClr val="F0F4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" y="21214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212140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sugar reading (r2), previous two readings (r0, r1)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496312"/>
            <a:ext cx="1554480" cy="402336"/>
          </a:xfrm>
          <a:prstGeom prst="rect">
            <a:avLst/>
          </a:prstGeom>
          <a:solidFill>
            <a:srgbClr val="E8F1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83080" y="2496312"/>
            <a:ext cx="71323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" y="252374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252374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CompDose — the dose of insulin to be delivered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2898648"/>
            <a:ext cx="1554480" cy="548640"/>
          </a:xfrm>
          <a:prstGeom prst="rect">
            <a:avLst/>
          </a:prstGeom>
          <a:solidFill>
            <a:srgbClr val="E8F1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83080" y="2898648"/>
            <a:ext cx="7132320" cy="548640"/>
          </a:xfrm>
          <a:prstGeom prst="rect">
            <a:avLst/>
          </a:prstGeom>
          <a:solidFill>
            <a:srgbClr val="F0F4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74320" y="2926080"/>
            <a:ext cx="1463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874520" y="2926080"/>
            <a:ext cx="6949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CompDose = 0 if sugar is stable or falling. If increasing and rate is also increasing, CompDose = round((r2−r1)/4); minimum dose if rounded to 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8600" y="3447288"/>
            <a:ext cx="1554480" cy="402336"/>
          </a:xfrm>
          <a:prstGeom prst="rect">
            <a:avLst/>
          </a:prstGeom>
          <a:solidFill>
            <a:srgbClr val="E8F1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83080" y="3447288"/>
            <a:ext cx="71323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4320" y="3474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Pre-condition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874520" y="347472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reservoir contains at least the maximum single dose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8600" y="3849624"/>
            <a:ext cx="1554480" cy="402336"/>
          </a:xfrm>
          <a:prstGeom prst="rect">
            <a:avLst/>
          </a:prstGeom>
          <a:solidFill>
            <a:srgbClr val="E8F1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83080" y="3849624"/>
            <a:ext cx="7132320" cy="402336"/>
          </a:xfrm>
          <a:prstGeom prst="rect">
            <a:avLst/>
          </a:prstGeom>
          <a:solidFill>
            <a:srgbClr val="F0F4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4320" y="38770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Post-condition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874520" y="387705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replaced by r1, then r1 replaced by r2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4251960"/>
            <a:ext cx="1554480" cy="402336"/>
          </a:xfrm>
          <a:prstGeom prst="rect">
            <a:avLst/>
          </a:prstGeom>
          <a:solidFill>
            <a:srgbClr val="E8F1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83080" y="4251960"/>
            <a:ext cx="713232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74320" y="42793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874520" y="42793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Processes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spiral of four key activities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34440"/>
            <a:ext cx="4114800" cy="1554480"/>
          </a:xfrm>
          <a:prstGeom prst="rect">
            <a:avLst/>
          </a:prstGeom>
          <a:solidFill>
            <a:srgbClr val="F0F4F8"/>
          </a:solidFill>
          <a:ln w="25400">
            <a:solidFill>
              <a:srgbClr val="3B9D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34440"/>
            <a:ext cx="4114800" cy="329184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004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Feasibility Study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161848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system technically and economically feasible? Does it meet business objectives?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14800" cy="1554480"/>
          </a:xfrm>
          <a:prstGeom prst="rect">
            <a:avLst/>
          </a:prstGeom>
          <a:solidFill>
            <a:srgbClr val="F0F4F8"/>
          </a:solidFill>
          <a:ln w="25400">
            <a:solidFill>
              <a:srgbClr val="2E6D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234440"/>
            <a:ext cx="4114800" cy="329184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0916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Requirements Elicitation &amp; Analysis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61848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requirements through stakeholder engagement — interviews, scenarios, use cases, ethnography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14800" cy="1554480"/>
          </a:xfrm>
          <a:prstGeom prst="rect">
            <a:avLst/>
          </a:prstGeom>
          <a:solidFill>
            <a:srgbClr val="F0F4F8"/>
          </a:solidFill>
          <a:ln w="25400">
            <a:solidFill>
              <a:srgbClr val="2E8B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26080"/>
            <a:ext cx="4114800" cy="329184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20040" y="2953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Requirements Specification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331012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gathered requirements into a standard documented form (user &amp; system requirements)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114800" cy="1554480"/>
          </a:xfrm>
          <a:prstGeom prst="rect">
            <a:avLst/>
          </a:prstGeom>
          <a:solidFill>
            <a:srgbClr val="F0F4F8"/>
          </a:solidFill>
          <a:ln w="25400">
            <a:solidFill>
              <a:srgbClr val="8B2E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926080"/>
            <a:ext cx="4114800" cy="329184"/>
          </a:xfrm>
          <a:prstGeom prst="rect">
            <a:avLst/>
          </a:prstGeom>
          <a:solidFill>
            <a:srgbClr val="8B2E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09160" y="2953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Requirements Validation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310128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that requirements define what the customer actually wants before development begins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activities are iterative and interleaved — not strictly sequential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Elicitation and Analysis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Four-step iterative process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143000"/>
            <a:ext cx="2057400" cy="320040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143000"/>
            <a:ext cx="20574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8600" y="1143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" y="16459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Discovery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2240280"/>
            <a:ext cx="1874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 with stakeholders; gather domain knowledge; consult documentation and similar systems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0" y="2560320"/>
            <a:ext cx="155448" cy="155448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13" name="Shape 11"/>
          <p:cNvSpPr/>
          <p:nvPr/>
        </p:nvSpPr>
        <p:spPr>
          <a:xfrm>
            <a:off x="2441448" y="1143000"/>
            <a:ext cx="2057400" cy="320040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41448" y="1143000"/>
            <a:ext cx="20574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41448" y="1143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532888" y="16459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Organisation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532888" y="2240280"/>
            <a:ext cx="1874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requirements; associate with system sub-systems using an architectural model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98848" y="2560320"/>
            <a:ext cx="155448" cy="155448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19" name="Shape 17"/>
          <p:cNvSpPr/>
          <p:nvPr/>
        </p:nvSpPr>
        <p:spPr>
          <a:xfrm>
            <a:off x="4654296" y="1143000"/>
            <a:ext cx="2057400" cy="320040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4296" y="1143000"/>
            <a:ext cx="20574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54296" y="1143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745736" y="16459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 &amp; Negotiation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45736" y="2240280"/>
            <a:ext cx="1874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conflicts between stakeholders; negotiate compromise requirements through meetings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11696" y="2560320"/>
            <a:ext cx="155448" cy="155448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25" name="Shape 23"/>
          <p:cNvSpPr/>
          <p:nvPr/>
        </p:nvSpPr>
        <p:spPr>
          <a:xfrm>
            <a:off x="6867144" y="1143000"/>
            <a:ext cx="2057400" cy="320040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67144" y="1143000"/>
            <a:ext cx="205740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67144" y="1143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958584" y="16459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Specification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958584" y="2240280"/>
            <a:ext cx="1874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requirements to feed the next spiral iteration; formal or informal documents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28600" y="4480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Challenges: stakeholders may not know what they want; domain jargon; political factors; changing business context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Discovery: Interviewing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29260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" y="1161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Interviews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206240" cy="29260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9160" y="1161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Interviews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35608"/>
            <a:ext cx="4114800" cy="137160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35608"/>
            <a:ext cx="4206240" cy="137160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148132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answers a pre-defined set of questions. Good for consistent structured data collection.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48132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pre-defined agenda. Requirements team explores a range of issues to develop deeper understanding of stakeholder needs.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292608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of interviewing:</a:t>
            </a:r>
            <a:endParaRPr lang="en-US" sz="1350" dirty="0"/>
          </a:p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understanding how stakeholders work and how they will interact with the new system</a:t>
            </a:r>
            <a:endParaRPr lang="en-US" sz="1350" dirty="0"/>
          </a:p>
          <a:p>
            <a:pPr>
              <a:spcAft>
                <a:spcPts val="800"/>
              </a:spcAft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generally willing to talk about their work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350" dirty="0"/>
          </a:p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elicit domain knowledge — specialists use precise jargon that interviewers can misunderstand</a:t>
            </a:r>
            <a:endParaRPr lang="en-US" sz="1350" dirty="0"/>
          </a:p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may omit knowledge they consider "obvious" or fundamental</a:t>
            </a:r>
            <a:endParaRPr lang="en-US" sz="1350" dirty="0"/>
          </a:p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 and organisational constraints are rarely disclosed to outsiders</a:t>
            </a:r>
            <a:endParaRPr lang="en-US" sz="1350" dirty="0"/>
          </a:p>
          <a:p>
            <a:pPr>
              <a:spcAft>
                <a:spcPts val="500"/>
              </a:spcAft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always be used alongside other elicitation techniques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Discovery: Scenarios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examples help stakeholders articulate requirements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115568"/>
            <a:ext cx="84124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are example interaction descriptions that help stakeholders understand and critique system behaviour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adding detail to outline requirements descriptions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scenario typically includes:</a:t>
            </a:r>
            <a:endParaRPr lang="en-US" sz="1300" dirty="0"/>
          </a:p>
          <a:p>
            <a:pPr lvl="1">
              <a:spcAft>
                <a:spcPts val="4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 — what the system and users expect at the start</a:t>
            </a:r>
            <a:endParaRPr lang="en-US" sz="1300" dirty="0"/>
          </a:p>
          <a:p>
            <a:pPr lvl="1">
              <a:spcAft>
                <a:spcPts val="4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flow — description of expected event sequence</a:t>
            </a:r>
            <a:endParaRPr lang="en-US" sz="1300" dirty="0"/>
          </a:p>
          <a:p>
            <a:pPr lvl="1">
              <a:spcAft>
                <a:spcPts val="4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— what goes wrong and how it is resolved</a:t>
            </a:r>
            <a:endParaRPr lang="en-US" sz="1300" dirty="0"/>
          </a:p>
          <a:p>
            <a:pPr lvl="1">
              <a:spcAft>
                <a:spcPts val="4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activities — what else is happening at the same time</a:t>
            </a:r>
            <a:endParaRPr lang="en-US" sz="1300" dirty="0"/>
          </a:p>
          <a:p>
            <a:pPr lvl="1"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 — system state when the scenario ends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MHC-PMS Example: When a new patient attends a clinic, a receptionist creates a record; a nurse collects medical history; a doctor makes a diagnosis. The scenario traces all steps including error cases (patient record missing, condition not in menu, patient refuses to provide information).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Discovery: Use Cases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use case diagrams for identifying actor–system interactions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115568"/>
            <a:ext cx="84124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identify actors and name the type of interaction with the system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Represented as use case diagrams: actors as stick figures, interactions as named ellipses, lines linking actors to interactions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 case should be supplemented by a textual description and can link to UML sequence diagrams or state charts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MHC-PMS Use Cases:</a:t>
            </a:r>
            <a:endParaRPr lang="en-US" sz="1300" dirty="0"/>
          </a:p>
          <a:p>
            <a:pPr lvl="1">
              <a:spcAft>
                <a:spcPts val="400"/>
              </a:spcAft>
            </a:pPr>
            <a:r>
              <a:rPr lang="en-US" sz="13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Patient  ·  View Patient Record  ·  Edit Record</a:t>
            </a:r>
            <a:endParaRPr lang="en-US" sz="1300" dirty="0"/>
          </a:p>
          <a:p>
            <a:pPr lvl="1">
              <a:spcAft>
                <a:spcPts val="800"/>
              </a:spcAft>
            </a:pPr>
            <a:r>
              <a:rPr lang="en-US" sz="13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Consultation  ·  View Personal Info  ·  Generate Report  ·  Export Statistics</a:t>
            </a:r>
            <a:endParaRPr lang="en-US" sz="1300" dirty="0"/>
          </a:p>
          <a:p>
            <a:pPr lvl="1"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include: Medical Receptionist, Nurse, Doctor, Manager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effective for functional interaction requirements, but less useful for high-level business/NFRs or domain requirements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Discovery: Ethnography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technique for uncovering implicit requirements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115568"/>
            <a:ext cx="84124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immerses themselves in the work environment and observes actual day-to-day tasks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Uncovers implicit requirements that stakeholders take for granted and would never articulate in an interview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Particularly effective for discovering:</a:t>
            </a:r>
            <a:endParaRPr lang="en-US" sz="1300" dirty="0"/>
          </a:p>
          <a:p>
            <a:pPr lvl="1"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actually work vs. how process definitions say they should work</a:t>
            </a:r>
            <a:endParaRPr lang="en-US" sz="1300" dirty="0"/>
          </a:p>
          <a:p>
            <a:pPr lvl="1"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arising from cooperation and awareness of colleagues' activities</a:t>
            </a:r>
            <a:endParaRPr lang="en-US" sz="1300" dirty="0"/>
          </a:p>
          <a:p>
            <a:pPr lvl="1">
              <a:spcAft>
                <a:spcPts val="800"/>
              </a:spcAft>
            </a:pPr>
            <a:r>
              <a:rPr lang="en-US" sz="130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Air traffic controllers disable conflict alerts to manage airspace — this workaround would not emerge from interviews but is critical to system design.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combined with prototyping: ethnography informs prototype design; prototype focuses subsequent observations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focuses on end-users; cannot always identify new features or organisational/domain requirements — must be combined with use cases and other techniques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Validation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that requirements define what the customer actually wants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143000"/>
            <a:ext cx="4114800" cy="29260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0040" y="1161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to Perform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206240" cy="292608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1161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Techniques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435608"/>
            <a:ext cx="4114800" cy="274320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435608"/>
            <a:ext cx="4206240" cy="2743200"/>
          </a:xfrm>
          <a:prstGeom prst="rect">
            <a:avLst/>
          </a:prstGeom>
          <a:solidFill>
            <a:srgbClr val="F0F4F8"/>
          </a:solidFill>
          <a:ln w="6350">
            <a:solidFill>
              <a:srgbClr val="C5D9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50876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— does the system do what users actually need?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— no contradictory requirements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— all functions and constraints defined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 — can requirements be implemented within budget/schedule?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Verifiability — can each requirement be tested?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1508760"/>
            <a:ext cx="39319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reviews — systematic team analysis for errors and inconsistencies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— executable model demonstrated to users for feedback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Test-case generation — designing tests from requirements reveals ambiguities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28600" y="4297680"/>
            <a:ext cx="868680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D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432511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Fixing a requirements error is far more expensive than fixing a design or coding error — it requires redesign, reimplementation, and retesting.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Management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62179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9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changing requirements throughout the system lifecycle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115568"/>
            <a:ext cx="84124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for large systems always change — new hardware, changing business priorities, new legislation, evolving user understanding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management involves:</a:t>
            </a:r>
            <a:endParaRPr lang="en-US" sz="1300" dirty="0"/>
          </a:p>
          <a:p>
            <a:pPr lvl="1"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identification — unique ID for each requirement for cross-referencing</a:t>
            </a:r>
            <a:endParaRPr lang="en-US" sz="1300" dirty="0"/>
          </a:p>
          <a:p>
            <a:pPr lvl="1"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— formal process to assess the impact and cost of changes</a:t>
            </a:r>
            <a:endParaRPr lang="en-US" sz="1300" dirty="0"/>
          </a:p>
          <a:p>
            <a:pPr lvl="1"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policies — recording relationships between requirements and design decisions</a:t>
            </a:r>
            <a:endParaRPr lang="en-US" sz="1300" dirty="0"/>
          </a:p>
          <a:p>
            <a:pPr lvl="1"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support — secure storage, change tracking, traceability management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Change Management (3 stages):</a:t>
            </a:r>
            <a:endParaRPr lang="en-US" sz="1300" dirty="0"/>
          </a:p>
          <a:p>
            <a:pPr lvl="1"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analysis &amp; change specification — validate that the change proposal is genuine</a:t>
            </a:r>
            <a:endParaRPr lang="en-US" sz="1300" dirty="0"/>
          </a:p>
          <a:p>
            <a:pPr lvl="1"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Change analysis &amp; costing — assess impact across requirements, design, and implementation</a:t>
            </a:r>
            <a:endParaRPr lang="en-US" sz="1300" dirty="0"/>
          </a:p>
          <a:p>
            <a:pPr lvl="1">
              <a:spcAft>
                <a:spcPts val="5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Change implementation — update requirements document, design, and code in a controlled way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7315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 Techniques: Comparison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43000"/>
            <a:ext cx="1828800" cy="34747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4320" y="11430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1143000"/>
            <a:ext cx="3200400" cy="347472"/>
          </a:xfrm>
          <a:prstGeom prst="rect">
            <a:avLst/>
          </a:prstGeom>
          <a:solidFill>
            <a:srgbClr val="2E6DB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03120" y="1143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57800" y="1143000"/>
            <a:ext cx="3520440" cy="34747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03520" y="11430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/ Limitation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490472"/>
            <a:ext cx="1828800" cy="777240"/>
          </a:xfrm>
          <a:prstGeom prst="rect">
            <a:avLst/>
          </a:prstGeom>
          <a:solidFill>
            <a:srgbClr val="F0F4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57400" y="1490472"/>
            <a:ext cx="3200400" cy="777240"/>
          </a:xfrm>
          <a:prstGeom prst="rect">
            <a:avLst/>
          </a:prstGeom>
          <a:solidFill>
            <a:srgbClr val="F0F4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1490472"/>
            <a:ext cx="3520440" cy="777240"/>
          </a:xfrm>
          <a:prstGeom prst="rect">
            <a:avLst/>
          </a:prstGeom>
          <a:solidFill>
            <a:srgbClr val="F0F4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" y="15361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15361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workflows &amp; stakeholder needs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153619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domain knowledge &amp; organisational politics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2267712"/>
            <a:ext cx="182880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57400" y="2267712"/>
            <a:ext cx="320040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0" y="2267712"/>
            <a:ext cx="352044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4320" y="23134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148840" y="231343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Concrete, relatable; adds detail to outline reqs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231343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covers pre-identified interaction paths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8600" y="3044952"/>
            <a:ext cx="1828800" cy="777240"/>
          </a:xfrm>
          <a:prstGeom prst="rect">
            <a:avLst/>
          </a:prstGeom>
          <a:solidFill>
            <a:srgbClr val="F0F4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3044952"/>
            <a:ext cx="3200400" cy="777240"/>
          </a:xfrm>
          <a:prstGeom prst="rect">
            <a:avLst/>
          </a:prstGeom>
          <a:solidFill>
            <a:srgbClr val="F0F4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57800" y="3044952"/>
            <a:ext cx="3520440" cy="777240"/>
          </a:xfrm>
          <a:prstGeom prst="rect">
            <a:avLst/>
          </a:prstGeom>
          <a:solidFill>
            <a:srgbClr val="F0F4F8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4320" y="30906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148840" y="30906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UML; captures all actor–system interactions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349240" y="309067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for NFRs and domain/business requirements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28600" y="3822192"/>
            <a:ext cx="182880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57400" y="3822192"/>
            <a:ext cx="320040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57800" y="3822192"/>
            <a:ext cx="3520440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C5D9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4320" y="38679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Ethnography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2148840" y="386791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implicit, taken-for-granted work practices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349240" y="3867912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Time-intensive; misses organisational-level needs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9DD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914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 Summary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914400"/>
            <a:ext cx="841248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describe what a system should do, the services it provides, and its operational constraints</a:t>
            </a:r>
            <a:endParaRPr lang="en-US" sz="1350" dirty="0"/>
          </a:p>
          <a:p>
            <a:pPr>
              <a:spcAft>
                <a:spcPts val="700"/>
              </a:spcAf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state what the system must provide; non-functional requirements constrain the system as a whole</a:t>
            </a:r>
            <a:endParaRPr lang="en-US" sz="1350" dirty="0"/>
          </a:p>
          <a:p>
            <a:pPr>
              <a:spcAft>
                <a:spcPts val="700"/>
              </a:spcAf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SRS is the agreed statement of requirements — accessible to customers, developers, testers, and maintainers</a:t>
            </a:r>
            <a:endParaRPr lang="en-US" sz="1350" dirty="0"/>
          </a:p>
          <a:p>
            <a:pPr>
              <a:spcAft>
                <a:spcPts val="700"/>
              </a:spcAf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engineering is iterative: feasibility → elicitation &amp; analysis → specification → validation</a:t>
            </a:r>
            <a:endParaRPr lang="en-US" sz="1350" dirty="0"/>
          </a:p>
          <a:p>
            <a:pPr>
              <a:spcAft>
                <a:spcPts val="700"/>
              </a:spcAf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Elicitation techniques include interviewing, scenarios, use cases, and ethnography — use them in combination</a:t>
            </a:r>
            <a:endParaRPr lang="en-US" sz="1350" dirty="0"/>
          </a:p>
          <a:p>
            <a:pPr>
              <a:spcAft>
                <a:spcPts val="700"/>
              </a:spcAf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 validity, consistency, completeness, realism, and verifiability</a:t>
            </a:r>
            <a:endParaRPr lang="en-US" sz="1350" dirty="0"/>
          </a:p>
          <a:p>
            <a:pPr>
              <a:spcAft>
                <a:spcPts val="700"/>
              </a:spcAf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always change — requirements management tracks, controls, and documents all changes systematically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Requirements Engineering · Software Engineering (Sommerville)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2026-09-17T14:33:14Z</dcterms:created>
  <dcterms:modified xsi:type="dcterms:W3CDTF">2026-09-17T14:33:14Z</dcterms:modified>
</cp:coreProperties>
</file>