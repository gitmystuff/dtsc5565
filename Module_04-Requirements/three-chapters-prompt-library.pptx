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for the room: we have three of ten prompts built. Today is about two things — why each chapter has a different job, and the honest problem that showed up in Chapter 4 that I don't want us to discover in Week 13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re-anchor. Ask: can anyone say in one sentence why the prompt is graded and not the output? Expected answer: one good document proves you got lucky once; a prompt that works on projects you haven't seen proves reuse.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third column of each row — that's the handoff. The router reads a machine-readable block at the end of each artifact. Human-readable body for us, YAML block for the router.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general lesson about agent design, not just about these two chapters. Scope declarations are the cheapest defense against two components quietly disagreeing.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deliberate anti-bias: a model asked to pick a process will reach for agile every time. Requiring a named disqualifier per rejected model is the cheapest check on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reusable idea in the Ch2 prompt. If you take one thing into your own work: define what must be true entering and leaving every step, in language a machine can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ten factors come straight off the two 'Choosing an Approach' slides. The prompt refuses to average them — it asks which factors dominate, because regulation and system type can override the other eight on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worth saying out loud: dropping a practice is legitimate. Dropping a practice and still keeping its benefit in the plan is not. That distinction is what separates a lean process from wishful thinking.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this to be the most argued field in peer review — that's the point. It's also the field that will age fastest as models change, which makes its diff over the semester real evidence for the process-improvement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this one in Week 13. If it never fires for any team, either Ch2's classification is doing more work than we expected or Ch3 is deferring instead of auditing. Either finding is worth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someone asks why not merge them: because the artifacts have different audiences and different lifetimes. The routing plan is for the agent. The charter is for the team. And a merged prompt loses the audit relationship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 tonal shift. The first three slides of this section are the most important in the deck. Don't rush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air traffic control example is the one to tell: controllers switch off a conflict alert the procedures require them to use, because they deliberately route planes onto converging paths briefly to manage the airspace. No interview and no document produces that requirement. Only watching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back to the orientation doc explicitly. This is the single largest risk in the whole library and it is not a coding risk — it is an epistemics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asymmetry: the prompt makes it easy to be honest and effortful to be confident. That's deliberate — the default has to lean toward under-claiming.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on the left are illustrative, not from a real run. The point is the placement: honesty in an appendix is decoration; honesty in section one changes how the document gets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Reframe for the room: the agent's honest deliverable at this stage is two things at once — a draft specification, and a map of what a human still has to go confirm. That second artifact is genuinely useful and nobody would have asked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there's time, run it live. Same two-sentence project description into both. The room should see the difference without being told what to look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availability target nobody can measure in the running system is a target nobody will ever know was missed. That single sentence is the argument for putting observability in requirements rather than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direct here. A team that reports three honest break points has learned more than a team that reports none. Predicting them in September is even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back to the orientation doc. Say it plainly so nobody feels pressure in November to make their library look better than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is the one most likely to produce something useful. If the room lands on a better name for what the Ch4 prompt actually does, that's a real contribution to the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128"/>
        </a:solidFill>
      </p:bgPr>
    </p:bg>
    <p:spTree>
      <p:nvGrpSpPr>
        <p:cNvPr id="1" name=""/>
        <p:cNvGrpSpPr/>
        <p:nvPr/>
      </p:nvGrpSpPr>
      <p:grpSpPr>
        <a:xfrm>
          <a:off x="0" y="0"/>
          <a:ext cx="0" cy="0"/>
          <a:chOff x="0" y="0"/>
          <a:chExt cx="0" cy="0"/>
        </a:xfrm>
      </p:grpSpPr>
      <p:sp>
        <p:nvSpPr>
          <p:cNvPr id="2" name="Text 0"/>
          <p:cNvSpPr txBox="1"/>
          <p:nvPr/>
        </p:nvSpPr>
        <p:spPr>
          <a:xfrm>
            <a:off x="594360" y="1828800"/>
            <a:ext cx="7863840" cy="1828800"/>
          </a:xfrm>
          <a:prstGeom prst="rect">
            <a:avLst/>
          </a:prstGeom>
          <a:noFill/>
          <a:ln/>
        </p:spPr>
        <p:txBody>
          <a:bodyPr wrap="square" lIns="0" tIns="0" rIns="0" bIns="0" rtlCol="0" anchor="ctr"/>
          <a:lstStyle/>
          <a:p>
            <a:pPr indent="0" marL="0">
              <a:lnSpc>
                <a:spcPct val="105000"/>
              </a:lnSpc>
              <a:buNone/>
            </a:pPr>
            <a:r>
              <a:rPr lang="en-US" sz="4600" b="1" dirty="0">
                <a:solidFill>
                  <a:srgbClr val="FFFFFF"/>
                </a:solidFill>
                <a:latin typeface="Cambria" pitchFamily="34" charset="0"/>
                <a:ea typeface="Cambria" pitchFamily="34" charset="-122"/>
                <a:cs typeface="Cambria" pitchFamily="34" charset="-120"/>
              </a:rPr>
              <a:t>Three Chapters,</a:t>
            </a:r>
            <a:endParaRPr lang="en-US" sz="4600" dirty="0"/>
          </a:p>
          <a:p>
            <a:pPr indent="0" marL="0">
              <a:lnSpc>
                <a:spcPct val="105000"/>
              </a:lnSpc>
              <a:buNone/>
            </a:pPr>
            <a:r>
              <a:rPr lang="en-US" sz="4600" b="1" dirty="0">
                <a:solidFill>
                  <a:srgbClr val="FFFFFF"/>
                </a:solidFill>
                <a:latin typeface="Cambria" pitchFamily="34" charset="0"/>
                <a:ea typeface="Cambria" pitchFamily="34" charset="-122"/>
                <a:cs typeface="Cambria" pitchFamily="34" charset="-120"/>
              </a:rPr>
              <a:t>Three Different Jobs</a:t>
            </a:r>
            <a:endParaRPr lang="en-US" sz="4600" dirty="0"/>
          </a:p>
        </p:txBody>
      </p:sp>
      <p:sp>
        <p:nvSpPr>
          <p:cNvPr id="3" name="Text 1"/>
          <p:cNvSpPr txBox="1"/>
          <p:nvPr/>
        </p:nvSpPr>
        <p:spPr>
          <a:xfrm>
            <a:off x="594360" y="3794760"/>
            <a:ext cx="7498080" cy="822960"/>
          </a:xfrm>
          <a:prstGeom prst="rect">
            <a:avLst/>
          </a:prstGeom>
          <a:noFill/>
          <a:ln/>
        </p:spPr>
        <p:txBody>
          <a:bodyPr wrap="square" lIns="0" tIns="0" rIns="0" bIns="0" rtlCol="0" anchor="ctr"/>
          <a:lstStyle/>
          <a:p>
            <a:pPr indent="0" marL="0">
              <a:lnSpc>
                <a:spcPct val="120000"/>
              </a:lnSpc>
              <a:buNone/>
            </a:pPr>
            <a:r>
              <a:rPr lang="en-US" sz="1700" dirty="0">
                <a:solidFill>
                  <a:srgbClr val="C4CBD2"/>
                </a:solidFill>
                <a:latin typeface="Calibri" pitchFamily="34" charset="0"/>
                <a:ea typeface="Calibri" pitchFamily="34" charset="-122"/>
                <a:cs typeface="Calibri" pitchFamily="34" charset="-120"/>
              </a:rPr>
              <a:t>Building the structured prompt library — and finding the one place it can quietly lie to us.</a:t>
            </a:r>
            <a:endParaRPr lang="en-US" sz="1700" dirty="0"/>
          </a:p>
        </p:txBody>
      </p:sp>
      <p:sp>
        <p:nvSpPr>
          <p:cNvPr id="4" name="Shape 2"/>
          <p:cNvSpPr/>
          <p:nvPr/>
        </p:nvSpPr>
        <p:spPr>
          <a:xfrm>
            <a:off x="594360" y="4892040"/>
            <a:ext cx="658368" cy="310896"/>
          </a:xfrm>
          <a:prstGeom prst="roundRect">
            <a:avLst>
              <a:gd name="adj" fmla="val 23529"/>
            </a:avLst>
          </a:prstGeom>
          <a:solidFill>
            <a:srgbClr val="0F6E66"/>
          </a:solidFill>
          <a:ln w="12700">
            <a:solidFill>
              <a:srgbClr val="0F6E66"/>
            </a:solidFill>
            <a:prstDash val="solid"/>
          </a:ln>
        </p:spPr>
      </p:sp>
      <p:sp>
        <p:nvSpPr>
          <p:cNvPr id="5" name="Text 3"/>
          <p:cNvSpPr txBox="1"/>
          <p:nvPr/>
        </p:nvSpPr>
        <p:spPr>
          <a:xfrm>
            <a:off x="594360" y="4892040"/>
            <a:ext cx="658368"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CH2</a:t>
            </a:r>
            <a:endParaRPr lang="en-US" sz="1200" dirty="0"/>
          </a:p>
        </p:txBody>
      </p:sp>
      <p:sp>
        <p:nvSpPr>
          <p:cNvPr id="6" name="Shape 4"/>
          <p:cNvSpPr/>
          <p:nvPr/>
        </p:nvSpPr>
        <p:spPr>
          <a:xfrm>
            <a:off x="1417320" y="4892040"/>
            <a:ext cx="658368" cy="310896"/>
          </a:xfrm>
          <a:prstGeom prst="roundRect">
            <a:avLst>
              <a:gd name="adj" fmla="val 23529"/>
            </a:avLst>
          </a:prstGeom>
          <a:solidFill>
            <a:srgbClr val="0F6E66"/>
          </a:solidFill>
          <a:ln w="12700">
            <a:solidFill>
              <a:srgbClr val="0F6E66"/>
            </a:solidFill>
            <a:prstDash val="solid"/>
          </a:ln>
        </p:spPr>
      </p:sp>
      <p:sp>
        <p:nvSpPr>
          <p:cNvPr id="7" name="Text 5"/>
          <p:cNvSpPr txBox="1"/>
          <p:nvPr/>
        </p:nvSpPr>
        <p:spPr>
          <a:xfrm>
            <a:off x="1417320" y="4892040"/>
            <a:ext cx="658368"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CH3</a:t>
            </a:r>
            <a:endParaRPr lang="en-US" sz="1200" dirty="0"/>
          </a:p>
        </p:txBody>
      </p:sp>
      <p:sp>
        <p:nvSpPr>
          <p:cNvPr id="8" name="Shape 6"/>
          <p:cNvSpPr/>
          <p:nvPr/>
        </p:nvSpPr>
        <p:spPr>
          <a:xfrm>
            <a:off x="2240280" y="4892040"/>
            <a:ext cx="658368" cy="310896"/>
          </a:xfrm>
          <a:prstGeom prst="roundRect">
            <a:avLst>
              <a:gd name="adj" fmla="val 23529"/>
            </a:avLst>
          </a:prstGeom>
          <a:solidFill>
            <a:srgbClr val="A85A08"/>
          </a:solidFill>
          <a:ln w="12700">
            <a:solidFill>
              <a:srgbClr val="A85A08"/>
            </a:solidFill>
            <a:prstDash val="solid"/>
          </a:ln>
        </p:spPr>
      </p:sp>
      <p:sp>
        <p:nvSpPr>
          <p:cNvPr id="9" name="Text 7"/>
          <p:cNvSpPr txBox="1"/>
          <p:nvPr/>
        </p:nvSpPr>
        <p:spPr>
          <a:xfrm>
            <a:off x="2240280" y="4892040"/>
            <a:ext cx="658368"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CH4</a:t>
            </a:r>
            <a:endParaRPr lang="en-US" sz="1200" dirty="0"/>
          </a:p>
        </p:txBody>
      </p:sp>
      <p:sp>
        <p:nvSpPr>
          <p:cNvPr id="10" name="Text 8"/>
          <p:cNvSpPr txBox="1"/>
          <p:nvPr/>
        </p:nvSpPr>
        <p:spPr>
          <a:xfrm>
            <a:off x="3200400" y="4892040"/>
            <a:ext cx="4572000" cy="310896"/>
          </a:xfrm>
          <a:prstGeom prst="rect">
            <a:avLst/>
          </a:prstGeom>
          <a:noFill/>
          <a:ln/>
        </p:spPr>
        <p:txBody>
          <a:bodyPr wrap="square" lIns="0" tIns="0" rIns="0" bIns="0" rtlCol="0" anchor="ctr"/>
          <a:lstStyle/>
          <a:p>
            <a:pPr indent="0" marL="0">
              <a:buNone/>
            </a:pPr>
            <a:r>
              <a:rPr lang="en-US" sz="1300" dirty="0">
                <a:solidFill>
                  <a:srgbClr val="8A949E"/>
                </a:solidFill>
                <a:latin typeface="Calibri" pitchFamily="34" charset="0"/>
                <a:ea typeface="Calibri" pitchFamily="34" charset="-122"/>
                <a:cs typeface="Calibri" pitchFamily="34" charset="-120"/>
              </a:rPr>
              <a:t>Process  ·  Practice  ·  Requirements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201168"/>
            <a:ext cx="11000232" cy="256032"/>
          </a:xfrm>
          <a:prstGeom prst="rect">
            <a:avLst/>
          </a:prstGeom>
          <a:noFill/>
          <a:ln/>
        </p:spPr>
        <p:txBody>
          <a:bodyPr wrap="square" lIns="0" tIns="0" rIns="0" bIns="0" rtlCol="0" anchor="ctr"/>
          <a:lstStyle/>
          <a:p>
            <a:pPr indent="0" marL="0">
              <a:buNone/>
            </a:pPr>
            <a:r>
              <a:rPr lang="en-US" sz="1100" b="1" spc="200" kern="0" dirty="0">
                <a:solidFill>
                  <a:srgbClr val="0F6E66"/>
                </a:solidFill>
                <a:latin typeface="Calibri" pitchFamily="34" charset="0"/>
                <a:ea typeface="Calibri" pitchFamily="34" charset="-122"/>
                <a:cs typeface="Calibri" pitchFamily="34" charset="-120"/>
              </a:rPr>
              <a:t>REMINDER</a:t>
            </a:r>
            <a:endParaRPr lang="en-US" sz="1100" dirty="0"/>
          </a:p>
        </p:txBody>
      </p:sp>
      <p:sp>
        <p:nvSpPr>
          <p:cNvPr id="3" name="Text 1"/>
          <p:cNvSpPr txBox="1"/>
          <p:nvPr/>
        </p:nvSpPr>
        <p:spPr>
          <a:xfrm>
            <a:off x="594360" y="457200"/>
            <a:ext cx="11000232" cy="777240"/>
          </a:xfrm>
          <a:prstGeom prst="rect">
            <a:avLst/>
          </a:prstGeom>
          <a:noFill/>
          <a:ln/>
        </p:spPr>
        <p:txBody>
          <a:bodyPr wrap="square" lIns="0" tIns="0" rIns="0" bIns="0" rtlCol="0" anchor="ctr"/>
          <a:lstStyle/>
          <a:p>
            <a:pPr indent="0" marL="0">
              <a:buNone/>
            </a:pPr>
            <a:r>
              <a:rPr lang="en-US" sz="3400" b="1" dirty="0">
                <a:solidFill>
                  <a:srgbClr val="1C2128"/>
                </a:solidFill>
                <a:latin typeface="Cambria" pitchFamily="34" charset="0"/>
                <a:ea typeface="Cambria" pitchFamily="34" charset="-122"/>
                <a:cs typeface="Cambria" pitchFamily="34" charset="-120"/>
              </a:rPr>
              <a:t>The product is the process</a:t>
            </a:r>
            <a:endParaRPr lang="en-US" sz="3400" dirty="0"/>
          </a:p>
        </p:txBody>
      </p:sp>
      <p:sp>
        <p:nvSpPr>
          <p:cNvPr id="4" name="Text 2"/>
          <p:cNvSpPr txBox="1"/>
          <p:nvPr/>
        </p:nvSpPr>
        <p:spPr>
          <a:xfrm>
            <a:off x="594360" y="1280160"/>
            <a:ext cx="11000232" cy="411480"/>
          </a:xfrm>
          <a:prstGeom prst="rect">
            <a:avLst/>
          </a:prstGeom>
          <a:noFill/>
          <a:ln/>
        </p:spPr>
        <p:txBody>
          <a:bodyPr wrap="square" lIns="0" tIns="0" rIns="0" bIns="0" rtlCol="0" anchor="t"/>
          <a:lstStyle/>
          <a:p>
            <a:pPr indent="0" marL="0">
              <a:buNone/>
            </a:pPr>
            <a:r>
              <a:rPr lang="en-US" sz="1500" i="1" dirty="0">
                <a:solidFill>
                  <a:srgbClr val="6E7781"/>
                </a:solidFill>
                <a:latin typeface="Calibri" pitchFamily="34" charset="0"/>
                <a:ea typeface="Calibri" pitchFamily="34" charset="-122"/>
                <a:cs typeface="Calibri" pitchFamily="34" charset="-120"/>
              </a:rPr>
              <a:t>The app we build in Week 13 is evidence. The library is the deliverable.</a:t>
            </a:r>
            <a:endParaRPr lang="en-US" sz="1500" dirty="0"/>
          </a:p>
        </p:txBody>
      </p:sp>
      <p:sp>
        <p:nvSpPr>
          <p:cNvPr id="5" name="Shape 3"/>
          <p:cNvSpPr/>
          <p:nvPr/>
        </p:nvSpPr>
        <p:spPr>
          <a:xfrm>
            <a:off x="594360" y="2011680"/>
            <a:ext cx="3611880" cy="1783080"/>
          </a:xfrm>
          <a:prstGeom prst="roundRect">
            <a:avLst>
              <a:gd name="adj" fmla="val 3077"/>
            </a:avLst>
          </a:prstGeom>
          <a:solidFill>
            <a:srgbClr val="F4F6F6"/>
          </a:solidFill>
          <a:ln w="12700">
            <a:solidFill>
              <a:srgbClr val="DFE3E6"/>
            </a:solidFill>
            <a:prstDash val="solid"/>
          </a:ln>
        </p:spPr>
      </p:sp>
      <p:sp>
        <p:nvSpPr>
          <p:cNvPr id="6" name="Text 4"/>
          <p:cNvSpPr txBox="1"/>
          <p:nvPr/>
        </p:nvSpPr>
        <p:spPr>
          <a:xfrm>
            <a:off x="850392" y="2212848"/>
            <a:ext cx="3099816" cy="320040"/>
          </a:xfrm>
          <a:prstGeom prst="rect">
            <a:avLst/>
          </a:prstGeom>
          <a:noFill/>
          <a:ln/>
        </p:spPr>
        <p:txBody>
          <a:bodyPr wrap="square" lIns="0" tIns="0" rIns="0" bIns="0" rtlCol="0" anchor="ctr"/>
          <a:lstStyle/>
          <a:p>
            <a:pPr indent="0" marL="0">
              <a:buNone/>
            </a:pPr>
            <a:r>
              <a:rPr lang="en-US" sz="1500" b="1" dirty="0">
                <a:solidFill>
                  <a:srgbClr val="0F6E66"/>
                </a:solidFill>
                <a:latin typeface="Calibri" pitchFamily="34" charset="0"/>
                <a:ea typeface="Calibri" pitchFamily="34" charset="-122"/>
                <a:cs typeface="Calibri" pitchFamily="34" charset="-120"/>
              </a:rPr>
              <a:t>One prompt per chapter</a:t>
            </a:r>
            <a:endParaRPr lang="en-US" sz="1500" dirty="0"/>
          </a:p>
        </p:txBody>
      </p:sp>
      <p:sp>
        <p:nvSpPr>
          <p:cNvPr id="7" name="Text 5"/>
          <p:cNvSpPr txBox="1"/>
          <p:nvPr/>
        </p:nvSpPr>
        <p:spPr>
          <a:xfrm>
            <a:off x="850392" y="2578608"/>
            <a:ext cx="3099816" cy="1005840"/>
          </a:xfrm>
          <a:prstGeom prst="rect">
            <a:avLst/>
          </a:prstGeom>
          <a:noFill/>
          <a:ln/>
        </p:spPr>
        <p:txBody>
          <a:bodyPr wrap="square" lIns="0" tIns="0" rIns="0" bIns="0" rtlCol="0" anchor="t"/>
          <a:lstStyle/>
          <a:p>
            <a:pPr indent="0" marL="0">
              <a:lnSpc>
                <a:spcPct val="112000"/>
              </a:lnSpc>
              <a:buNone/>
            </a:pPr>
            <a:r>
              <a:rPr lang="en-US" sz="1300" dirty="0">
                <a:solidFill>
                  <a:srgbClr val="2B3138"/>
                </a:solidFill>
                <a:latin typeface="Calibri" pitchFamily="34" charset="0"/>
                <a:ea typeface="Calibri" pitchFamily="34" charset="-122"/>
                <a:cs typeface="Calibri" pitchFamily="34" charset="-120"/>
              </a:rPr>
              <a:t>Each is a parameterized template, not a message. If it only works on our project, it isn't finished.</a:t>
            </a:r>
            <a:endParaRPr lang="en-US" sz="1300" dirty="0"/>
          </a:p>
        </p:txBody>
      </p:sp>
      <p:sp>
        <p:nvSpPr>
          <p:cNvPr id="8" name="Shape 6"/>
          <p:cNvSpPr/>
          <p:nvPr/>
        </p:nvSpPr>
        <p:spPr>
          <a:xfrm>
            <a:off x="4434840" y="2011680"/>
            <a:ext cx="3611880" cy="1783080"/>
          </a:xfrm>
          <a:prstGeom prst="roundRect">
            <a:avLst>
              <a:gd name="adj" fmla="val 3077"/>
            </a:avLst>
          </a:prstGeom>
          <a:solidFill>
            <a:srgbClr val="F4F6F6"/>
          </a:solidFill>
          <a:ln w="12700">
            <a:solidFill>
              <a:srgbClr val="DFE3E6"/>
            </a:solidFill>
            <a:prstDash val="solid"/>
          </a:ln>
        </p:spPr>
      </p:sp>
      <p:sp>
        <p:nvSpPr>
          <p:cNvPr id="9" name="Text 7"/>
          <p:cNvSpPr txBox="1"/>
          <p:nvPr/>
        </p:nvSpPr>
        <p:spPr>
          <a:xfrm>
            <a:off x="4690872" y="2212848"/>
            <a:ext cx="3099816" cy="320040"/>
          </a:xfrm>
          <a:prstGeom prst="rect">
            <a:avLst/>
          </a:prstGeom>
          <a:noFill/>
          <a:ln/>
        </p:spPr>
        <p:txBody>
          <a:bodyPr wrap="square" lIns="0" tIns="0" rIns="0" bIns="0" rtlCol="0" anchor="ctr"/>
          <a:lstStyle/>
          <a:p>
            <a:pPr indent="0" marL="0">
              <a:buNone/>
            </a:pPr>
            <a:r>
              <a:rPr lang="en-US" sz="1500" b="1" dirty="0">
                <a:solidFill>
                  <a:srgbClr val="0F6E66"/>
                </a:solidFill>
                <a:latin typeface="Calibri" pitchFamily="34" charset="0"/>
                <a:ea typeface="Calibri" pitchFamily="34" charset="-122"/>
                <a:cs typeface="Calibri" pitchFamily="34" charset="-120"/>
              </a:rPr>
              <a:t>A router that chains them</a:t>
            </a:r>
            <a:endParaRPr lang="en-US" sz="1500" dirty="0"/>
          </a:p>
        </p:txBody>
      </p:sp>
      <p:sp>
        <p:nvSpPr>
          <p:cNvPr id="10" name="Text 8"/>
          <p:cNvSpPr txBox="1"/>
          <p:nvPr/>
        </p:nvSpPr>
        <p:spPr>
          <a:xfrm>
            <a:off x="4690872" y="2578608"/>
            <a:ext cx="3099816" cy="1005840"/>
          </a:xfrm>
          <a:prstGeom prst="rect">
            <a:avLst/>
          </a:prstGeom>
          <a:noFill/>
          <a:ln/>
        </p:spPr>
        <p:txBody>
          <a:bodyPr wrap="square" lIns="0" tIns="0" rIns="0" bIns="0" rtlCol="0" anchor="t"/>
          <a:lstStyle/>
          <a:p>
            <a:pPr indent="0" marL="0">
              <a:lnSpc>
                <a:spcPct val="112000"/>
              </a:lnSpc>
              <a:buNone/>
            </a:pPr>
            <a:r>
              <a:rPr lang="en-US" sz="1300" dirty="0">
                <a:solidFill>
                  <a:srgbClr val="2B3138"/>
                </a:solidFill>
                <a:latin typeface="Calibri" pitchFamily="34" charset="0"/>
                <a:ea typeface="Calibri" pitchFamily="34" charset="-122"/>
                <a:cs typeface="Calibri" pitchFamily="34" charset="-120"/>
              </a:rPr>
              <a:t>Classify, select, execute, verify, route forward or loop back.</a:t>
            </a:r>
            <a:endParaRPr lang="en-US" sz="1300" dirty="0"/>
          </a:p>
        </p:txBody>
      </p:sp>
      <p:sp>
        <p:nvSpPr>
          <p:cNvPr id="11" name="Shape 9"/>
          <p:cNvSpPr/>
          <p:nvPr/>
        </p:nvSpPr>
        <p:spPr>
          <a:xfrm>
            <a:off x="8275320" y="2011680"/>
            <a:ext cx="3611880" cy="1783080"/>
          </a:xfrm>
          <a:prstGeom prst="roundRect">
            <a:avLst>
              <a:gd name="adj" fmla="val 3077"/>
            </a:avLst>
          </a:prstGeom>
          <a:solidFill>
            <a:srgbClr val="F4F6F6"/>
          </a:solidFill>
          <a:ln w="12700">
            <a:solidFill>
              <a:srgbClr val="DFE3E6"/>
            </a:solidFill>
            <a:prstDash val="solid"/>
          </a:ln>
        </p:spPr>
      </p:sp>
      <p:sp>
        <p:nvSpPr>
          <p:cNvPr id="12" name="Text 10"/>
          <p:cNvSpPr txBox="1"/>
          <p:nvPr/>
        </p:nvSpPr>
        <p:spPr>
          <a:xfrm>
            <a:off x="8531352" y="2212848"/>
            <a:ext cx="3099816" cy="320040"/>
          </a:xfrm>
          <a:prstGeom prst="rect">
            <a:avLst/>
          </a:prstGeom>
          <a:noFill/>
          <a:ln/>
        </p:spPr>
        <p:txBody>
          <a:bodyPr wrap="square" lIns="0" tIns="0" rIns="0" bIns="0" rtlCol="0" anchor="ctr"/>
          <a:lstStyle/>
          <a:p>
            <a:pPr indent="0" marL="0">
              <a:buNone/>
            </a:pPr>
            <a:r>
              <a:rPr lang="en-US" sz="1500" b="1" dirty="0">
                <a:solidFill>
                  <a:srgbClr val="0F6E66"/>
                </a:solidFill>
                <a:latin typeface="Calibri" pitchFamily="34" charset="0"/>
                <a:ea typeface="Calibri" pitchFamily="34" charset="-122"/>
                <a:cs typeface="Calibri" pitchFamily="34" charset="-120"/>
              </a:rPr>
              <a:t>Proven cold</a:t>
            </a:r>
            <a:endParaRPr lang="en-US" sz="1500" dirty="0"/>
          </a:p>
        </p:txBody>
      </p:sp>
      <p:sp>
        <p:nvSpPr>
          <p:cNvPr id="13" name="Text 11"/>
          <p:cNvSpPr txBox="1"/>
          <p:nvPr/>
        </p:nvSpPr>
        <p:spPr>
          <a:xfrm>
            <a:off x="8531352" y="2578608"/>
            <a:ext cx="3099816" cy="1005840"/>
          </a:xfrm>
          <a:prstGeom prst="rect">
            <a:avLst/>
          </a:prstGeom>
          <a:noFill/>
          <a:ln/>
        </p:spPr>
        <p:txBody>
          <a:bodyPr wrap="square" lIns="0" tIns="0" rIns="0" bIns="0" rtlCol="0" anchor="t"/>
          <a:lstStyle/>
          <a:p>
            <a:pPr indent="0" marL="0">
              <a:lnSpc>
                <a:spcPct val="112000"/>
              </a:lnSpc>
              <a:buNone/>
            </a:pPr>
            <a:r>
              <a:rPr lang="en-US" sz="1300" dirty="0">
                <a:solidFill>
                  <a:srgbClr val="2B3138"/>
                </a:solidFill>
                <a:latin typeface="Calibri" pitchFamily="34" charset="0"/>
                <a:ea typeface="Calibri" pitchFamily="34" charset="-122"/>
                <a:cs typeface="Calibri" pitchFamily="34" charset="-120"/>
              </a:rPr>
              <a:t>Week 13: an unfamiliar domain, run with only what we built.</a:t>
            </a:r>
            <a:endParaRPr lang="en-US" sz="1300" dirty="0"/>
          </a:p>
        </p:txBody>
      </p:sp>
      <p:sp>
        <p:nvSpPr>
          <p:cNvPr id="14" name="Text 12"/>
          <p:cNvSpPr txBox="1"/>
          <p:nvPr/>
        </p:nvSpPr>
        <p:spPr>
          <a:xfrm>
            <a:off x="594360" y="4206240"/>
            <a:ext cx="4572000" cy="411480"/>
          </a:xfrm>
          <a:prstGeom prst="rect">
            <a:avLst/>
          </a:prstGeom>
          <a:noFill/>
          <a:ln/>
        </p:spPr>
        <p:txBody>
          <a:bodyPr wrap="square" lIns="0" tIns="0" rIns="0" bIns="0" rtlCol="0" anchor="ctr"/>
          <a:lstStyle/>
          <a:p>
            <a:pPr indent="0" marL="0">
              <a:buNone/>
            </a:pPr>
            <a:r>
              <a:rPr lang="en-US" sz="2400" b="1" dirty="0">
                <a:solidFill>
                  <a:srgbClr val="1C2128"/>
                </a:solidFill>
                <a:latin typeface="Cambria" pitchFamily="34" charset="0"/>
                <a:ea typeface="Cambria" pitchFamily="34" charset="-122"/>
                <a:cs typeface="Cambria" pitchFamily="34" charset="-120"/>
              </a:rPr>
              <a:t>Built so far: 3 of 10</a:t>
            </a:r>
            <a:endParaRPr lang="en-US" sz="2400" dirty="0"/>
          </a:p>
        </p:txBody>
      </p:sp>
      <p:sp>
        <p:nvSpPr>
          <p:cNvPr id="15" name="Text 13"/>
          <p:cNvSpPr txBox="1"/>
          <p:nvPr/>
        </p:nvSpPr>
        <p:spPr>
          <a:xfrm>
            <a:off x="594360" y="4663440"/>
            <a:ext cx="11000232" cy="365760"/>
          </a:xfrm>
          <a:prstGeom prst="rect">
            <a:avLst/>
          </a:prstGeom>
          <a:noFill/>
          <a:ln/>
        </p:spPr>
        <p:txBody>
          <a:bodyPr wrap="square" lIns="0" tIns="0" rIns="0" bIns="0" rtlCol="0" anchor="ctr"/>
          <a:lstStyle/>
          <a:p>
            <a:pPr indent="0" marL="0">
              <a:buNone/>
            </a:pPr>
            <a:r>
              <a:rPr lang="en-US" sz="1400" dirty="0">
                <a:solidFill>
                  <a:srgbClr val="6E7781"/>
                </a:solidFill>
                <a:latin typeface="Calibri" pitchFamily="34" charset="0"/>
                <a:ea typeface="Calibri" pitchFamily="34" charset="-122"/>
                <a:cs typeface="Calibri" pitchFamily="34" charset="-120"/>
              </a:rPr>
              <a:t>Ch2 Software Processes  ·  Ch3 Agile Development  ·  Ch4 Requirements Engineering</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201168"/>
            <a:ext cx="11000232" cy="256032"/>
          </a:xfrm>
          <a:prstGeom prst="rect">
            <a:avLst/>
          </a:prstGeom>
          <a:noFill/>
          <a:ln/>
        </p:spPr>
        <p:txBody>
          <a:bodyPr wrap="square" lIns="0" tIns="0" rIns="0" bIns="0" rtlCol="0" anchor="ctr"/>
          <a:lstStyle/>
          <a:p>
            <a:pPr indent="0" marL="0">
              <a:buNone/>
            </a:pPr>
            <a:r>
              <a:rPr lang="en-US" sz="1100" b="1" spc="200" kern="0" dirty="0">
                <a:solidFill>
                  <a:srgbClr val="0F6E66"/>
                </a:solidFill>
                <a:latin typeface="Calibri" pitchFamily="34" charset="0"/>
                <a:ea typeface="Calibri" pitchFamily="34" charset="-122"/>
                <a:cs typeface="Calibri" pitchFamily="34" charset="-120"/>
              </a:rPr>
              <a:t>THE CHAIN</a:t>
            </a:r>
            <a:endParaRPr lang="en-US" sz="1100" dirty="0"/>
          </a:p>
        </p:txBody>
      </p:sp>
      <p:sp>
        <p:nvSpPr>
          <p:cNvPr id="3" name="Text 1"/>
          <p:cNvSpPr txBox="1"/>
          <p:nvPr/>
        </p:nvSpPr>
        <p:spPr>
          <a:xfrm>
            <a:off x="594360" y="457200"/>
            <a:ext cx="11000232" cy="777240"/>
          </a:xfrm>
          <a:prstGeom prst="rect">
            <a:avLst/>
          </a:prstGeom>
          <a:noFill/>
          <a:ln/>
        </p:spPr>
        <p:txBody>
          <a:bodyPr wrap="square" lIns="0" tIns="0" rIns="0" bIns="0" rtlCol="0" anchor="ctr"/>
          <a:lstStyle/>
          <a:p>
            <a:pPr indent="0" marL="0">
              <a:buNone/>
            </a:pPr>
            <a:r>
              <a:rPr lang="en-US" sz="3400" b="1" dirty="0">
                <a:solidFill>
                  <a:srgbClr val="1C2128"/>
                </a:solidFill>
                <a:latin typeface="Cambria" pitchFamily="34" charset="0"/>
                <a:ea typeface="Cambria" pitchFamily="34" charset="-122"/>
                <a:cs typeface="Cambria" pitchFamily="34" charset="-120"/>
              </a:rPr>
              <a:t>Each prompt's output is the next prompt's input</a:t>
            </a:r>
            <a:endParaRPr lang="en-US" sz="3400" dirty="0"/>
          </a:p>
        </p:txBody>
      </p:sp>
      <p:sp>
        <p:nvSpPr>
          <p:cNvPr id="4" name="Shape 2"/>
          <p:cNvSpPr/>
          <p:nvPr/>
        </p:nvSpPr>
        <p:spPr>
          <a:xfrm>
            <a:off x="594360" y="1993392"/>
            <a:ext cx="658368" cy="310896"/>
          </a:xfrm>
          <a:prstGeom prst="roundRect">
            <a:avLst>
              <a:gd name="adj" fmla="val 23529"/>
            </a:avLst>
          </a:prstGeom>
          <a:solidFill>
            <a:srgbClr val="0F6E66"/>
          </a:solidFill>
          <a:ln w="12700">
            <a:solidFill>
              <a:srgbClr val="0F6E66"/>
            </a:solidFill>
            <a:prstDash val="solid"/>
          </a:ln>
        </p:spPr>
      </p:sp>
      <p:sp>
        <p:nvSpPr>
          <p:cNvPr id="5" name="Text 3"/>
          <p:cNvSpPr txBox="1"/>
          <p:nvPr/>
        </p:nvSpPr>
        <p:spPr>
          <a:xfrm>
            <a:off x="594360" y="1993392"/>
            <a:ext cx="658368"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CH2</a:t>
            </a:r>
            <a:endParaRPr lang="en-US" sz="1200" dirty="0"/>
          </a:p>
        </p:txBody>
      </p:sp>
      <p:sp>
        <p:nvSpPr>
          <p:cNvPr id="6" name="Shape 4"/>
          <p:cNvSpPr/>
          <p:nvPr/>
        </p:nvSpPr>
        <p:spPr>
          <a:xfrm>
            <a:off x="1508760" y="1737360"/>
            <a:ext cx="9966960" cy="960120"/>
          </a:xfrm>
          <a:prstGeom prst="roundRect">
            <a:avLst>
              <a:gd name="adj" fmla="val 5714"/>
            </a:avLst>
          </a:prstGeom>
          <a:solidFill>
            <a:srgbClr val="F4F6F6"/>
          </a:solidFill>
          <a:ln w="12700">
            <a:solidFill>
              <a:srgbClr val="DFE3E6"/>
            </a:solidFill>
            <a:prstDash val="solid"/>
          </a:ln>
        </p:spPr>
      </p:sp>
      <p:sp>
        <p:nvSpPr>
          <p:cNvPr id="7" name="Text 5"/>
          <p:cNvSpPr txBox="1"/>
          <p:nvPr/>
        </p:nvSpPr>
        <p:spPr>
          <a:xfrm>
            <a:off x="1783080" y="1856232"/>
            <a:ext cx="3931920" cy="365760"/>
          </a:xfrm>
          <a:prstGeom prst="rect">
            <a:avLst/>
          </a:prstGeom>
          <a:noFill/>
          <a:ln/>
        </p:spPr>
        <p:txBody>
          <a:bodyPr wrap="square" lIns="0" tIns="0" rIns="0" bIns="0" rtlCol="0" anchor="ctr"/>
          <a:lstStyle/>
          <a:p>
            <a:pPr indent="0" marL="0">
              <a:buNone/>
            </a:pPr>
            <a:r>
              <a:rPr lang="en-US" sz="1600" b="1" dirty="0">
                <a:solidFill>
                  <a:srgbClr val="1C2128"/>
                </a:solidFill>
                <a:latin typeface="Calibri" pitchFamily="34" charset="0"/>
                <a:ea typeface="Calibri" pitchFamily="34" charset="-122"/>
                <a:cs typeface="Calibri" pitchFamily="34" charset="-120"/>
              </a:rPr>
              <a:t>Process Architecture Record</a:t>
            </a:r>
            <a:endParaRPr lang="en-US" sz="1600" dirty="0"/>
          </a:p>
        </p:txBody>
      </p:sp>
      <p:sp>
        <p:nvSpPr>
          <p:cNvPr id="8" name="Text 6"/>
          <p:cNvSpPr txBox="1"/>
          <p:nvPr/>
        </p:nvSpPr>
        <p:spPr>
          <a:xfrm>
            <a:off x="1783080" y="2240280"/>
            <a:ext cx="9052560" cy="365760"/>
          </a:xfrm>
          <a:prstGeom prst="rect">
            <a:avLst/>
          </a:prstGeom>
          <a:noFill/>
          <a:ln/>
        </p:spPr>
        <p:txBody>
          <a:bodyPr wrap="square" lIns="0" tIns="0" rIns="0" bIns="0" rtlCol="0" anchor="ctr"/>
          <a:lstStyle/>
          <a:p>
            <a:pPr indent="0" marL="0">
              <a:buNone/>
            </a:pPr>
            <a:r>
              <a:rPr lang="en-US" sz="1300" dirty="0">
                <a:solidFill>
                  <a:srgbClr val="2B3138"/>
                </a:solidFill>
                <a:latin typeface="Calibri" pitchFamily="34" charset="0"/>
                <a:ea typeface="Calibri" pitchFamily="34" charset="-122"/>
                <a:cs typeface="Calibri" pitchFamily="34" charset="-120"/>
              </a:rPr>
              <a:t>Which model, which phases, what runs when</a:t>
            </a:r>
            <a:endParaRPr lang="en-US" sz="1300" dirty="0"/>
          </a:p>
        </p:txBody>
      </p:sp>
      <p:sp>
        <p:nvSpPr>
          <p:cNvPr id="9" name="Text 7"/>
          <p:cNvSpPr txBox="1"/>
          <p:nvPr/>
        </p:nvSpPr>
        <p:spPr>
          <a:xfrm>
            <a:off x="1508760" y="2697480"/>
            <a:ext cx="548640" cy="384048"/>
          </a:xfrm>
          <a:prstGeom prst="rect">
            <a:avLst/>
          </a:prstGeom>
          <a:noFill/>
          <a:ln/>
        </p:spPr>
        <p:txBody>
          <a:bodyPr wrap="square" lIns="0" tIns="0" rIns="0" bIns="0" rtlCol="0" anchor="ctr"/>
          <a:lstStyle/>
          <a:p>
            <a:pPr algn="ctr" indent="0" marL="0">
              <a:buNone/>
            </a:pPr>
            <a:r>
              <a:rPr lang="en-US" sz="1300" dirty="0">
                <a:solidFill>
                  <a:srgbClr val="6E7781"/>
                </a:solidFill>
                <a:latin typeface="Calibri" pitchFamily="34" charset="0"/>
                <a:ea typeface="Calibri" pitchFamily="34" charset="-122"/>
                <a:cs typeface="Calibri" pitchFamily="34" charset="-120"/>
              </a:rPr>
              <a:t>▼</a:t>
            </a:r>
            <a:endParaRPr lang="en-US" sz="1300" dirty="0"/>
          </a:p>
        </p:txBody>
      </p:sp>
      <p:sp>
        <p:nvSpPr>
          <p:cNvPr id="10" name="Shape 8"/>
          <p:cNvSpPr/>
          <p:nvPr/>
        </p:nvSpPr>
        <p:spPr>
          <a:xfrm>
            <a:off x="594360" y="3337560"/>
            <a:ext cx="658368" cy="310896"/>
          </a:xfrm>
          <a:prstGeom prst="roundRect">
            <a:avLst>
              <a:gd name="adj" fmla="val 23529"/>
            </a:avLst>
          </a:prstGeom>
          <a:solidFill>
            <a:srgbClr val="0F6E66"/>
          </a:solidFill>
          <a:ln w="12700">
            <a:solidFill>
              <a:srgbClr val="0F6E66"/>
            </a:solidFill>
            <a:prstDash val="solid"/>
          </a:ln>
        </p:spPr>
      </p:sp>
      <p:sp>
        <p:nvSpPr>
          <p:cNvPr id="11" name="Text 9"/>
          <p:cNvSpPr txBox="1"/>
          <p:nvPr/>
        </p:nvSpPr>
        <p:spPr>
          <a:xfrm>
            <a:off x="594360" y="3337560"/>
            <a:ext cx="658368"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CH3</a:t>
            </a:r>
            <a:endParaRPr lang="en-US" sz="1200" dirty="0"/>
          </a:p>
        </p:txBody>
      </p:sp>
      <p:sp>
        <p:nvSpPr>
          <p:cNvPr id="12" name="Shape 10"/>
          <p:cNvSpPr/>
          <p:nvPr/>
        </p:nvSpPr>
        <p:spPr>
          <a:xfrm>
            <a:off x="1508760" y="3081528"/>
            <a:ext cx="9966960" cy="960120"/>
          </a:xfrm>
          <a:prstGeom prst="roundRect">
            <a:avLst>
              <a:gd name="adj" fmla="val 5714"/>
            </a:avLst>
          </a:prstGeom>
          <a:solidFill>
            <a:srgbClr val="F4F6F6"/>
          </a:solidFill>
          <a:ln w="12700">
            <a:solidFill>
              <a:srgbClr val="DFE3E6"/>
            </a:solidFill>
            <a:prstDash val="solid"/>
          </a:ln>
        </p:spPr>
      </p:sp>
      <p:sp>
        <p:nvSpPr>
          <p:cNvPr id="13" name="Text 11"/>
          <p:cNvSpPr txBox="1"/>
          <p:nvPr/>
        </p:nvSpPr>
        <p:spPr>
          <a:xfrm>
            <a:off x="1783080" y="3200400"/>
            <a:ext cx="3931920" cy="365760"/>
          </a:xfrm>
          <a:prstGeom prst="rect">
            <a:avLst/>
          </a:prstGeom>
          <a:noFill/>
          <a:ln/>
        </p:spPr>
        <p:txBody>
          <a:bodyPr wrap="square" lIns="0" tIns="0" rIns="0" bIns="0" rtlCol="0" anchor="ctr"/>
          <a:lstStyle/>
          <a:p>
            <a:pPr indent="0" marL="0">
              <a:buNone/>
            </a:pPr>
            <a:r>
              <a:rPr lang="en-US" sz="1600" b="1" dirty="0">
                <a:solidFill>
                  <a:srgbClr val="1C2128"/>
                </a:solidFill>
                <a:latin typeface="Calibri" pitchFamily="34" charset="0"/>
                <a:ea typeface="Calibri" pitchFamily="34" charset="-122"/>
                <a:cs typeface="Calibri" pitchFamily="34" charset="-120"/>
              </a:rPr>
              <a:t>Development Practice Charter</a:t>
            </a:r>
            <a:endParaRPr lang="en-US" sz="1600" dirty="0"/>
          </a:p>
        </p:txBody>
      </p:sp>
      <p:sp>
        <p:nvSpPr>
          <p:cNvPr id="14" name="Text 12"/>
          <p:cNvSpPr txBox="1"/>
          <p:nvPr/>
        </p:nvSpPr>
        <p:spPr>
          <a:xfrm>
            <a:off x="1783080" y="3584448"/>
            <a:ext cx="9052560" cy="365760"/>
          </a:xfrm>
          <a:prstGeom prst="rect">
            <a:avLst/>
          </a:prstGeom>
          <a:noFill/>
          <a:ln/>
        </p:spPr>
        <p:txBody>
          <a:bodyPr wrap="square" lIns="0" tIns="0" rIns="0" bIns="0" rtlCol="0" anchor="ctr"/>
          <a:lstStyle/>
          <a:p>
            <a:pPr indent="0" marL="0">
              <a:buNone/>
            </a:pPr>
            <a:r>
              <a:rPr lang="en-US" sz="1300" dirty="0">
                <a:solidFill>
                  <a:srgbClr val="2B3138"/>
                </a:solidFill>
                <a:latin typeface="Calibri" pitchFamily="34" charset="0"/>
                <a:ea typeface="Calibri" pitchFamily="34" charset="-122"/>
                <a:cs typeface="Calibri" pitchFamily="34" charset="-120"/>
              </a:rPr>
              <a:t>Which disciplines are in force, who performs them</a:t>
            </a:r>
            <a:endParaRPr lang="en-US" sz="1300" dirty="0"/>
          </a:p>
        </p:txBody>
      </p:sp>
      <p:sp>
        <p:nvSpPr>
          <p:cNvPr id="15" name="Text 13"/>
          <p:cNvSpPr txBox="1"/>
          <p:nvPr/>
        </p:nvSpPr>
        <p:spPr>
          <a:xfrm>
            <a:off x="1508760" y="4041648"/>
            <a:ext cx="548640" cy="384048"/>
          </a:xfrm>
          <a:prstGeom prst="rect">
            <a:avLst/>
          </a:prstGeom>
          <a:noFill/>
          <a:ln/>
        </p:spPr>
        <p:txBody>
          <a:bodyPr wrap="square" lIns="0" tIns="0" rIns="0" bIns="0" rtlCol="0" anchor="ctr"/>
          <a:lstStyle/>
          <a:p>
            <a:pPr algn="ctr" indent="0" marL="0">
              <a:buNone/>
            </a:pPr>
            <a:r>
              <a:rPr lang="en-US" sz="1300" dirty="0">
                <a:solidFill>
                  <a:srgbClr val="6E7781"/>
                </a:solidFill>
                <a:latin typeface="Calibri" pitchFamily="34" charset="0"/>
                <a:ea typeface="Calibri" pitchFamily="34" charset="-122"/>
                <a:cs typeface="Calibri" pitchFamily="34" charset="-120"/>
              </a:rPr>
              <a:t>▼</a:t>
            </a:r>
            <a:endParaRPr lang="en-US" sz="1300" dirty="0"/>
          </a:p>
        </p:txBody>
      </p:sp>
      <p:sp>
        <p:nvSpPr>
          <p:cNvPr id="16" name="Shape 14"/>
          <p:cNvSpPr/>
          <p:nvPr/>
        </p:nvSpPr>
        <p:spPr>
          <a:xfrm>
            <a:off x="594360" y="4681728"/>
            <a:ext cx="658368" cy="310896"/>
          </a:xfrm>
          <a:prstGeom prst="roundRect">
            <a:avLst>
              <a:gd name="adj" fmla="val 23529"/>
            </a:avLst>
          </a:prstGeom>
          <a:solidFill>
            <a:srgbClr val="A85A08"/>
          </a:solidFill>
          <a:ln w="12700">
            <a:solidFill>
              <a:srgbClr val="A85A08"/>
            </a:solidFill>
            <a:prstDash val="solid"/>
          </a:ln>
        </p:spPr>
      </p:sp>
      <p:sp>
        <p:nvSpPr>
          <p:cNvPr id="17" name="Text 15"/>
          <p:cNvSpPr txBox="1"/>
          <p:nvPr/>
        </p:nvSpPr>
        <p:spPr>
          <a:xfrm>
            <a:off x="594360" y="4681728"/>
            <a:ext cx="658368"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CH4</a:t>
            </a:r>
            <a:endParaRPr lang="en-US" sz="1200" dirty="0"/>
          </a:p>
        </p:txBody>
      </p:sp>
      <p:sp>
        <p:nvSpPr>
          <p:cNvPr id="18" name="Shape 16"/>
          <p:cNvSpPr/>
          <p:nvPr/>
        </p:nvSpPr>
        <p:spPr>
          <a:xfrm>
            <a:off x="1508760" y="4425696"/>
            <a:ext cx="9966960" cy="960120"/>
          </a:xfrm>
          <a:prstGeom prst="roundRect">
            <a:avLst>
              <a:gd name="adj" fmla="val 5714"/>
            </a:avLst>
          </a:prstGeom>
          <a:solidFill>
            <a:srgbClr val="F4F6F6"/>
          </a:solidFill>
          <a:ln w="12700">
            <a:solidFill>
              <a:srgbClr val="DFE3E6"/>
            </a:solidFill>
            <a:prstDash val="solid"/>
          </a:ln>
        </p:spPr>
      </p:sp>
      <p:sp>
        <p:nvSpPr>
          <p:cNvPr id="19" name="Text 17"/>
          <p:cNvSpPr txBox="1"/>
          <p:nvPr/>
        </p:nvSpPr>
        <p:spPr>
          <a:xfrm>
            <a:off x="1783080" y="4544568"/>
            <a:ext cx="3931920" cy="365760"/>
          </a:xfrm>
          <a:prstGeom prst="rect">
            <a:avLst/>
          </a:prstGeom>
          <a:noFill/>
          <a:ln/>
        </p:spPr>
        <p:txBody>
          <a:bodyPr wrap="square" lIns="0" tIns="0" rIns="0" bIns="0" rtlCol="0" anchor="ctr"/>
          <a:lstStyle/>
          <a:p>
            <a:pPr indent="0" marL="0">
              <a:buNone/>
            </a:pPr>
            <a:r>
              <a:rPr lang="en-US" sz="1600" b="1" dirty="0">
                <a:solidFill>
                  <a:srgbClr val="1C2128"/>
                </a:solidFill>
                <a:latin typeface="Calibri" pitchFamily="34" charset="0"/>
                <a:ea typeface="Calibri" pitchFamily="34" charset="-122"/>
                <a:cs typeface="Calibri" pitchFamily="34" charset="-120"/>
              </a:rPr>
              <a:t>Requirements Specification</a:t>
            </a:r>
            <a:endParaRPr lang="en-US" sz="1600" dirty="0"/>
          </a:p>
        </p:txBody>
      </p:sp>
      <p:sp>
        <p:nvSpPr>
          <p:cNvPr id="20" name="Text 18"/>
          <p:cNvSpPr txBox="1"/>
          <p:nvPr/>
        </p:nvSpPr>
        <p:spPr>
          <a:xfrm>
            <a:off x="1783080" y="4928616"/>
            <a:ext cx="9052560" cy="365760"/>
          </a:xfrm>
          <a:prstGeom prst="rect">
            <a:avLst/>
          </a:prstGeom>
          <a:noFill/>
          <a:ln/>
        </p:spPr>
        <p:txBody>
          <a:bodyPr wrap="square" lIns="0" tIns="0" rIns="0" bIns="0" rtlCol="0" anchor="ctr"/>
          <a:lstStyle/>
          <a:p>
            <a:pPr indent="0" marL="0">
              <a:buNone/>
            </a:pPr>
            <a:r>
              <a:rPr lang="en-US" sz="1300" dirty="0">
                <a:solidFill>
                  <a:srgbClr val="2B3138"/>
                </a:solidFill>
                <a:latin typeface="Calibri" pitchFamily="34" charset="0"/>
                <a:ea typeface="Calibri" pitchFamily="34" charset="-122"/>
                <a:cs typeface="Calibri" pitchFamily="34" charset="-120"/>
              </a:rPr>
              <a:t>What the system must do, and how sure we are</a:t>
            </a:r>
            <a:endParaRPr lang="en-US" sz="1300" dirty="0"/>
          </a:p>
        </p:txBody>
      </p:sp>
      <p:sp>
        <p:nvSpPr>
          <p:cNvPr id="21" name="Text 19"/>
          <p:cNvSpPr txBox="1"/>
          <p:nvPr/>
        </p:nvSpPr>
        <p:spPr>
          <a:xfrm>
            <a:off x="594360" y="5715000"/>
            <a:ext cx="11000232" cy="457200"/>
          </a:xfrm>
          <a:prstGeom prst="rect">
            <a:avLst/>
          </a:prstGeom>
          <a:noFill/>
          <a:ln/>
        </p:spPr>
        <p:txBody>
          <a:bodyPr wrap="square" lIns="0" tIns="0" rIns="0" bIns="0" rtlCol="0" anchor="ctr"/>
          <a:lstStyle/>
          <a:p>
            <a:pPr indent="0" marL="0">
              <a:buNone/>
            </a:pPr>
            <a:r>
              <a:rPr lang="en-US" sz="1400" i="1" dirty="0">
                <a:solidFill>
                  <a:srgbClr val="0F6E66"/>
                </a:solidFill>
                <a:latin typeface="Calibri" pitchFamily="34" charset="0"/>
                <a:ea typeface="Calibri" pitchFamily="34" charset="-122"/>
                <a:cs typeface="Calibri" pitchFamily="34" charset="-120"/>
              </a:rPr>
              <a:t>The router walks this chain. A prompt that produces a beautiful artifact in the wrong shape is still broken.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201168"/>
            <a:ext cx="11000232" cy="256032"/>
          </a:xfrm>
          <a:prstGeom prst="rect">
            <a:avLst/>
          </a:prstGeom>
          <a:noFill/>
          <a:ln/>
        </p:spPr>
        <p:txBody>
          <a:bodyPr wrap="square" lIns="0" tIns="0" rIns="0" bIns="0" rtlCol="0" anchor="ctr"/>
          <a:lstStyle/>
          <a:p>
            <a:pPr indent="0" marL="0">
              <a:buNone/>
            </a:pPr>
            <a:r>
              <a:rPr lang="en-US" sz="1100" b="1" spc="200" kern="0" dirty="0">
                <a:solidFill>
                  <a:srgbClr val="0F6E66"/>
                </a:solidFill>
                <a:latin typeface="Calibri" pitchFamily="34" charset="0"/>
                <a:ea typeface="Calibri" pitchFamily="34" charset="-122"/>
                <a:cs typeface="Calibri" pitchFamily="34" charset="-120"/>
              </a:rPr>
              <a:t>DESIGN PROBLEM</a:t>
            </a:r>
            <a:endParaRPr lang="en-US" sz="1100" dirty="0"/>
          </a:p>
        </p:txBody>
      </p:sp>
      <p:sp>
        <p:nvSpPr>
          <p:cNvPr id="3" name="Text 1"/>
          <p:cNvSpPr txBox="1"/>
          <p:nvPr/>
        </p:nvSpPr>
        <p:spPr>
          <a:xfrm>
            <a:off x="594360" y="457200"/>
            <a:ext cx="11000232" cy="777240"/>
          </a:xfrm>
          <a:prstGeom prst="rect">
            <a:avLst/>
          </a:prstGeom>
          <a:noFill/>
          <a:ln/>
        </p:spPr>
        <p:txBody>
          <a:bodyPr wrap="square" lIns="0" tIns="0" rIns="0" bIns="0" rtlCol="0" anchor="ctr"/>
          <a:lstStyle/>
          <a:p>
            <a:pPr indent="0" marL="0">
              <a:buNone/>
            </a:pPr>
            <a:r>
              <a:rPr lang="en-US" sz="3400" b="1" dirty="0">
                <a:solidFill>
                  <a:srgbClr val="1C2128"/>
                </a:solidFill>
                <a:latin typeface="Cambria" pitchFamily="34" charset="0"/>
                <a:ea typeface="Cambria" pitchFamily="34" charset="-122"/>
                <a:cs typeface="Cambria" pitchFamily="34" charset="-120"/>
              </a:rPr>
              <a:t>Two prompts that decide the same thing will contradict each other</a:t>
            </a:r>
            <a:endParaRPr lang="en-US" sz="3400" dirty="0"/>
          </a:p>
        </p:txBody>
      </p:sp>
      <p:sp>
        <p:nvSpPr>
          <p:cNvPr id="4" name="Text 2"/>
          <p:cNvSpPr txBox="1"/>
          <p:nvPr/>
        </p:nvSpPr>
        <p:spPr>
          <a:xfrm>
            <a:off x="594360" y="1280160"/>
            <a:ext cx="11000232" cy="411480"/>
          </a:xfrm>
          <a:prstGeom prst="rect">
            <a:avLst/>
          </a:prstGeom>
          <a:noFill/>
          <a:ln/>
        </p:spPr>
        <p:txBody>
          <a:bodyPr wrap="square" lIns="0" tIns="0" rIns="0" bIns="0" rtlCol="0" anchor="t"/>
          <a:lstStyle/>
          <a:p>
            <a:pPr indent="0" marL="0">
              <a:buNone/>
            </a:pPr>
            <a:r>
              <a:rPr lang="en-US" sz="1500" i="1" dirty="0">
                <a:solidFill>
                  <a:srgbClr val="6E7781"/>
                </a:solidFill>
                <a:latin typeface="Calibri" pitchFamily="34" charset="0"/>
                <a:ea typeface="Calibri" pitchFamily="34" charset="-122"/>
                <a:cs typeface="Calibri" pitchFamily="34" charset="-120"/>
              </a:rPr>
              <a:t>Ch2 and Ch3 both touch "how the project is run." Without a stated boundary, they overlap and argue.</a:t>
            </a:r>
            <a:endParaRPr lang="en-US" sz="1500" dirty="0"/>
          </a:p>
        </p:txBody>
      </p:sp>
      <p:sp>
        <p:nvSpPr>
          <p:cNvPr id="5" name="Shape 3"/>
          <p:cNvSpPr/>
          <p:nvPr/>
        </p:nvSpPr>
        <p:spPr>
          <a:xfrm>
            <a:off x="594360" y="2057400"/>
            <a:ext cx="5486400" cy="2377440"/>
          </a:xfrm>
          <a:prstGeom prst="roundRect">
            <a:avLst>
              <a:gd name="adj" fmla="val 2308"/>
            </a:avLst>
          </a:prstGeom>
          <a:solidFill>
            <a:srgbClr val="F4F6F6"/>
          </a:solidFill>
          <a:ln w="12700">
            <a:solidFill>
              <a:srgbClr val="DFE3E6"/>
            </a:solidFill>
            <a:prstDash val="solid"/>
          </a:ln>
        </p:spPr>
      </p:sp>
      <p:sp>
        <p:nvSpPr>
          <p:cNvPr id="6" name="Text 4"/>
          <p:cNvSpPr txBox="1"/>
          <p:nvPr/>
        </p:nvSpPr>
        <p:spPr>
          <a:xfrm>
            <a:off x="868680" y="2240280"/>
            <a:ext cx="4937760" cy="365760"/>
          </a:xfrm>
          <a:prstGeom prst="rect">
            <a:avLst/>
          </a:prstGeom>
          <a:noFill/>
          <a:ln/>
        </p:spPr>
        <p:txBody>
          <a:bodyPr wrap="square" lIns="0" tIns="0" rIns="0" bIns="0" rtlCol="0" anchor="ctr"/>
          <a:lstStyle/>
          <a:p>
            <a:pPr indent="0" marL="0">
              <a:buNone/>
            </a:pPr>
            <a:r>
              <a:rPr lang="en-US" sz="1600" b="1" dirty="0">
                <a:solidFill>
                  <a:srgbClr val="0F6E66"/>
                </a:solidFill>
                <a:latin typeface="Calibri" pitchFamily="34" charset="0"/>
                <a:ea typeface="Calibri" pitchFamily="34" charset="-122"/>
                <a:cs typeface="Calibri" pitchFamily="34" charset="-120"/>
              </a:rPr>
              <a:t>What we did instead</a:t>
            </a:r>
            <a:endParaRPr lang="en-US" sz="1600" dirty="0"/>
          </a:p>
        </p:txBody>
      </p:sp>
      <p:sp>
        <p:nvSpPr>
          <p:cNvPr id="7" name="Text 5"/>
          <p:cNvSpPr txBox="1"/>
          <p:nvPr/>
        </p:nvSpPr>
        <p:spPr>
          <a:xfrm>
            <a:off x="868680" y="2651760"/>
            <a:ext cx="4937760" cy="1517904"/>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2B3138"/>
                </a:solidFill>
                <a:latin typeface="Calibri" pitchFamily="34" charset="0"/>
                <a:ea typeface="Calibri" pitchFamily="34" charset="-122"/>
                <a:cs typeface="Calibri" pitchFamily="34" charset="-120"/>
              </a:rPr>
              <a:t>Ch2 decides the shape of the process</a:t>
            </a:r>
            <a:endParaRPr lang="en-US" sz="1300" dirty="0"/>
          </a:p>
          <a:p>
            <a:pPr marL="342900" indent="-342900">
              <a:spcAft>
                <a:spcPts val="1000"/>
              </a:spcAft>
              <a:buSzPct val="100000"/>
              <a:buChar char="•"/>
            </a:pPr>
            <a:r>
              <a:rPr lang="en-US" sz="1300" dirty="0">
                <a:solidFill>
                  <a:srgbClr val="2B3138"/>
                </a:solidFill>
                <a:latin typeface="Calibri" pitchFamily="34" charset="0"/>
                <a:ea typeface="Calibri" pitchFamily="34" charset="-122"/>
                <a:cs typeface="Calibri" pitchFamily="34" charset="-120"/>
              </a:rPr>
              <a:t>Ch3 decides the practices inside that shape</a:t>
            </a:r>
            <a:endParaRPr lang="en-US" sz="1300" dirty="0"/>
          </a:p>
          <a:p>
            <a:pPr marL="342900" indent="-342900">
              <a:spcAft>
                <a:spcPts val="1000"/>
              </a:spcAft>
              <a:buSzPct val="100000"/>
              <a:buChar char="•"/>
            </a:pPr>
            <a:r>
              <a:rPr lang="en-US" sz="1300" dirty="0">
                <a:solidFill>
                  <a:srgbClr val="2B3138"/>
                </a:solidFill>
                <a:latin typeface="Calibri" pitchFamily="34" charset="0"/>
                <a:ea typeface="Calibri" pitchFamily="34" charset="-122"/>
                <a:cs typeface="Calibri" pitchFamily="34" charset="-120"/>
              </a:rPr>
              <a:t>Ch3 uses a finer instrument on the same question — so it is allowed to disagree</a:t>
            </a:r>
            <a:endParaRPr lang="en-US" sz="1300" dirty="0"/>
          </a:p>
        </p:txBody>
      </p:sp>
      <p:sp>
        <p:nvSpPr>
          <p:cNvPr id="8" name="Shape 6"/>
          <p:cNvSpPr/>
          <p:nvPr/>
        </p:nvSpPr>
        <p:spPr>
          <a:xfrm>
            <a:off x="6446520" y="2057400"/>
            <a:ext cx="5486400" cy="2377440"/>
          </a:xfrm>
          <a:prstGeom prst="roundRect">
            <a:avLst>
              <a:gd name="adj" fmla="val 2308"/>
            </a:avLst>
          </a:prstGeom>
          <a:solidFill>
            <a:srgbClr val="F4F6F6"/>
          </a:solidFill>
          <a:ln w="12700">
            <a:solidFill>
              <a:srgbClr val="DFE3E6"/>
            </a:solidFill>
            <a:prstDash val="solid"/>
          </a:ln>
        </p:spPr>
      </p:sp>
      <p:sp>
        <p:nvSpPr>
          <p:cNvPr id="9" name="Text 7"/>
          <p:cNvSpPr txBox="1"/>
          <p:nvPr/>
        </p:nvSpPr>
        <p:spPr>
          <a:xfrm>
            <a:off x="6720840" y="2240280"/>
            <a:ext cx="4937760" cy="365760"/>
          </a:xfrm>
          <a:prstGeom prst="rect">
            <a:avLst/>
          </a:prstGeom>
          <a:noFill/>
          <a:ln/>
        </p:spPr>
        <p:txBody>
          <a:bodyPr wrap="square" lIns="0" tIns="0" rIns="0" bIns="0" rtlCol="0" anchor="ctr"/>
          <a:lstStyle/>
          <a:p>
            <a:pPr indent="0" marL="0">
              <a:buNone/>
            </a:pPr>
            <a:r>
              <a:rPr lang="en-US" sz="1600" b="1" dirty="0">
                <a:solidFill>
                  <a:srgbClr val="0F6E66"/>
                </a:solidFill>
                <a:latin typeface="Calibri" pitchFamily="34" charset="0"/>
                <a:ea typeface="Calibri" pitchFamily="34" charset="-122"/>
                <a:cs typeface="Calibri" pitchFamily="34" charset="-120"/>
              </a:rPr>
              <a:t>Why this matters for the router</a:t>
            </a:r>
            <a:endParaRPr lang="en-US" sz="1600" dirty="0"/>
          </a:p>
        </p:txBody>
      </p:sp>
      <p:sp>
        <p:nvSpPr>
          <p:cNvPr id="10" name="Text 8"/>
          <p:cNvSpPr txBox="1"/>
          <p:nvPr/>
        </p:nvSpPr>
        <p:spPr>
          <a:xfrm>
            <a:off x="6720840" y="2651760"/>
            <a:ext cx="4937760" cy="1517904"/>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2B3138"/>
                </a:solidFill>
                <a:latin typeface="Calibri" pitchFamily="34" charset="0"/>
                <a:ea typeface="Calibri" pitchFamily="34" charset="-122"/>
                <a:cs typeface="Calibri" pitchFamily="34" charset="-120"/>
              </a:rPr>
              <a:t>An agent can't arbitrate between two prompts that both claim authority</a:t>
            </a:r>
            <a:endParaRPr lang="en-US" sz="1300" dirty="0"/>
          </a:p>
          <a:p>
            <a:pPr marL="342900" indent="-342900">
              <a:spcAft>
                <a:spcPts val="1000"/>
              </a:spcAft>
              <a:buSzPct val="100000"/>
              <a:buChar char="•"/>
            </a:pPr>
            <a:r>
              <a:rPr lang="en-US" sz="1300" dirty="0">
                <a:solidFill>
                  <a:srgbClr val="2B3138"/>
                </a:solidFill>
                <a:latin typeface="Calibri" pitchFamily="34" charset="0"/>
                <a:ea typeface="Calibri" pitchFamily="34" charset="-122"/>
                <a:cs typeface="Calibri" pitchFamily="34" charset="-120"/>
              </a:rPr>
              <a:t>Overlap shows up as silent inconsistency, not as an error</a:t>
            </a:r>
            <a:endParaRPr lang="en-US" sz="1300" dirty="0"/>
          </a:p>
          <a:p>
            <a:pPr marL="342900" indent="-342900">
              <a:spcAft>
                <a:spcPts val="1000"/>
              </a:spcAft>
              <a:buSzPct val="100000"/>
              <a:buChar char="•"/>
            </a:pPr>
            <a:r>
              <a:rPr lang="en-US" sz="1300" dirty="0">
                <a:solidFill>
                  <a:srgbClr val="2B3138"/>
                </a:solidFill>
                <a:latin typeface="Calibri" pitchFamily="34" charset="0"/>
                <a:ea typeface="Calibri" pitchFamily="34" charset="-122"/>
                <a:cs typeface="Calibri" pitchFamily="34" charset="-120"/>
              </a:rPr>
              <a:t>Stated boundaries are what make the chain debuggable</a:t>
            </a:r>
            <a:endParaRPr lang="en-US" sz="1300" dirty="0"/>
          </a:p>
        </p:txBody>
      </p:sp>
      <p:sp>
        <p:nvSpPr>
          <p:cNvPr id="11" name="Text 9"/>
          <p:cNvSpPr txBox="1"/>
          <p:nvPr/>
        </p:nvSpPr>
        <p:spPr>
          <a:xfrm>
            <a:off x="594360" y="4846320"/>
            <a:ext cx="11000232" cy="457200"/>
          </a:xfrm>
          <a:prstGeom prst="rect">
            <a:avLst/>
          </a:prstGeom>
          <a:noFill/>
          <a:ln/>
        </p:spPr>
        <p:txBody>
          <a:bodyPr wrap="square" lIns="0" tIns="0" rIns="0" bIns="0" rtlCol="0" anchor="ctr"/>
          <a:lstStyle/>
          <a:p>
            <a:pPr indent="0" marL="0">
              <a:buNone/>
            </a:pPr>
            <a:r>
              <a:rPr lang="en-US" sz="1900" b="1" dirty="0">
                <a:solidFill>
                  <a:srgbClr val="1C2128"/>
                </a:solidFill>
                <a:latin typeface="Cambria" pitchFamily="34" charset="0"/>
                <a:ea typeface="Cambria" pitchFamily="34" charset="-122"/>
                <a:cs typeface="Cambria" pitchFamily="34" charset="-120"/>
              </a:rPr>
              <a:t>Every prompt in the library now opens with what it decides — and what it does not.</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936224" y="201168"/>
            <a:ext cx="658368" cy="310896"/>
          </a:xfrm>
          <a:prstGeom prst="roundRect">
            <a:avLst>
              <a:gd name="adj" fmla="val 23529"/>
            </a:avLst>
          </a:prstGeom>
          <a:solidFill>
            <a:srgbClr val="0F6E66"/>
          </a:solidFill>
          <a:ln w="12700">
            <a:solidFill>
              <a:srgbClr val="0F6E66"/>
            </a:solidFill>
            <a:prstDash val="solid"/>
          </a:ln>
        </p:spPr>
      </p:sp>
      <p:sp>
        <p:nvSpPr>
          <p:cNvPr id="3" name="Text 1"/>
          <p:cNvSpPr txBox="1"/>
          <p:nvPr/>
        </p:nvSpPr>
        <p:spPr>
          <a:xfrm>
            <a:off x="10936224" y="201168"/>
            <a:ext cx="658368"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CH2</a:t>
            </a:r>
            <a:endParaRPr lang="en-US" sz="1200" dirty="0"/>
          </a:p>
        </p:txBody>
      </p:sp>
      <p:sp>
        <p:nvSpPr>
          <p:cNvPr id="4" name="Text 2"/>
          <p:cNvSpPr txBox="1"/>
          <p:nvPr/>
        </p:nvSpPr>
        <p:spPr>
          <a:xfrm>
            <a:off x="594360" y="201168"/>
            <a:ext cx="11000232" cy="256032"/>
          </a:xfrm>
          <a:prstGeom prst="rect">
            <a:avLst/>
          </a:prstGeom>
          <a:noFill/>
          <a:ln/>
        </p:spPr>
        <p:txBody>
          <a:bodyPr wrap="square" lIns="0" tIns="0" rIns="0" bIns="0" rtlCol="0" anchor="ctr"/>
          <a:lstStyle/>
          <a:p>
            <a:pPr indent="0" marL="0">
              <a:buNone/>
            </a:pPr>
            <a:r>
              <a:rPr lang="en-US" sz="1100" b="1" spc="200" kern="0" dirty="0">
                <a:solidFill>
                  <a:srgbClr val="0F6E66"/>
                </a:solidFill>
                <a:latin typeface="Calibri" pitchFamily="34" charset="0"/>
                <a:ea typeface="Calibri" pitchFamily="34" charset="-122"/>
                <a:cs typeface="Calibri" pitchFamily="34" charset="-120"/>
              </a:rPr>
              <a:t>SOFTWARE PROCESSES</a:t>
            </a:r>
            <a:endParaRPr lang="en-US" sz="1100" dirty="0"/>
          </a:p>
        </p:txBody>
      </p:sp>
      <p:sp>
        <p:nvSpPr>
          <p:cNvPr id="5" name="Text 3"/>
          <p:cNvSpPr txBox="1"/>
          <p:nvPr/>
        </p:nvSpPr>
        <p:spPr>
          <a:xfrm>
            <a:off x="594360" y="868680"/>
            <a:ext cx="11000232" cy="777240"/>
          </a:xfrm>
          <a:prstGeom prst="rect">
            <a:avLst/>
          </a:prstGeom>
          <a:noFill/>
          <a:ln/>
        </p:spPr>
        <p:txBody>
          <a:bodyPr wrap="square" lIns="0" tIns="0" rIns="0" bIns="0" rtlCol="0" anchor="ctr"/>
          <a:lstStyle/>
          <a:p>
            <a:pPr indent="0" marL="0">
              <a:buNone/>
            </a:pPr>
            <a:r>
              <a:rPr lang="en-US" sz="3400" b="1" dirty="0">
                <a:solidFill>
                  <a:srgbClr val="1C2128"/>
                </a:solidFill>
                <a:latin typeface="Cambria" pitchFamily="34" charset="0"/>
                <a:ea typeface="Cambria" pitchFamily="34" charset="-122"/>
                <a:cs typeface="Cambria" pitchFamily="34" charset="-120"/>
              </a:rPr>
              <a:t>The shape of the process</a:t>
            </a:r>
            <a:endParaRPr lang="en-US" sz="3400" dirty="0"/>
          </a:p>
        </p:txBody>
      </p:sp>
      <p:sp>
        <p:nvSpPr>
          <p:cNvPr id="6" name="Text 4"/>
          <p:cNvSpPr txBox="1"/>
          <p:nvPr/>
        </p:nvSpPr>
        <p:spPr>
          <a:xfrm>
            <a:off x="594360" y="1664208"/>
            <a:ext cx="11000232" cy="411480"/>
          </a:xfrm>
          <a:prstGeom prst="rect">
            <a:avLst/>
          </a:prstGeom>
          <a:noFill/>
          <a:ln/>
        </p:spPr>
        <p:txBody>
          <a:bodyPr wrap="square" lIns="0" tIns="0" rIns="0" bIns="0" rtlCol="0" anchor="t"/>
          <a:lstStyle/>
          <a:p>
            <a:pPr indent="0" marL="0">
              <a:buNone/>
            </a:pPr>
            <a:r>
              <a:rPr lang="en-US" sz="1500" i="1" dirty="0">
                <a:solidFill>
                  <a:srgbClr val="6E7781"/>
                </a:solidFill>
                <a:latin typeface="Calibri" pitchFamily="34" charset="0"/>
                <a:ea typeface="Calibri" pitchFamily="34" charset="-122"/>
                <a:cs typeface="Calibri" pitchFamily="34" charset="-120"/>
              </a:rPr>
              <a:t>Runs before anything else exists. Its output tells the router what to do next.</a:t>
            </a:r>
            <a:endParaRPr lang="en-US" sz="1500" dirty="0"/>
          </a:p>
        </p:txBody>
      </p:sp>
      <p:sp>
        <p:nvSpPr>
          <p:cNvPr id="7" name="Text 5"/>
          <p:cNvSpPr txBox="1"/>
          <p:nvPr/>
        </p:nvSpPr>
        <p:spPr>
          <a:xfrm>
            <a:off x="594360" y="2240280"/>
            <a:ext cx="1737360" cy="685800"/>
          </a:xfrm>
          <a:prstGeom prst="rect">
            <a:avLst/>
          </a:prstGeom>
          <a:noFill/>
          <a:ln/>
        </p:spPr>
        <p:txBody>
          <a:bodyPr wrap="square" lIns="0" tIns="0" rIns="0" bIns="0" rtlCol="0" anchor="t"/>
          <a:lstStyle/>
          <a:p>
            <a:pPr indent="0" marL="0">
              <a:buNone/>
            </a:pPr>
            <a:r>
              <a:rPr lang="en-US" sz="1500" b="1" dirty="0">
                <a:solidFill>
                  <a:srgbClr val="0F6E66"/>
                </a:solidFill>
                <a:latin typeface="Calibri" pitchFamily="34" charset="0"/>
                <a:ea typeface="Calibri" pitchFamily="34" charset="-122"/>
                <a:cs typeface="Calibri" pitchFamily="34" charset="-120"/>
              </a:rPr>
              <a:t>Classifies</a:t>
            </a:r>
            <a:endParaRPr lang="en-US" sz="1500" dirty="0"/>
          </a:p>
        </p:txBody>
      </p:sp>
      <p:sp>
        <p:nvSpPr>
          <p:cNvPr id="8" name="Text 6"/>
          <p:cNvSpPr txBox="1"/>
          <p:nvPr/>
        </p:nvSpPr>
        <p:spPr>
          <a:xfrm>
            <a:off x="2423160" y="2240280"/>
            <a:ext cx="9052560" cy="822960"/>
          </a:xfrm>
          <a:prstGeom prst="rect">
            <a:avLst/>
          </a:prstGeom>
          <a:noFill/>
          <a:ln/>
        </p:spPr>
        <p:txBody>
          <a:bodyPr wrap="square" lIns="0" tIns="0" rIns="0" bIns="0" rtlCol="0" anchor="t"/>
          <a:lstStyle/>
          <a:p>
            <a:pPr indent="0" marL="0">
              <a:lnSpc>
                <a:spcPct val="110000"/>
              </a:lnSpc>
              <a:buNone/>
            </a:pPr>
            <a:r>
              <a:rPr lang="en-US" sz="1400" dirty="0">
                <a:solidFill>
                  <a:srgbClr val="2B3138"/>
                </a:solidFill>
                <a:latin typeface="Calibri" pitchFamily="34" charset="0"/>
                <a:ea typeface="Calibri" pitchFamily="34" charset="-122"/>
                <a:cs typeface="Calibri" pitchFamily="34" charset="-120"/>
              </a:rPr>
              <a:t>Requirements stability, criticality, team distribution, hardware coupling, reuse base, replacement vs greenfield, procurement, delivery tolerance</a:t>
            </a:r>
            <a:endParaRPr lang="en-US" sz="1400" dirty="0"/>
          </a:p>
        </p:txBody>
      </p:sp>
      <p:sp>
        <p:nvSpPr>
          <p:cNvPr id="9" name="Shape 7"/>
          <p:cNvSpPr/>
          <p:nvPr/>
        </p:nvSpPr>
        <p:spPr>
          <a:xfrm>
            <a:off x="594360" y="3081528"/>
            <a:ext cx="11000232" cy="0"/>
          </a:xfrm>
          <a:prstGeom prst="line">
            <a:avLst/>
          </a:prstGeom>
          <a:noFill/>
          <a:ln w="12700">
            <a:solidFill>
              <a:srgbClr val="DFE3E6"/>
            </a:solidFill>
            <a:prstDash val="solid"/>
          </a:ln>
        </p:spPr>
      </p:sp>
      <p:sp>
        <p:nvSpPr>
          <p:cNvPr id="10" name="Text 8"/>
          <p:cNvSpPr txBox="1"/>
          <p:nvPr/>
        </p:nvSpPr>
        <p:spPr>
          <a:xfrm>
            <a:off x="594360" y="3227832"/>
            <a:ext cx="1737360" cy="685800"/>
          </a:xfrm>
          <a:prstGeom prst="rect">
            <a:avLst/>
          </a:prstGeom>
          <a:noFill/>
          <a:ln/>
        </p:spPr>
        <p:txBody>
          <a:bodyPr wrap="square" lIns="0" tIns="0" rIns="0" bIns="0" rtlCol="0" anchor="t"/>
          <a:lstStyle/>
          <a:p>
            <a:pPr indent="0" marL="0">
              <a:buNone/>
            </a:pPr>
            <a:r>
              <a:rPr lang="en-US" sz="1500" b="1" dirty="0">
                <a:solidFill>
                  <a:srgbClr val="0F6E66"/>
                </a:solidFill>
                <a:latin typeface="Calibri" pitchFamily="34" charset="0"/>
                <a:ea typeface="Calibri" pitchFamily="34" charset="-122"/>
                <a:cs typeface="Calibri" pitchFamily="34" charset="-120"/>
              </a:rPr>
              <a:t>Evaluates</a:t>
            </a:r>
            <a:endParaRPr lang="en-US" sz="1500" dirty="0"/>
          </a:p>
        </p:txBody>
      </p:sp>
      <p:sp>
        <p:nvSpPr>
          <p:cNvPr id="11" name="Text 9"/>
          <p:cNvSpPr txBox="1"/>
          <p:nvPr/>
        </p:nvSpPr>
        <p:spPr>
          <a:xfrm>
            <a:off x="2423160" y="3227832"/>
            <a:ext cx="9052560" cy="822960"/>
          </a:xfrm>
          <a:prstGeom prst="rect">
            <a:avLst/>
          </a:prstGeom>
          <a:noFill/>
          <a:ln/>
        </p:spPr>
        <p:txBody>
          <a:bodyPr wrap="square" lIns="0" tIns="0" rIns="0" bIns="0" rtlCol="0" anchor="t"/>
          <a:lstStyle/>
          <a:p>
            <a:pPr indent="0" marL="0">
              <a:lnSpc>
                <a:spcPct val="110000"/>
              </a:lnSpc>
              <a:buNone/>
            </a:pPr>
            <a:r>
              <a:rPr lang="en-US" sz="1400" dirty="0">
                <a:solidFill>
                  <a:srgbClr val="2B3138"/>
                </a:solidFill>
                <a:latin typeface="Calibri" pitchFamily="34" charset="0"/>
                <a:ea typeface="Calibri" pitchFamily="34" charset="-122"/>
                <a:cs typeface="Calibri" pitchFamily="34" charset="-120"/>
              </a:rPr>
              <a:t>Waterfall, incremental, reuse-oriented — each needs a named disqualifier before it can be dismissed</a:t>
            </a:r>
            <a:endParaRPr lang="en-US" sz="1400" dirty="0"/>
          </a:p>
        </p:txBody>
      </p:sp>
      <p:sp>
        <p:nvSpPr>
          <p:cNvPr id="12" name="Shape 10"/>
          <p:cNvSpPr/>
          <p:nvPr/>
        </p:nvSpPr>
        <p:spPr>
          <a:xfrm>
            <a:off x="594360" y="4069080"/>
            <a:ext cx="11000232" cy="0"/>
          </a:xfrm>
          <a:prstGeom prst="line">
            <a:avLst/>
          </a:prstGeom>
          <a:noFill/>
          <a:ln w="12700">
            <a:solidFill>
              <a:srgbClr val="DFE3E6"/>
            </a:solidFill>
            <a:prstDash val="solid"/>
          </a:ln>
        </p:spPr>
      </p:sp>
      <p:sp>
        <p:nvSpPr>
          <p:cNvPr id="13" name="Text 11"/>
          <p:cNvSpPr txBox="1"/>
          <p:nvPr/>
        </p:nvSpPr>
        <p:spPr>
          <a:xfrm>
            <a:off x="594360" y="4215384"/>
            <a:ext cx="1737360" cy="685800"/>
          </a:xfrm>
          <a:prstGeom prst="rect">
            <a:avLst/>
          </a:prstGeom>
          <a:noFill/>
          <a:ln/>
        </p:spPr>
        <p:txBody>
          <a:bodyPr wrap="square" lIns="0" tIns="0" rIns="0" bIns="0" rtlCol="0" anchor="t"/>
          <a:lstStyle/>
          <a:p>
            <a:pPr indent="0" marL="0">
              <a:buNone/>
            </a:pPr>
            <a:r>
              <a:rPr lang="en-US" sz="1500" b="1" dirty="0">
                <a:solidFill>
                  <a:srgbClr val="0F6E66"/>
                </a:solidFill>
                <a:latin typeface="Calibri" pitchFamily="34" charset="0"/>
                <a:ea typeface="Calibri" pitchFamily="34" charset="-122"/>
                <a:cs typeface="Calibri" pitchFamily="34" charset="-120"/>
              </a:rPr>
              <a:t>Decomposes</a:t>
            </a:r>
            <a:endParaRPr lang="en-US" sz="1500" dirty="0"/>
          </a:p>
        </p:txBody>
      </p:sp>
      <p:sp>
        <p:nvSpPr>
          <p:cNvPr id="14" name="Text 12"/>
          <p:cNvSpPr txBox="1"/>
          <p:nvPr/>
        </p:nvSpPr>
        <p:spPr>
          <a:xfrm>
            <a:off x="2423160" y="4215384"/>
            <a:ext cx="9052560" cy="822960"/>
          </a:xfrm>
          <a:prstGeom prst="rect">
            <a:avLst/>
          </a:prstGeom>
          <a:noFill/>
          <a:ln/>
        </p:spPr>
        <p:txBody>
          <a:bodyPr wrap="square" lIns="0" tIns="0" rIns="0" bIns="0" rtlCol="0" anchor="t"/>
          <a:lstStyle/>
          <a:p>
            <a:pPr indent="0" marL="0">
              <a:lnSpc>
                <a:spcPct val="110000"/>
              </a:lnSpc>
              <a:buNone/>
            </a:pPr>
            <a:r>
              <a:rPr lang="en-US" sz="1400" dirty="0">
                <a:solidFill>
                  <a:srgbClr val="2B3138"/>
                </a:solidFill>
                <a:latin typeface="Calibri" pitchFamily="34" charset="0"/>
                <a:ea typeface="Calibri" pitchFamily="34" charset="-122"/>
                <a:cs typeface="Calibri" pitchFamily="34" charset="-120"/>
              </a:rPr>
              <a:t>Different subsystems may get different models. Hybrid is usually the honest answer</a:t>
            </a:r>
            <a:endParaRPr lang="en-US" sz="1400" dirty="0"/>
          </a:p>
        </p:txBody>
      </p:sp>
      <p:sp>
        <p:nvSpPr>
          <p:cNvPr id="15" name="Shape 13"/>
          <p:cNvSpPr/>
          <p:nvPr/>
        </p:nvSpPr>
        <p:spPr>
          <a:xfrm>
            <a:off x="594360" y="5056632"/>
            <a:ext cx="11000232" cy="0"/>
          </a:xfrm>
          <a:prstGeom prst="line">
            <a:avLst/>
          </a:prstGeom>
          <a:noFill/>
          <a:ln w="12700">
            <a:solidFill>
              <a:srgbClr val="DFE3E6"/>
            </a:solidFill>
            <a:prstDash val="solid"/>
          </a:ln>
        </p:spPr>
      </p:sp>
      <p:sp>
        <p:nvSpPr>
          <p:cNvPr id="16" name="Text 14"/>
          <p:cNvSpPr txBox="1"/>
          <p:nvPr/>
        </p:nvSpPr>
        <p:spPr>
          <a:xfrm>
            <a:off x="594360" y="5202936"/>
            <a:ext cx="1737360" cy="685800"/>
          </a:xfrm>
          <a:prstGeom prst="rect">
            <a:avLst/>
          </a:prstGeom>
          <a:noFill/>
          <a:ln/>
        </p:spPr>
        <p:txBody>
          <a:bodyPr wrap="square" lIns="0" tIns="0" rIns="0" bIns="0" rtlCol="0" anchor="t"/>
          <a:lstStyle/>
          <a:p>
            <a:pPr indent="0" marL="0">
              <a:buNone/>
            </a:pPr>
            <a:r>
              <a:rPr lang="en-US" sz="1500" b="1" dirty="0">
                <a:solidFill>
                  <a:srgbClr val="0F6E66"/>
                </a:solidFill>
                <a:latin typeface="Calibri" pitchFamily="34" charset="0"/>
                <a:ea typeface="Calibri" pitchFamily="34" charset="-122"/>
                <a:cs typeface="Calibri" pitchFamily="34" charset="-120"/>
              </a:rPr>
              <a:t>Emits</a:t>
            </a:r>
            <a:endParaRPr lang="en-US" sz="1500" dirty="0"/>
          </a:p>
        </p:txBody>
      </p:sp>
      <p:sp>
        <p:nvSpPr>
          <p:cNvPr id="17" name="Text 15"/>
          <p:cNvSpPr txBox="1"/>
          <p:nvPr/>
        </p:nvSpPr>
        <p:spPr>
          <a:xfrm>
            <a:off x="2423160" y="5202936"/>
            <a:ext cx="9052560" cy="822960"/>
          </a:xfrm>
          <a:prstGeom prst="rect">
            <a:avLst/>
          </a:prstGeom>
          <a:noFill/>
          <a:ln/>
        </p:spPr>
        <p:txBody>
          <a:bodyPr wrap="square" lIns="0" tIns="0" rIns="0" bIns="0" rtlCol="0" anchor="t"/>
          <a:lstStyle/>
          <a:p>
            <a:pPr indent="0" marL="0">
              <a:lnSpc>
                <a:spcPct val="110000"/>
              </a:lnSpc>
              <a:buNone/>
            </a:pPr>
            <a:r>
              <a:rPr lang="en-US" sz="1400" dirty="0">
                <a:solidFill>
                  <a:srgbClr val="2B3138"/>
                </a:solidFill>
                <a:latin typeface="Calibri" pitchFamily="34" charset="0"/>
                <a:ea typeface="Calibri" pitchFamily="34" charset="-122"/>
                <a:cs typeface="Calibri" pitchFamily="34" charset="-120"/>
              </a:rPr>
              <a:t>A routing plan: which stages run, in what order, how many times, and when to come back here</a:t>
            </a:r>
            <a:endParaRPr lang="en-US" sz="1400" dirty="0"/>
          </a:p>
        </p:txBody>
      </p:sp>
      <p:sp>
        <p:nvSpPr>
          <p:cNvPr id="18" name="Shape 16"/>
          <p:cNvSpPr/>
          <p:nvPr/>
        </p:nvSpPr>
        <p:spPr>
          <a:xfrm>
            <a:off x="594360" y="6044184"/>
            <a:ext cx="11000232" cy="0"/>
          </a:xfrm>
          <a:prstGeom prst="line">
            <a:avLst/>
          </a:prstGeom>
          <a:noFill/>
          <a:ln w="12700">
            <a:solidFill>
              <a:srgbClr val="DFE3E6"/>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936224" y="201168"/>
            <a:ext cx="658368" cy="310896"/>
          </a:xfrm>
          <a:prstGeom prst="roundRect">
            <a:avLst>
              <a:gd name="adj" fmla="val 23529"/>
            </a:avLst>
          </a:prstGeom>
          <a:solidFill>
            <a:srgbClr val="0F6E66"/>
          </a:solidFill>
          <a:ln w="12700">
            <a:solidFill>
              <a:srgbClr val="0F6E66"/>
            </a:solidFill>
            <a:prstDash val="solid"/>
          </a:ln>
        </p:spPr>
      </p:sp>
      <p:sp>
        <p:nvSpPr>
          <p:cNvPr id="3" name="Text 1"/>
          <p:cNvSpPr txBox="1"/>
          <p:nvPr/>
        </p:nvSpPr>
        <p:spPr>
          <a:xfrm>
            <a:off x="10936224" y="201168"/>
            <a:ext cx="658368"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CH2</a:t>
            </a:r>
            <a:endParaRPr lang="en-US" sz="1200" dirty="0"/>
          </a:p>
        </p:txBody>
      </p:sp>
      <p:sp>
        <p:nvSpPr>
          <p:cNvPr id="4" name="Text 2"/>
          <p:cNvSpPr txBox="1"/>
          <p:nvPr/>
        </p:nvSpPr>
        <p:spPr>
          <a:xfrm>
            <a:off x="594360" y="201168"/>
            <a:ext cx="11000232" cy="256032"/>
          </a:xfrm>
          <a:prstGeom prst="rect">
            <a:avLst/>
          </a:prstGeom>
          <a:noFill/>
          <a:ln/>
        </p:spPr>
        <p:txBody>
          <a:bodyPr wrap="square" lIns="0" tIns="0" rIns="0" bIns="0" rtlCol="0" anchor="ctr"/>
          <a:lstStyle/>
          <a:p>
            <a:pPr indent="0" marL="0">
              <a:buNone/>
            </a:pPr>
            <a:r>
              <a:rPr lang="en-US" sz="1100" b="1" spc="200" kern="0" dirty="0">
                <a:solidFill>
                  <a:srgbClr val="0F6E66"/>
                </a:solidFill>
                <a:latin typeface="Calibri" pitchFamily="34" charset="0"/>
                <a:ea typeface="Calibri" pitchFamily="34" charset="-122"/>
                <a:cs typeface="Calibri" pitchFamily="34" charset="-120"/>
              </a:rPr>
              <a:t>KEY MOVE</a:t>
            </a:r>
            <a:endParaRPr lang="en-US" sz="1100" dirty="0"/>
          </a:p>
        </p:txBody>
      </p:sp>
      <p:sp>
        <p:nvSpPr>
          <p:cNvPr id="5" name="Text 3"/>
          <p:cNvSpPr txBox="1"/>
          <p:nvPr/>
        </p:nvSpPr>
        <p:spPr>
          <a:xfrm>
            <a:off x="594360" y="868680"/>
            <a:ext cx="11000232" cy="777240"/>
          </a:xfrm>
          <a:prstGeom prst="rect">
            <a:avLst/>
          </a:prstGeom>
          <a:noFill/>
          <a:ln/>
        </p:spPr>
        <p:txBody>
          <a:bodyPr wrap="square" lIns="0" tIns="0" rIns="0" bIns="0" rtlCol="0" anchor="ctr"/>
          <a:lstStyle/>
          <a:p>
            <a:pPr indent="0" marL="0">
              <a:buNone/>
            </a:pPr>
            <a:r>
              <a:rPr lang="en-US" sz="3100" b="1" dirty="0">
                <a:solidFill>
                  <a:srgbClr val="1C2128"/>
                </a:solidFill>
                <a:latin typeface="Cambria" pitchFamily="34" charset="0"/>
                <a:ea typeface="Cambria" pitchFamily="34" charset="-122"/>
                <a:cs typeface="Cambria" pitchFamily="34" charset="-120"/>
              </a:rPr>
              <a:t>Pre- and post-conditions are the router's type system</a:t>
            </a:r>
            <a:endParaRPr lang="en-US" sz="3100" dirty="0"/>
          </a:p>
        </p:txBody>
      </p:sp>
      <p:sp>
        <p:nvSpPr>
          <p:cNvPr id="6" name="Shape 4"/>
          <p:cNvSpPr/>
          <p:nvPr/>
        </p:nvSpPr>
        <p:spPr>
          <a:xfrm>
            <a:off x="594360" y="1920240"/>
            <a:ext cx="11000232" cy="1371600"/>
          </a:xfrm>
          <a:prstGeom prst="roundRect">
            <a:avLst>
              <a:gd name="adj" fmla="val 4000"/>
            </a:avLst>
          </a:prstGeom>
          <a:solidFill>
            <a:srgbClr val="F4F6F6"/>
          </a:solidFill>
          <a:ln w="12700">
            <a:solidFill>
              <a:srgbClr val="DFE3E6"/>
            </a:solidFill>
            <a:prstDash val="solid"/>
          </a:ln>
        </p:spPr>
      </p:sp>
      <p:sp>
        <p:nvSpPr>
          <p:cNvPr id="7" name="Text 5"/>
          <p:cNvSpPr txBox="1"/>
          <p:nvPr/>
        </p:nvSpPr>
        <p:spPr>
          <a:xfrm>
            <a:off x="960120" y="2148840"/>
            <a:ext cx="10268712" cy="411480"/>
          </a:xfrm>
          <a:prstGeom prst="rect">
            <a:avLst/>
          </a:prstGeom>
          <a:noFill/>
          <a:ln/>
        </p:spPr>
        <p:txBody>
          <a:bodyPr wrap="square" lIns="0" tIns="0" rIns="0" bIns="0" rtlCol="0" anchor="ctr"/>
          <a:lstStyle/>
          <a:p>
            <a:pPr indent="0" marL="0">
              <a:buNone/>
            </a:pPr>
            <a:r>
              <a:rPr lang="en-US" sz="2100" b="1" dirty="0">
                <a:solidFill>
                  <a:srgbClr val="1C2128"/>
                </a:solidFill>
                <a:latin typeface="Cambria" pitchFamily="34" charset="0"/>
                <a:ea typeface="Cambria" pitchFamily="34" charset="-122"/>
                <a:cs typeface="Cambria" pitchFamily="34" charset="-120"/>
              </a:rPr>
              <a:t>A stage's post-condition is the next stage's pre-condition.</a:t>
            </a:r>
            <a:endParaRPr lang="en-US" sz="2100" dirty="0"/>
          </a:p>
        </p:txBody>
      </p:sp>
      <p:sp>
        <p:nvSpPr>
          <p:cNvPr id="8" name="Text 6"/>
          <p:cNvSpPr txBox="1"/>
          <p:nvPr/>
        </p:nvSpPr>
        <p:spPr>
          <a:xfrm>
            <a:off x="960120" y="2606040"/>
            <a:ext cx="10268712" cy="457200"/>
          </a:xfrm>
          <a:prstGeom prst="rect">
            <a:avLst/>
          </a:prstGeom>
          <a:noFill/>
          <a:ln/>
        </p:spPr>
        <p:txBody>
          <a:bodyPr wrap="square" lIns="0" tIns="0" rIns="0" bIns="0" rtlCol="0" anchor="ctr"/>
          <a:lstStyle/>
          <a:p>
            <a:pPr indent="0" marL="0">
              <a:buNone/>
            </a:pPr>
            <a:r>
              <a:rPr lang="en-US" sz="1400" dirty="0">
                <a:solidFill>
                  <a:srgbClr val="2B3138"/>
                </a:solidFill>
                <a:latin typeface="Calibri" pitchFamily="34" charset="0"/>
                <a:ea typeface="Calibri" pitchFamily="34" charset="-122"/>
                <a:cs typeface="Calibri" pitchFamily="34" charset="-120"/>
              </a:rPr>
              <a:t>So the router can gate mechanically instead of a human reading each artifact and deciding whether it's good enough.</a:t>
            </a:r>
            <a:endParaRPr lang="en-US" sz="1400" dirty="0"/>
          </a:p>
        </p:txBody>
      </p:sp>
      <p:sp>
        <p:nvSpPr>
          <p:cNvPr id="9" name="Text 7"/>
          <p:cNvSpPr txBox="1"/>
          <p:nvPr/>
        </p:nvSpPr>
        <p:spPr>
          <a:xfrm>
            <a:off x="594360" y="3657600"/>
            <a:ext cx="6949440" cy="1097280"/>
          </a:xfrm>
          <a:prstGeom prst="rect">
            <a:avLst/>
          </a:prstGeom>
          <a:noFill/>
          <a:ln/>
        </p:spPr>
        <p:txBody>
          <a:bodyPr wrap="square" lIns="0" tIns="0" rIns="0" bIns="0" rtlCol="0" anchor="t"/>
          <a:lstStyle/>
          <a:p>
            <a:pPr indent="0" marL="0">
              <a:lnSpc>
                <a:spcPct val="125000"/>
              </a:lnSpc>
              <a:buNone/>
            </a:pPr>
            <a:r>
              <a:rPr lang="en-US" sz="1500" dirty="0">
                <a:solidFill>
                  <a:srgbClr val="2B3138"/>
                </a:solidFill>
                <a:latin typeface="Calibri" pitchFamily="34" charset="0"/>
                <a:ea typeface="Calibri" pitchFamily="34" charset="-122"/>
                <a:cs typeface="Calibri" pitchFamily="34" charset="-120"/>
              </a:rPr>
              <a:t>Sommerville mentions pre/post-conditions almost in passing — one line about what a process description may include. In an agent chain they carry the entire handoff contract.</a:t>
            </a:r>
            <a:endParaRPr lang="en-US" sz="1500" dirty="0"/>
          </a:p>
        </p:txBody>
      </p:sp>
      <p:sp>
        <p:nvSpPr>
          <p:cNvPr id="10" name="Shape 8"/>
          <p:cNvSpPr/>
          <p:nvPr/>
        </p:nvSpPr>
        <p:spPr>
          <a:xfrm>
            <a:off x="8001000" y="3611880"/>
            <a:ext cx="3611880" cy="1737360"/>
          </a:xfrm>
          <a:prstGeom prst="roundRect">
            <a:avLst>
              <a:gd name="adj" fmla="val 3158"/>
            </a:avLst>
          </a:prstGeom>
          <a:solidFill>
            <a:srgbClr val="F4F6F6"/>
          </a:solidFill>
          <a:ln w="12700">
            <a:solidFill>
              <a:srgbClr val="DFE3E6"/>
            </a:solidFill>
            <a:prstDash val="solid"/>
          </a:ln>
        </p:spPr>
      </p:sp>
      <p:sp>
        <p:nvSpPr>
          <p:cNvPr id="11" name="Text 9"/>
          <p:cNvSpPr txBox="1"/>
          <p:nvPr/>
        </p:nvSpPr>
        <p:spPr>
          <a:xfrm>
            <a:off x="8275320" y="3794760"/>
            <a:ext cx="3108960" cy="365760"/>
          </a:xfrm>
          <a:prstGeom prst="rect">
            <a:avLst/>
          </a:prstGeom>
          <a:noFill/>
          <a:ln/>
        </p:spPr>
        <p:txBody>
          <a:bodyPr wrap="square" lIns="0" tIns="0" rIns="0" bIns="0" rtlCol="0" anchor="ctr"/>
          <a:lstStyle/>
          <a:p>
            <a:pPr indent="0" marL="0">
              <a:buNone/>
            </a:pPr>
            <a:r>
              <a:rPr lang="en-US" sz="1400" b="1" dirty="0">
                <a:solidFill>
                  <a:srgbClr val="0F6E66"/>
                </a:solidFill>
                <a:latin typeface="Calibri" pitchFamily="34" charset="0"/>
                <a:ea typeface="Calibri" pitchFamily="34" charset="-122"/>
                <a:cs typeface="Calibri" pitchFamily="34" charset="-120"/>
              </a:rPr>
              <a:t>Stated as checkable propositions</a:t>
            </a:r>
            <a:endParaRPr lang="en-US" sz="1400" dirty="0"/>
          </a:p>
        </p:txBody>
      </p:sp>
      <p:sp>
        <p:nvSpPr>
          <p:cNvPr id="12" name="Text 10"/>
          <p:cNvSpPr txBox="1"/>
          <p:nvPr/>
        </p:nvSpPr>
        <p:spPr>
          <a:xfrm>
            <a:off x="8275320" y="4206240"/>
            <a:ext cx="3108960" cy="1005840"/>
          </a:xfrm>
          <a:prstGeom prst="rect">
            <a:avLst/>
          </a:prstGeom>
          <a:noFill/>
          <a:ln/>
        </p:spPr>
        <p:txBody>
          <a:bodyPr wrap="square" lIns="0" tIns="0" rIns="0" bIns="0" rtlCol="0" anchor="t"/>
          <a:lstStyle/>
          <a:p>
            <a:pPr indent="0" marL="0">
              <a:lnSpc>
                <a:spcPct val="115000"/>
              </a:lnSpc>
              <a:buNone/>
            </a:pPr>
            <a:r>
              <a:rPr lang="en-US" sz="1250" dirty="0">
                <a:solidFill>
                  <a:srgbClr val="2B3138"/>
                </a:solidFill>
                <a:latin typeface="Calibri" pitchFamily="34" charset="0"/>
                <a:ea typeface="Calibri" pitchFamily="34" charset="-122"/>
                <a:cs typeface="Calibri" pitchFamily="34" charset="-120"/>
              </a:rPr>
              <a:t>Not aspirations. "All requirements have a verification method" is checkable. "Requirements are good" is not.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936224" y="201168"/>
            <a:ext cx="658368" cy="310896"/>
          </a:xfrm>
          <a:prstGeom prst="roundRect">
            <a:avLst>
              <a:gd name="adj" fmla="val 23529"/>
            </a:avLst>
          </a:prstGeom>
          <a:solidFill>
            <a:srgbClr val="0F6E66"/>
          </a:solidFill>
          <a:ln w="12700">
            <a:solidFill>
              <a:srgbClr val="0F6E66"/>
            </a:solidFill>
            <a:prstDash val="solid"/>
          </a:ln>
        </p:spPr>
      </p:sp>
      <p:sp>
        <p:nvSpPr>
          <p:cNvPr id="3" name="Text 1"/>
          <p:cNvSpPr txBox="1"/>
          <p:nvPr/>
        </p:nvSpPr>
        <p:spPr>
          <a:xfrm>
            <a:off x="10936224" y="201168"/>
            <a:ext cx="658368"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CH3</a:t>
            </a:r>
            <a:endParaRPr lang="en-US" sz="1200" dirty="0"/>
          </a:p>
        </p:txBody>
      </p:sp>
      <p:sp>
        <p:nvSpPr>
          <p:cNvPr id="4" name="Text 2"/>
          <p:cNvSpPr txBox="1"/>
          <p:nvPr/>
        </p:nvSpPr>
        <p:spPr>
          <a:xfrm>
            <a:off x="594360" y="201168"/>
            <a:ext cx="11000232" cy="256032"/>
          </a:xfrm>
          <a:prstGeom prst="rect">
            <a:avLst/>
          </a:prstGeom>
          <a:noFill/>
          <a:ln/>
        </p:spPr>
        <p:txBody>
          <a:bodyPr wrap="square" lIns="0" tIns="0" rIns="0" bIns="0" rtlCol="0" anchor="ctr"/>
          <a:lstStyle/>
          <a:p>
            <a:pPr indent="0" marL="0">
              <a:buNone/>
            </a:pPr>
            <a:r>
              <a:rPr lang="en-US" sz="1100" b="1" spc="200" kern="0" dirty="0">
                <a:solidFill>
                  <a:srgbClr val="0F6E66"/>
                </a:solidFill>
                <a:latin typeface="Calibri" pitchFamily="34" charset="0"/>
                <a:ea typeface="Calibri" pitchFamily="34" charset="-122"/>
                <a:cs typeface="Calibri" pitchFamily="34" charset="-120"/>
              </a:rPr>
              <a:t>AGILE DEVELOPMENT</a:t>
            </a:r>
            <a:endParaRPr lang="en-US" sz="1100" dirty="0"/>
          </a:p>
        </p:txBody>
      </p:sp>
      <p:sp>
        <p:nvSpPr>
          <p:cNvPr id="5" name="Text 3"/>
          <p:cNvSpPr txBox="1"/>
          <p:nvPr/>
        </p:nvSpPr>
        <p:spPr>
          <a:xfrm>
            <a:off x="594360" y="868680"/>
            <a:ext cx="11000232" cy="777240"/>
          </a:xfrm>
          <a:prstGeom prst="rect">
            <a:avLst/>
          </a:prstGeom>
          <a:noFill/>
          <a:ln/>
        </p:spPr>
        <p:txBody>
          <a:bodyPr wrap="square" lIns="0" tIns="0" rIns="0" bIns="0" rtlCol="0" anchor="ctr"/>
          <a:lstStyle/>
          <a:p>
            <a:pPr indent="0" marL="0">
              <a:buNone/>
            </a:pPr>
            <a:r>
              <a:rPr lang="en-US" sz="3400" b="1" dirty="0">
                <a:solidFill>
                  <a:srgbClr val="1C2128"/>
                </a:solidFill>
                <a:latin typeface="Cambria" pitchFamily="34" charset="0"/>
                <a:ea typeface="Cambria" pitchFamily="34" charset="-122"/>
                <a:cs typeface="Cambria" pitchFamily="34" charset="-120"/>
              </a:rPr>
              <a:t>The practices inside that shape</a:t>
            </a:r>
            <a:endParaRPr lang="en-US" sz="3400" dirty="0"/>
          </a:p>
        </p:txBody>
      </p:sp>
      <p:sp>
        <p:nvSpPr>
          <p:cNvPr id="6" name="Text 4"/>
          <p:cNvSpPr txBox="1"/>
          <p:nvPr/>
        </p:nvSpPr>
        <p:spPr>
          <a:xfrm>
            <a:off x="594360" y="1664208"/>
            <a:ext cx="11000232" cy="411480"/>
          </a:xfrm>
          <a:prstGeom prst="rect">
            <a:avLst/>
          </a:prstGeom>
          <a:noFill/>
          <a:ln/>
        </p:spPr>
        <p:txBody>
          <a:bodyPr wrap="square" lIns="0" tIns="0" rIns="0" bIns="0" rtlCol="0" anchor="t"/>
          <a:lstStyle/>
          <a:p>
            <a:pPr indent="0" marL="0">
              <a:buNone/>
            </a:pPr>
            <a:r>
              <a:rPr lang="en-US" sz="1500" i="1" dirty="0">
                <a:solidFill>
                  <a:srgbClr val="6E7781"/>
                </a:solidFill>
                <a:latin typeface="Calibri" pitchFamily="34" charset="0"/>
                <a:ea typeface="Calibri" pitchFamily="34" charset="-122"/>
                <a:cs typeface="Calibri" pitchFamily="34" charset="-120"/>
              </a:rPr>
              <a:t>Ch2 said what kind of process. Ch3 says how a single increment is actually worked.</a:t>
            </a:r>
            <a:endParaRPr lang="en-US" sz="1500" dirty="0"/>
          </a:p>
        </p:txBody>
      </p:sp>
      <p:sp>
        <p:nvSpPr>
          <p:cNvPr id="7" name="Shape 5"/>
          <p:cNvSpPr/>
          <p:nvPr/>
        </p:nvSpPr>
        <p:spPr>
          <a:xfrm>
            <a:off x="594360" y="2240280"/>
            <a:ext cx="5486400" cy="1691640"/>
          </a:xfrm>
          <a:prstGeom prst="roundRect">
            <a:avLst>
              <a:gd name="adj" fmla="val 3243"/>
            </a:avLst>
          </a:prstGeom>
          <a:solidFill>
            <a:srgbClr val="F4F6F6"/>
          </a:solidFill>
          <a:ln w="12700">
            <a:solidFill>
              <a:srgbClr val="DFE3E6"/>
            </a:solidFill>
            <a:prstDash val="solid"/>
          </a:ln>
        </p:spPr>
      </p:sp>
      <p:sp>
        <p:nvSpPr>
          <p:cNvPr id="8" name="Text 6"/>
          <p:cNvSpPr txBox="1"/>
          <p:nvPr/>
        </p:nvSpPr>
        <p:spPr>
          <a:xfrm>
            <a:off x="850392" y="2441448"/>
            <a:ext cx="4974336" cy="320040"/>
          </a:xfrm>
          <a:prstGeom prst="rect">
            <a:avLst/>
          </a:prstGeom>
          <a:noFill/>
          <a:ln/>
        </p:spPr>
        <p:txBody>
          <a:bodyPr wrap="square" lIns="0" tIns="0" rIns="0" bIns="0" rtlCol="0" anchor="ctr"/>
          <a:lstStyle/>
          <a:p>
            <a:pPr indent="0" marL="0">
              <a:buNone/>
            </a:pPr>
            <a:r>
              <a:rPr lang="en-US" sz="1500" b="1" dirty="0">
                <a:solidFill>
                  <a:srgbClr val="0F6E66"/>
                </a:solidFill>
                <a:latin typeface="Calibri" pitchFamily="34" charset="0"/>
                <a:ea typeface="Calibri" pitchFamily="34" charset="-122"/>
                <a:cs typeface="Calibri" pitchFamily="34" charset="-120"/>
              </a:rPr>
              <a:t>Balance assessment</a:t>
            </a:r>
            <a:endParaRPr lang="en-US" sz="1500" dirty="0"/>
          </a:p>
        </p:txBody>
      </p:sp>
      <p:sp>
        <p:nvSpPr>
          <p:cNvPr id="9" name="Text 7"/>
          <p:cNvSpPr txBox="1"/>
          <p:nvPr/>
        </p:nvSpPr>
        <p:spPr>
          <a:xfrm>
            <a:off x="850392" y="2807208"/>
            <a:ext cx="4974336" cy="914400"/>
          </a:xfrm>
          <a:prstGeom prst="rect">
            <a:avLst/>
          </a:prstGeom>
          <a:noFill/>
          <a:ln/>
        </p:spPr>
        <p:txBody>
          <a:bodyPr wrap="square" lIns="0" tIns="0" rIns="0" bIns="0" rtlCol="0" anchor="t"/>
          <a:lstStyle/>
          <a:p>
            <a:pPr indent="0" marL="0">
              <a:lnSpc>
                <a:spcPct val="112000"/>
              </a:lnSpc>
              <a:buNone/>
            </a:pPr>
            <a:r>
              <a:rPr lang="en-US" sz="1300" dirty="0">
                <a:solidFill>
                  <a:srgbClr val="2B3138"/>
                </a:solidFill>
                <a:latin typeface="Calibri" pitchFamily="34" charset="0"/>
                <a:ea typeface="Calibri" pitchFamily="34" charset="-122"/>
                <a:cs typeface="Calibri" pitchFamily="34" charset="-120"/>
              </a:rPr>
              <a:t>All ten of Sommerville's choice factors — spec detail, feedback, team size, system type, lifetime, tooling, team organization, culture, skill, regulation</a:t>
            </a:r>
            <a:endParaRPr lang="en-US" sz="1300" dirty="0"/>
          </a:p>
        </p:txBody>
      </p:sp>
      <p:sp>
        <p:nvSpPr>
          <p:cNvPr id="10" name="Shape 8"/>
          <p:cNvSpPr/>
          <p:nvPr/>
        </p:nvSpPr>
        <p:spPr>
          <a:xfrm>
            <a:off x="6446520" y="2240280"/>
            <a:ext cx="5486400" cy="1691640"/>
          </a:xfrm>
          <a:prstGeom prst="roundRect">
            <a:avLst>
              <a:gd name="adj" fmla="val 3243"/>
            </a:avLst>
          </a:prstGeom>
          <a:solidFill>
            <a:srgbClr val="F4F6F6"/>
          </a:solidFill>
          <a:ln w="12700">
            <a:solidFill>
              <a:srgbClr val="DFE3E6"/>
            </a:solidFill>
            <a:prstDash val="solid"/>
          </a:ln>
        </p:spPr>
      </p:sp>
      <p:sp>
        <p:nvSpPr>
          <p:cNvPr id="11" name="Text 9"/>
          <p:cNvSpPr txBox="1"/>
          <p:nvPr/>
        </p:nvSpPr>
        <p:spPr>
          <a:xfrm>
            <a:off x="6702552" y="2441448"/>
            <a:ext cx="4974336" cy="320040"/>
          </a:xfrm>
          <a:prstGeom prst="rect">
            <a:avLst/>
          </a:prstGeom>
          <a:noFill/>
          <a:ln/>
        </p:spPr>
        <p:txBody>
          <a:bodyPr wrap="square" lIns="0" tIns="0" rIns="0" bIns="0" rtlCol="0" anchor="ctr"/>
          <a:lstStyle/>
          <a:p>
            <a:pPr indent="0" marL="0">
              <a:buNone/>
            </a:pPr>
            <a:r>
              <a:rPr lang="en-US" sz="1500" b="1" dirty="0">
                <a:solidFill>
                  <a:srgbClr val="0F6E66"/>
                </a:solidFill>
                <a:latin typeface="Calibri" pitchFamily="34" charset="0"/>
                <a:ea typeface="Calibri" pitchFamily="34" charset="-122"/>
                <a:cs typeface="Calibri" pitchFamily="34" charset="-120"/>
              </a:rPr>
              <a:t>Practice selection</a:t>
            </a:r>
            <a:endParaRPr lang="en-US" sz="1500" dirty="0"/>
          </a:p>
        </p:txBody>
      </p:sp>
      <p:sp>
        <p:nvSpPr>
          <p:cNvPr id="12" name="Text 10"/>
          <p:cNvSpPr txBox="1"/>
          <p:nvPr/>
        </p:nvSpPr>
        <p:spPr>
          <a:xfrm>
            <a:off x="6702552" y="2807208"/>
            <a:ext cx="4974336" cy="914400"/>
          </a:xfrm>
          <a:prstGeom prst="rect">
            <a:avLst/>
          </a:prstGeom>
          <a:noFill/>
          <a:ln/>
        </p:spPr>
        <p:txBody>
          <a:bodyPr wrap="square" lIns="0" tIns="0" rIns="0" bIns="0" rtlCol="0" anchor="t"/>
          <a:lstStyle/>
          <a:p>
            <a:pPr indent="0" marL="0">
              <a:lnSpc>
                <a:spcPct val="112000"/>
              </a:lnSpc>
              <a:buNone/>
            </a:pPr>
            <a:r>
              <a:rPr lang="en-US" sz="1300" dirty="0">
                <a:solidFill>
                  <a:srgbClr val="2B3138"/>
                </a:solidFill>
                <a:latin typeface="Calibri" pitchFamily="34" charset="0"/>
                <a:ea typeface="Calibri" pitchFamily="34" charset="-122"/>
                <a:cs typeface="Calibri" pitchFamily="34" charset="-120"/>
              </a:rPr>
              <a:t>Fifteen practices ruled individually: adopt, adapt, or reject — each with its precondition</a:t>
            </a:r>
            <a:endParaRPr lang="en-US" sz="1300" dirty="0"/>
          </a:p>
        </p:txBody>
      </p:sp>
      <p:sp>
        <p:nvSpPr>
          <p:cNvPr id="13" name="Shape 11"/>
          <p:cNvSpPr/>
          <p:nvPr/>
        </p:nvSpPr>
        <p:spPr>
          <a:xfrm>
            <a:off x="594360" y="4114800"/>
            <a:ext cx="5486400" cy="1691640"/>
          </a:xfrm>
          <a:prstGeom prst="roundRect">
            <a:avLst>
              <a:gd name="adj" fmla="val 3243"/>
            </a:avLst>
          </a:prstGeom>
          <a:solidFill>
            <a:srgbClr val="F4F6F6"/>
          </a:solidFill>
          <a:ln w="12700">
            <a:solidFill>
              <a:srgbClr val="DFE3E6"/>
            </a:solidFill>
            <a:prstDash val="solid"/>
          </a:ln>
        </p:spPr>
      </p:sp>
      <p:sp>
        <p:nvSpPr>
          <p:cNvPr id="14" name="Text 12"/>
          <p:cNvSpPr txBox="1"/>
          <p:nvPr/>
        </p:nvSpPr>
        <p:spPr>
          <a:xfrm>
            <a:off x="850392" y="4315968"/>
            <a:ext cx="4974336" cy="320040"/>
          </a:xfrm>
          <a:prstGeom prst="rect">
            <a:avLst/>
          </a:prstGeom>
          <a:noFill/>
          <a:ln/>
        </p:spPr>
        <p:txBody>
          <a:bodyPr wrap="square" lIns="0" tIns="0" rIns="0" bIns="0" rtlCol="0" anchor="ctr"/>
          <a:lstStyle/>
          <a:p>
            <a:pPr indent="0" marL="0">
              <a:buNone/>
            </a:pPr>
            <a:r>
              <a:rPr lang="en-US" sz="1500" b="1" dirty="0">
                <a:solidFill>
                  <a:srgbClr val="0F6E66"/>
                </a:solidFill>
                <a:latin typeface="Calibri" pitchFamily="34" charset="0"/>
                <a:ea typeface="Calibri" pitchFamily="34" charset="-122"/>
                <a:cs typeface="Calibri" pitchFamily="34" charset="-120"/>
              </a:rPr>
              <a:t>Iteration mechanics</a:t>
            </a:r>
            <a:endParaRPr lang="en-US" sz="1500" dirty="0"/>
          </a:p>
        </p:txBody>
      </p:sp>
      <p:sp>
        <p:nvSpPr>
          <p:cNvPr id="15" name="Text 13"/>
          <p:cNvSpPr txBox="1"/>
          <p:nvPr/>
        </p:nvSpPr>
        <p:spPr>
          <a:xfrm>
            <a:off x="850392" y="4681728"/>
            <a:ext cx="4974336" cy="914400"/>
          </a:xfrm>
          <a:prstGeom prst="rect">
            <a:avLst/>
          </a:prstGeom>
          <a:noFill/>
          <a:ln/>
        </p:spPr>
        <p:txBody>
          <a:bodyPr wrap="square" lIns="0" tIns="0" rIns="0" bIns="0" rtlCol="0" anchor="t"/>
          <a:lstStyle/>
          <a:p>
            <a:pPr indent="0" marL="0">
              <a:lnSpc>
                <a:spcPct val="112000"/>
              </a:lnSpc>
              <a:buNone/>
            </a:pPr>
            <a:r>
              <a:rPr lang="en-US" sz="1300" dirty="0">
                <a:solidFill>
                  <a:srgbClr val="2B3138"/>
                </a:solidFill>
                <a:latin typeface="Calibri" pitchFamily="34" charset="0"/>
                <a:ea typeface="Calibri" pitchFamily="34" charset="-122"/>
                <a:cs typeface="Calibri" pitchFamily="34" charset="-120"/>
              </a:rPr>
              <a:t>Increment length, what may change mid-increment, definition of done, who signs off</a:t>
            </a:r>
            <a:endParaRPr lang="en-US" sz="1300" dirty="0"/>
          </a:p>
        </p:txBody>
      </p:sp>
      <p:sp>
        <p:nvSpPr>
          <p:cNvPr id="16" name="Shape 14"/>
          <p:cNvSpPr/>
          <p:nvPr/>
        </p:nvSpPr>
        <p:spPr>
          <a:xfrm>
            <a:off x="6446520" y="4114800"/>
            <a:ext cx="5486400" cy="1691640"/>
          </a:xfrm>
          <a:prstGeom prst="roundRect">
            <a:avLst>
              <a:gd name="adj" fmla="val 3243"/>
            </a:avLst>
          </a:prstGeom>
          <a:solidFill>
            <a:srgbClr val="F4F6F6"/>
          </a:solidFill>
          <a:ln w="12700">
            <a:solidFill>
              <a:srgbClr val="DFE3E6"/>
            </a:solidFill>
            <a:prstDash val="solid"/>
          </a:ln>
        </p:spPr>
      </p:sp>
      <p:sp>
        <p:nvSpPr>
          <p:cNvPr id="17" name="Text 15"/>
          <p:cNvSpPr txBox="1"/>
          <p:nvPr/>
        </p:nvSpPr>
        <p:spPr>
          <a:xfrm>
            <a:off x="6702552" y="4315968"/>
            <a:ext cx="4974336" cy="320040"/>
          </a:xfrm>
          <a:prstGeom prst="rect">
            <a:avLst/>
          </a:prstGeom>
          <a:noFill/>
          <a:ln/>
        </p:spPr>
        <p:txBody>
          <a:bodyPr wrap="square" lIns="0" tIns="0" rIns="0" bIns="0" rtlCol="0" anchor="ctr"/>
          <a:lstStyle/>
          <a:p>
            <a:pPr indent="0" marL="0">
              <a:buNone/>
            </a:pPr>
            <a:r>
              <a:rPr lang="en-US" sz="1500" b="1" dirty="0">
                <a:solidFill>
                  <a:srgbClr val="0F6E66"/>
                </a:solidFill>
                <a:latin typeface="Calibri" pitchFamily="34" charset="0"/>
                <a:ea typeface="Calibri" pitchFamily="34" charset="-122"/>
                <a:cs typeface="Calibri" pitchFamily="34" charset="-120"/>
              </a:rPr>
              <a:t>Retained documentation</a:t>
            </a:r>
            <a:endParaRPr lang="en-US" sz="1500" dirty="0"/>
          </a:p>
        </p:txBody>
      </p:sp>
      <p:sp>
        <p:nvSpPr>
          <p:cNvPr id="18" name="Text 16"/>
          <p:cNvSpPr txBox="1"/>
          <p:nvPr/>
        </p:nvSpPr>
        <p:spPr>
          <a:xfrm>
            <a:off x="6702552" y="4681728"/>
            <a:ext cx="4974336" cy="914400"/>
          </a:xfrm>
          <a:prstGeom prst="rect">
            <a:avLst/>
          </a:prstGeom>
          <a:noFill/>
          <a:ln/>
        </p:spPr>
        <p:txBody>
          <a:bodyPr wrap="square" lIns="0" tIns="0" rIns="0" bIns="0" rtlCol="0" anchor="t"/>
          <a:lstStyle/>
          <a:p>
            <a:pPr indent="0" marL="0">
              <a:lnSpc>
                <a:spcPct val="112000"/>
              </a:lnSpc>
              <a:buNone/>
            </a:pPr>
            <a:r>
              <a:rPr lang="en-US" sz="1300" dirty="0">
                <a:solidFill>
                  <a:srgbClr val="2B3138"/>
                </a:solidFill>
                <a:latin typeface="Calibri" pitchFamily="34" charset="0"/>
                <a:ea typeface="Calibri" pitchFamily="34" charset="-122"/>
                <a:cs typeface="Calibri" pitchFamily="34" charset="-120"/>
              </a:rPr>
              <a:t>What survives the team. Each artifact must name the maintenance question it answers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936224" y="201168"/>
            <a:ext cx="658368" cy="310896"/>
          </a:xfrm>
          <a:prstGeom prst="roundRect">
            <a:avLst>
              <a:gd name="adj" fmla="val 23529"/>
            </a:avLst>
          </a:prstGeom>
          <a:solidFill>
            <a:srgbClr val="0F6E66"/>
          </a:solidFill>
          <a:ln w="12700">
            <a:solidFill>
              <a:srgbClr val="0F6E66"/>
            </a:solidFill>
            <a:prstDash val="solid"/>
          </a:ln>
        </p:spPr>
      </p:sp>
      <p:sp>
        <p:nvSpPr>
          <p:cNvPr id="3" name="Text 1"/>
          <p:cNvSpPr txBox="1"/>
          <p:nvPr/>
        </p:nvSpPr>
        <p:spPr>
          <a:xfrm>
            <a:off x="10936224" y="201168"/>
            <a:ext cx="658368"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CH3</a:t>
            </a:r>
            <a:endParaRPr lang="en-US" sz="1200" dirty="0"/>
          </a:p>
        </p:txBody>
      </p:sp>
      <p:sp>
        <p:nvSpPr>
          <p:cNvPr id="4" name="Text 2"/>
          <p:cNvSpPr txBox="1"/>
          <p:nvPr/>
        </p:nvSpPr>
        <p:spPr>
          <a:xfrm>
            <a:off x="594360" y="201168"/>
            <a:ext cx="11000232" cy="256032"/>
          </a:xfrm>
          <a:prstGeom prst="rect">
            <a:avLst/>
          </a:prstGeom>
          <a:noFill/>
          <a:ln/>
        </p:spPr>
        <p:txBody>
          <a:bodyPr wrap="square" lIns="0" tIns="0" rIns="0" bIns="0" rtlCol="0" anchor="ctr"/>
          <a:lstStyle/>
          <a:p>
            <a:pPr indent="0" marL="0">
              <a:buNone/>
            </a:pPr>
            <a:r>
              <a:rPr lang="en-US" sz="1100" b="1" spc="200" kern="0" dirty="0">
                <a:solidFill>
                  <a:srgbClr val="0F6E66"/>
                </a:solidFill>
                <a:latin typeface="Calibri" pitchFamily="34" charset="0"/>
                <a:ea typeface="Calibri" pitchFamily="34" charset="-122"/>
                <a:cs typeface="Calibri" pitchFamily="34" charset="-120"/>
              </a:rPr>
              <a:t>KEY MOVE</a:t>
            </a:r>
            <a:endParaRPr lang="en-US" sz="1100" dirty="0"/>
          </a:p>
        </p:txBody>
      </p:sp>
      <p:sp>
        <p:nvSpPr>
          <p:cNvPr id="5" name="Text 3"/>
          <p:cNvSpPr txBox="1"/>
          <p:nvPr/>
        </p:nvSpPr>
        <p:spPr>
          <a:xfrm>
            <a:off x="594360" y="868680"/>
            <a:ext cx="11000232" cy="777240"/>
          </a:xfrm>
          <a:prstGeom prst="rect">
            <a:avLst/>
          </a:prstGeom>
          <a:noFill/>
          <a:ln/>
        </p:spPr>
        <p:txBody>
          <a:bodyPr wrap="square" lIns="0" tIns="0" rIns="0" bIns="0" rtlCol="0" anchor="ctr"/>
          <a:lstStyle/>
          <a:p>
            <a:pPr indent="0" marL="0">
              <a:buNone/>
            </a:pPr>
            <a:r>
              <a:rPr lang="en-US" sz="3400" b="1" dirty="0">
                <a:solidFill>
                  <a:srgbClr val="1C2128"/>
                </a:solidFill>
                <a:latin typeface="Cambria" pitchFamily="34" charset="0"/>
                <a:ea typeface="Cambria" pitchFamily="34" charset="-122"/>
                <a:cs typeface="Cambria" pitchFamily="34" charset="-120"/>
              </a:rPr>
              <a:t>Practices are ruled one at a time</a:t>
            </a:r>
            <a:endParaRPr lang="en-US" sz="3400" dirty="0"/>
          </a:p>
        </p:txBody>
      </p:sp>
      <p:sp>
        <p:nvSpPr>
          <p:cNvPr id="6" name="Text 4"/>
          <p:cNvSpPr txBox="1"/>
          <p:nvPr/>
        </p:nvSpPr>
        <p:spPr>
          <a:xfrm>
            <a:off x="594360" y="1664208"/>
            <a:ext cx="11000232" cy="411480"/>
          </a:xfrm>
          <a:prstGeom prst="rect">
            <a:avLst/>
          </a:prstGeom>
          <a:noFill/>
          <a:ln/>
        </p:spPr>
        <p:txBody>
          <a:bodyPr wrap="square" lIns="0" tIns="0" rIns="0" bIns="0" rtlCol="0" anchor="t"/>
          <a:lstStyle/>
          <a:p>
            <a:pPr indent="0" marL="0">
              <a:buNone/>
            </a:pPr>
            <a:r>
              <a:rPr lang="en-US" sz="1500" i="1" dirty="0">
                <a:solidFill>
                  <a:srgbClr val="6E7781"/>
                </a:solidFill>
                <a:latin typeface="Calibri" pitchFamily="34" charset="0"/>
                <a:ea typeface="Calibri" pitchFamily="34" charset="-122"/>
                <a:cs typeface="Calibri" pitchFamily="34" charset="-120"/>
              </a:rPr>
              <a:t>Ask a model about agile and it recites XP and Scrum as packages. Sommerville's factors point in different directions — the honest answer is usually mixed.</a:t>
            </a:r>
            <a:endParaRPr lang="en-US" sz="1500" dirty="0"/>
          </a:p>
        </p:txBody>
      </p:sp>
      <p:sp>
        <p:nvSpPr>
          <p:cNvPr id="7" name="Shape 5"/>
          <p:cNvSpPr/>
          <p:nvPr/>
        </p:nvSpPr>
        <p:spPr>
          <a:xfrm>
            <a:off x="594360" y="2514600"/>
            <a:ext cx="3611880" cy="1463040"/>
          </a:xfrm>
          <a:prstGeom prst="roundRect">
            <a:avLst>
              <a:gd name="adj" fmla="val 3750"/>
            </a:avLst>
          </a:prstGeom>
          <a:solidFill>
            <a:srgbClr val="F4F6F6"/>
          </a:solidFill>
          <a:ln w="12700">
            <a:solidFill>
              <a:srgbClr val="DFE3E6"/>
            </a:solidFill>
            <a:prstDash val="solid"/>
          </a:ln>
        </p:spPr>
      </p:sp>
      <p:sp>
        <p:nvSpPr>
          <p:cNvPr id="8" name="Text 6"/>
          <p:cNvSpPr txBox="1"/>
          <p:nvPr/>
        </p:nvSpPr>
        <p:spPr>
          <a:xfrm>
            <a:off x="850392" y="2697480"/>
            <a:ext cx="3108960" cy="365760"/>
          </a:xfrm>
          <a:prstGeom prst="rect">
            <a:avLst/>
          </a:prstGeom>
          <a:noFill/>
          <a:ln/>
        </p:spPr>
        <p:txBody>
          <a:bodyPr wrap="square" lIns="0" tIns="0" rIns="0" bIns="0" rtlCol="0" anchor="ctr"/>
          <a:lstStyle/>
          <a:p>
            <a:pPr indent="0" marL="0">
              <a:buNone/>
            </a:pPr>
            <a:r>
              <a:rPr lang="en-US" sz="1500" b="1" spc="100" kern="0" dirty="0">
                <a:solidFill>
                  <a:srgbClr val="0F6E66"/>
                </a:solidFill>
                <a:latin typeface="Calibri" pitchFamily="34" charset="0"/>
                <a:ea typeface="Calibri" pitchFamily="34" charset="-122"/>
                <a:cs typeface="Calibri" pitchFamily="34" charset="-120"/>
              </a:rPr>
              <a:t>ADOPT</a:t>
            </a:r>
            <a:endParaRPr lang="en-US" sz="1500" dirty="0"/>
          </a:p>
        </p:txBody>
      </p:sp>
      <p:sp>
        <p:nvSpPr>
          <p:cNvPr id="9" name="Text 7"/>
          <p:cNvSpPr txBox="1"/>
          <p:nvPr/>
        </p:nvSpPr>
        <p:spPr>
          <a:xfrm>
            <a:off x="850392" y="3063240"/>
            <a:ext cx="3108960" cy="822960"/>
          </a:xfrm>
          <a:prstGeom prst="rect">
            <a:avLst/>
          </a:prstGeom>
          <a:noFill/>
          <a:ln/>
        </p:spPr>
        <p:txBody>
          <a:bodyPr wrap="square" lIns="0" tIns="0" rIns="0" bIns="0" rtlCol="0" anchor="t"/>
          <a:lstStyle/>
          <a:p>
            <a:pPr indent="0" marL="0">
              <a:lnSpc>
                <a:spcPct val="112000"/>
              </a:lnSpc>
              <a:buNone/>
            </a:pPr>
            <a:r>
              <a:rPr lang="en-US" sz="1300" dirty="0">
                <a:solidFill>
                  <a:srgbClr val="2B3138"/>
                </a:solidFill>
                <a:latin typeface="Calibri" pitchFamily="34" charset="0"/>
                <a:ea typeface="Calibri" pitchFamily="34" charset="-122"/>
                <a:cs typeface="Calibri" pitchFamily="34" charset="-120"/>
              </a:rPr>
              <a:t>Precondition named and satisfied</a:t>
            </a:r>
            <a:endParaRPr lang="en-US" sz="1300" dirty="0"/>
          </a:p>
        </p:txBody>
      </p:sp>
      <p:sp>
        <p:nvSpPr>
          <p:cNvPr id="10" name="Shape 8"/>
          <p:cNvSpPr/>
          <p:nvPr/>
        </p:nvSpPr>
        <p:spPr>
          <a:xfrm>
            <a:off x="4434840" y="2514600"/>
            <a:ext cx="3611880" cy="1463040"/>
          </a:xfrm>
          <a:prstGeom prst="roundRect">
            <a:avLst>
              <a:gd name="adj" fmla="val 3750"/>
            </a:avLst>
          </a:prstGeom>
          <a:solidFill>
            <a:srgbClr val="F4F6F6"/>
          </a:solidFill>
          <a:ln w="12700">
            <a:solidFill>
              <a:srgbClr val="DFE3E6"/>
            </a:solidFill>
            <a:prstDash val="solid"/>
          </a:ln>
        </p:spPr>
      </p:sp>
      <p:sp>
        <p:nvSpPr>
          <p:cNvPr id="11" name="Text 9"/>
          <p:cNvSpPr txBox="1"/>
          <p:nvPr/>
        </p:nvSpPr>
        <p:spPr>
          <a:xfrm>
            <a:off x="4690872" y="2697480"/>
            <a:ext cx="3108960" cy="365760"/>
          </a:xfrm>
          <a:prstGeom prst="rect">
            <a:avLst/>
          </a:prstGeom>
          <a:noFill/>
          <a:ln/>
        </p:spPr>
        <p:txBody>
          <a:bodyPr wrap="square" lIns="0" tIns="0" rIns="0" bIns="0" rtlCol="0" anchor="ctr"/>
          <a:lstStyle/>
          <a:p>
            <a:pPr indent="0" marL="0">
              <a:buNone/>
            </a:pPr>
            <a:r>
              <a:rPr lang="en-US" sz="1500" b="1" spc="100" kern="0" dirty="0">
                <a:solidFill>
                  <a:srgbClr val="0F6E66"/>
                </a:solidFill>
                <a:latin typeface="Calibri" pitchFamily="34" charset="0"/>
                <a:ea typeface="Calibri" pitchFamily="34" charset="-122"/>
                <a:cs typeface="Calibri" pitchFamily="34" charset="-120"/>
              </a:rPr>
              <a:t>ADAPT</a:t>
            </a:r>
            <a:endParaRPr lang="en-US" sz="1500" dirty="0"/>
          </a:p>
        </p:txBody>
      </p:sp>
      <p:sp>
        <p:nvSpPr>
          <p:cNvPr id="12" name="Text 10"/>
          <p:cNvSpPr txBox="1"/>
          <p:nvPr/>
        </p:nvSpPr>
        <p:spPr>
          <a:xfrm>
            <a:off x="4690872" y="3063240"/>
            <a:ext cx="3108960" cy="822960"/>
          </a:xfrm>
          <a:prstGeom prst="rect">
            <a:avLst/>
          </a:prstGeom>
          <a:noFill/>
          <a:ln/>
        </p:spPr>
        <p:txBody>
          <a:bodyPr wrap="square" lIns="0" tIns="0" rIns="0" bIns="0" rtlCol="0" anchor="t"/>
          <a:lstStyle/>
          <a:p>
            <a:pPr indent="0" marL="0">
              <a:lnSpc>
                <a:spcPct val="112000"/>
              </a:lnSpc>
              <a:buNone/>
            </a:pPr>
            <a:r>
              <a:rPr lang="en-US" sz="1300" dirty="0">
                <a:solidFill>
                  <a:srgbClr val="2B3138"/>
                </a:solidFill>
                <a:latin typeface="Calibri" pitchFamily="34" charset="0"/>
                <a:ea typeface="Calibri" pitchFamily="34" charset="-122"/>
                <a:cs typeface="Calibri" pitchFamily="34" charset="-120"/>
              </a:rPr>
              <a:t>What changed, and why</a:t>
            </a:r>
            <a:endParaRPr lang="en-US" sz="1300" dirty="0"/>
          </a:p>
        </p:txBody>
      </p:sp>
      <p:sp>
        <p:nvSpPr>
          <p:cNvPr id="13" name="Shape 11"/>
          <p:cNvSpPr/>
          <p:nvPr/>
        </p:nvSpPr>
        <p:spPr>
          <a:xfrm>
            <a:off x="8275320" y="2514600"/>
            <a:ext cx="3611880" cy="1463040"/>
          </a:xfrm>
          <a:prstGeom prst="roundRect">
            <a:avLst>
              <a:gd name="adj" fmla="val 3750"/>
            </a:avLst>
          </a:prstGeom>
          <a:solidFill>
            <a:srgbClr val="F4F6F6"/>
          </a:solidFill>
          <a:ln w="12700">
            <a:solidFill>
              <a:srgbClr val="DFE3E6"/>
            </a:solidFill>
            <a:prstDash val="solid"/>
          </a:ln>
        </p:spPr>
      </p:sp>
      <p:sp>
        <p:nvSpPr>
          <p:cNvPr id="14" name="Text 12"/>
          <p:cNvSpPr txBox="1"/>
          <p:nvPr/>
        </p:nvSpPr>
        <p:spPr>
          <a:xfrm>
            <a:off x="8531352" y="2697480"/>
            <a:ext cx="3108960" cy="365760"/>
          </a:xfrm>
          <a:prstGeom prst="rect">
            <a:avLst/>
          </a:prstGeom>
          <a:noFill/>
          <a:ln/>
        </p:spPr>
        <p:txBody>
          <a:bodyPr wrap="square" lIns="0" tIns="0" rIns="0" bIns="0" rtlCol="0" anchor="ctr"/>
          <a:lstStyle/>
          <a:p>
            <a:pPr indent="0" marL="0">
              <a:buNone/>
            </a:pPr>
            <a:r>
              <a:rPr lang="en-US" sz="1500" b="1" spc="100" kern="0" dirty="0">
                <a:solidFill>
                  <a:srgbClr val="8C2F2F"/>
                </a:solidFill>
                <a:latin typeface="Calibri" pitchFamily="34" charset="0"/>
                <a:ea typeface="Calibri" pitchFamily="34" charset="-122"/>
                <a:cs typeface="Calibri" pitchFamily="34" charset="-120"/>
              </a:rPr>
              <a:t>REJECT</a:t>
            </a:r>
            <a:endParaRPr lang="en-US" sz="1500" dirty="0"/>
          </a:p>
        </p:txBody>
      </p:sp>
      <p:sp>
        <p:nvSpPr>
          <p:cNvPr id="15" name="Text 13"/>
          <p:cNvSpPr txBox="1"/>
          <p:nvPr/>
        </p:nvSpPr>
        <p:spPr>
          <a:xfrm>
            <a:off x="8531352" y="3063240"/>
            <a:ext cx="3108960" cy="822960"/>
          </a:xfrm>
          <a:prstGeom prst="rect">
            <a:avLst/>
          </a:prstGeom>
          <a:noFill/>
          <a:ln/>
        </p:spPr>
        <p:txBody>
          <a:bodyPr wrap="square" lIns="0" tIns="0" rIns="0" bIns="0" rtlCol="0" anchor="t"/>
          <a:lstStyle/>
          <a:p>
            <a:pPr indent="0" marL="0">
              <a:lnSpc>
                <a:spcPct val="112000"/>
              </a:lnSpc>
              <a:buNone/>
            </a:pPr>
            <a:r>
              <a:rPr lang="en-US" sz="1300" dirty="0">
                <a:solidFill>
                  <a:srgbClr val="2B3138"/>
                </a:solidFill>
                <a:latin typeface="Calibri" pitchFamily="34" charset="0"/>
                <a:ea typeface="Calibri" pitchFamily="34" charset="-122"/>
                <a:cs typeface="Calibri" pitchFamily="34" charset="-120"/>
              </a:rPr>
              <a:t>What benefit is given up, and what compensates — or it is labeled an accepted risk</a:t>
            </a:r>
            <a:endParaRPr lang="en-US" sz="1300" dirty="0"/>
          </a:p>
        </p:txBody>
      </p:sp>
      <p:sp>
        <p:nvSpPr>
          <p:cNvPr id="16" name="Shape 14"/>
          <p:cNvSpPr/>
          <p:nvPr/>
        </p:nvSpPr>
        <p:spPr>
          <a:xfrm>
            <a:off x="594360" y="4343400"/>
            <a:ext cx="11000232" cy="1143000"/>
          </a:xfrm>
          <a:prstGeom prst="roundRect">
            <a:avLst>
              <a:gd name="adj" fmla="val 4800"/>
            </a:avLst>
          </a:prstGeom>
          <a:solidFill>
            <a:srgbClr val="F4F6F6"/>
          </a:solidFill>
          <a:ln w="12700">
            <a:solidFill>
              <a:srgbClr val="DFE3E6"/>
            </a:solidFill>
            <a:prstDash val="solid"/>
          </a:ln>
        </p:spPr>
      </p:sp>
      <p:sp>
        <p:nvSpPr>
          <p:cNvPr id="17" name="Text 15"/>
          <p:cNvSpPr txBox="1"/>
          <p:nvPr/>
        </p:nvSpPr>
        <p:spPr>
          <a:xfrm>
            <a:off x="914400" y="4498848"/>
            <a:ext cx="10515600" cy="320040"/>
          </a:xfrm>
          <a:prstGeom prst="rect">
            <a:avLst/>
          </a:prstGeom>
          <a:noFill/>
          <a:ln/>
        </p:spPr>
        <p:txBody>
          <a:bodyPr wrap="square" lIns="0" tIns="0" rIns="0" bIns="0" rtlCol="0" anchor="ctr"/>
          <a:lstStyle/>
          <a:p>
            <a:pPr indent="0" marL="0">
              <a:buNone/>
            </a:pPr>
            <a:r>
              <a:rPr lang="en-US" sz="1400" b="1" dirty="0">
                <a:solidFill>
                  <a:srgbClr val="1C2128"/>
                </a:solidFill>
                <a:latin typeface="Calibri" pitchFamily="34" charset="0"/>
                <a:ea typeface="Calibri" pitchFamily="34" charset="-122"/>
                <a:cs typeface="Calibri" pitchFamily="34" charset="-120"/>
              </a:rPr>
              <a:t>The test built into the prompt</a:t>
            </a:r>
            <a:endParaRPr lang="en-US" sz="1400" dirty="0"/>
          </a:p>
        </p:txBody>
      </p:sp>
      <p:sp>
        <p:nvSpPr>
          <p:cNvPr id="18" name="Text 16"/>
          <p:cNvSpPr txBox="1"/>
          <p:nvPr/>
        </p:nvSpPr>
        <p:spPr>
          <a:xfrm>
            <a:off x="914400" y="4828032"/>
            <a:ext cx="10515600" cy="548640"/>
          </a:xfrm>
          <a:prstGeom prst="rect">
            <a:avLst/>
          </a:prstGeom>
          <a:noFill/>
          <a:ln/>
        </p:spPr>
        <p:txBody>
          <a:bodyPr wrap="square" lIns="0" tIns="0" rIns="0" bIns="0" rtlCol="0" anchor="t"/>
          <a:lstStyle/>
          <a:p>
            <a:pPr indent="0" marL="0">
              <a:buNone/>
            </a:pPr>
            <a:r>
              <a:rPr lang="en-US" sz="1350" dirty="0">
                <a:solidFill>
                  <a:srgbClr val="2B3138"/>
                </a:solidFill>
                <a:latin typeface="Calibri" pitchFamily="34" charset="0"/>
                <a:ea typeface="Calibri" pitchFamily="34" charset="-122"/>
                <a:cs typeface="Calibri" pitchFamily="34" charset="-120"/>
              </a:rPr>
              <a:t>Across three very different projects, at least one run must reject a practice the model would otherwise reach for by default. A charter that adopts everything has not been selecting.</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936224" y="201168"/>
            <a:ext cx="658368" cy="310896"/>
          </a:xfrm>
          <a:prstGeom prst="roundRect">
            <a:avLst>
              <a:gd name="adj" fmla="val 23529"/>
            </a:avLst>
          </a:prstGeom>
          <a:solidFill>
            <a:srgbClr val="0F6E66"/>
          </a:solidFill>
          <a:ln w="12700">
            <a:solidFill>
              <a:srgbClr val="0F6E66"/>
            </a:solidFill>
            <a:prstDash val="solid"/>
          </a:ln>
        </p:spPr>
      </p:sp>
      <p:sp>
        <p:nvSpPr>
          <p:cNvPr id="3" name="Text 1"/>
          <p:cNvSpPr txBox="1"/>
          <p:nvPr/>
        </p:nvSpPr>
        <p:spPr>
          <a:xfrm>
            <a:off x="10936224" y="201168"/>
            <a:ext cx="658368"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CH3</a:t>
            </a:r>
            <a:endParaRPr lang="en-US" sz="1200" dirty="0"/>
          </a:p>
        </p:txBody>
      </p:sp>
      <p:sp>
        <p:nvSpPr>
          <p:cNvPr id="4" name="Text 2"/>
          <p:cNvSpPr txBox="1"/>
          <p:nvPr/>
        </p:nvSpPr>
        <p:spPr>
          <a:xfrm>
            <a:off x="594360" y="201168"/>
            <a:ext cx="11000232" cy="256032"/>
          </a:xfrm>
          <a:prstGeom prst="rect">
            <a:avLst/>
          </a:prstGeom>
          <a:noFill/>
          <a:ln/>
        </p:spPr>
        <p:txBody>
          <a:bodyPr wrap="square" lIns="0" tIns="0" rIns="0" bIns="0" rtlCol="0" anchor="ctr"/>
          <a:lstStyle/>
          <a:p>
            <a:pPr indent="0" marL="0">
              <a:buNone/>
            </a:pPr>
            <a:r>
              <a:rPr lang="en-US" sz="1100" b="1" spc="200" kern="0" dirty="0">
                <a:solidFill>
                  <a:srgbClr val="0F6E66"/>
                </a:solidFill>
                <a:latin typeface="Calibri" pitchFamily="34" charset="0"/>
                <a:ea typeface="Calibri" pitchFamily="34" charset="-122"/>
                <a:cs typeface="Calibri" pitchFamily="34" charset="-120"/>
              </a:rPr>
              <a:t>KEY MOVE — NOT IN SOMMERVILLE</a:t>
            </a:r>
            <a:endParaRPr lang="en-US" sz="1100" dirty="0"/>
          </a:p>
        </p:txBody>
      </p:sp>
      <p:sp>
        <p:nvSpPr>
          <p:cNvPr id="5" name="Text 3"/>
          <p:cNvSpPr txBox="1"/>
          <p:nvPr/>
        </p:nvSpPr>
        <p:spPr>
          <a:xfrm>
            <a:off x="594360" y="868680"/>
            <a:ext cx="11000232" cy="777240"/>
          </a:xfrm>
          <a:prstGeom prst="rect">
            <a:avLst/>
          </a:prstGeom>
          <a:noFill/>
          <a:ln/>
        </p:spPr>
        <p:txBody>
          <a:bodyPr wrap="square" lIns="0" tIns="0" rIns="0" bIns="0" rtlCol="0" anchor="ctr"/>
          <a:lstStyle/>
          <a:p>
            <a:pPr indent="0" marL="0">
              <a:buNone/>
            </a:pPr>
            <a:r>
              <a:rPr lang="en-US" sz="3400" b="1" dirty="0">
                <a:solidFill>
                  <a:srgbClr val="1C2128"/>
                </a:solidFill>
                <a:latin typeface="Cambria" pitchFamily="34" charset="0"/>
                <a:ea typeface="Cambria" pitchFamily="34" charset="-122"/>
                <a:cs typeface="Cambria" pitchFamily="34" charset="-120"/>
              </a:rPr>
              <a:t>Who actually performs each practice?</a:t>
            </a:r>
            <a:endParaRPr lang="en-US" sz="3400" dirty="0"/>
          </a:p>
        </p:txBody>
      </p:sp>
      <p:sp>
        <p:nvSpPr>
          <p:cNvPr id="6" name="Text 4"/>
          <p:cNvSpPr txBox="1"/>
          <p:nvPr/>
        </p:nvSpPr>
        <p:spPr>
          <a:xfrm>
            <a:off x="594360" y="1664208"/>
            <a:ext cx="11000232" cy="411480"/>
          </a:xfrm>
          <a:prstGeom prst="rect">
            <a:avLst/>
          </a:prstGeom>
          <a:noFill/>
          <a:ln/>
        </p:spPr>
        <p:txBody>
          <a:bodyPr wrap="square" lIns="0" tIns="0" rIns="0" bIns="0" rtlCol="0" anchor="t"/>
          <a:lstStyle/>
          <a:p>
            <a:pPr indent="0" marL="0">
              <a:buNone/>
            </a:pPr>
            <a:r>
              <a:rPr lang="en-US" sz="1500" i="1" dirty="0">
                <a:solidFill>
                  <a:srgbClr val="6E7781"/>
                </a:solidFill>
                <a:latin typeface="Calibri" pitchFamily="34" charset="0"/>
                <a:ea typeface="Calibri" pitchFamily="34" charset="-122"/>
                <a:cs typeface="Calibri" pitchFamily="34" charset="-120"/>
              </a:rPr>
              <a:t>XP assumes humans: a customer with authority, a pair who catches your mistakes, a team with a sustainable pace.</a:t>
            </a:r>
            <a:endParaRPr lang="en-US" sz="1500" dirty="0"/>
          </a:p>
        </p:txBody>
      </p:sp>
      <p:sp>
        <p:nvSpPr>
          <p:cNvPr id="7" name="Text 5"/>
          <p:cNvSpPr txBox="1"/>
          <p:nvPr/>
        </p:nvSpPr>
        <p:spPr>
          <a:xfrm>
            <a:off x="594360" y="2331720"/>
            <a:ext cx="2834640" cy="548640"/>
          </a:xfrm>
          <a:prstGeom prst="rect">
            <a:avLst/>
          </a:prstGeom>
          <a:noFill/>
          <a:ln/>
        </p:spPr>
        <p:txBody>
          <a:bodyPr wrap="square" lIns="0" tIns="0" rIns="0" bIns="0" rtlCol="0" anchor="t"/>
          <a:lstStyle/>
          <a:p>
            <a:pPr indent="0" marL="0">
              <a:buNone/>
            </a:pPr>
            <a:r>
              <a:rPr lang="en-US" sz="1450" b="1" dirty="0">
                <a:solidFill>
                  <a:srgbClr val="0F6E66"/>
                </a:solidFill>
                <a:latin typeface="Calibri" pitchFamily="34" charset="0"/>
                <a:ea typeface="Calibri" pitchFamily="34" charset="-122"/>
                <a:cs typeface="Calibri" pitchFamily="34" charset="-120"/>
              </a:rPr>
              <a:t>Can an agent do it?</a:t>
            </a:r>
            <a:endParaRPr lang="en-US" sz="1450" dirty="0"/>
          </a:p>
        </p:txBody>
      </p:sp>
      <p:sp>
        <p:nvSpPr>
          <p:cNvPr id="8" name="Text 6"/>
          <p:cNvSpPr txBox="1"/>
          <p:nvPr/>
        </p:nvSpPr>
        <p:spPr>
          <a:xfrm>
            <a:off x="3520440" y="2331720"/>
            <a:ext cx="7955280" cy="640080"/>
          </a:xfrm>
          <a:prstGeom prst="rect">
            <a:avLst/>
          </a:prstGeom>
          <a:noFill/>
          <a:ln/>
        </p:spPr>
        <p:txBody>
          <a:bodyPr wrap="square" lIns="0" tIns="0" rIns="0" bIns="0" rtlCol="0" anchor="t"/>
          <a:lstStyle/>
          <a:p>
            <a:pPr indent="0" marL="0">
              <a:buNone/>
            </a:pPr>
            <a:r>
              <a:rPr lang="en-US" sz="1450" dirty="0">
                <a:solidFill>
                  <a:srgbClr val="2B3138"/>
                </a:solidFill>
                <a:latin typeface="Calibri" pitchFamily="34" charset="0"/>
                <a:ea typeface="Calibri" pitchFamily="34" charset="-122"/>
                <a:cs typeface="Calibri" pitchFamily="34" charset="-120"/>
              </a:rPr>
              <a:t>Write the failing test first — yes. Generate acceptance criteria — yes, as a draft.</a:t>
            </a:r>
            <a:endParaRPr lang="en-US" sz="1450" dirty="0"/>
          </a:p>
        </p:txBody>
      </p:sp>
      <p:sp>
        <p:nvSpPr>
          <p:cNvPr id="9" name="Text 7"/>
          <p:cNvSpPr txBox="1"/>
          <p:nvPr/>
        </p:nvSpPr>
        <p:spPr>
          <a:xfrm>
            <a:off x="594360" y="3172968"/>
            <a:ext cx="2834640" cy="548640"/>
          </a:xfrm>
          <a:prstGeom prst="rect">
            <a:avLst/>
          </a:prstGeom>
          <a:noFill/>
          <a:ln/>
        </p:spPr>
        <p:txBody>
          <a:bodyPr wrap="square" lIns="0" tIns="0" rIns="0" bIns="0" rtlCol="0" anchor="t"/>
          <a:lstStyle/>
          <a:p>
            <a:pPr indent="0" marL="0">
              <a:buNone/>
            </a:pPr>
            <a:r>
              <a:rPr lang="en-US" sz="1450" b="1" dirty="0">
                <a:solidFill>
                  <a:srgbClr val="0F6E66"/>
                </a:solidFill>
                <a:latin typeface="Calibri" pitchFamily="34" charset="0"/>
                <a:ea typeface="Calibri" pitchFamily="34" charset="-122"/>
                <a:cs typeface="Calibri" pitchFamily="34" charset="-120"/>
              </a:rPr>
              <a:t>Where it breaks down</a:t>
            </a:r>
            <a:endParaRPr lang="en-US" sz="1450" dirty="0"/>
          </a:p>
        </p:txBody>
      </p:sp>
      <p:sp>
        <p:nvSpPr>
          <p:cNvPr id="10" name="Text 8"/>
          <p:cNvSpPr txBox="1"/>
          <p:nvPr/>
        </p:nvSpPr>
        <p:spPr>
          <a:xfrm>
            <a:off x="3520440" y="3172968"/>
            <a:ext cx="7955280" cy="640080"/>
          </a:xfrm>
          <a:prstGeom prst="rect">
            <a:avLst/>
          </a:prstGeom>
          <a:noFill/>
          <a:ln/>
        </p:spPr>
        <p:txBody>
          <a:bodyPr wrap="square" lIns="0" tIns="0" rIns="0" bIns="0" rtlCol="0" anchor="t"/>
          <a:lstStyle/>
          <a:p>
            <a:pPr indent="0" marL="0">
              <a:buNone/>
            </a:pPr>
            <a:r>
              <a:rPr lang="en-US" sz="1450" dirty="0">
                <a:solidFill>
                  <a:srgbClr val="2B3138"/>
                </a:solidFill>
                <a:latin typeface="Calibri" pitchFamily="34" charset="0"/>
                <a:ea typeface="Calibri" pitchFamily="34" charset="-122"/>
                <a:cs typeface="Calibri" pitchFamily="34" charset="-120"/>
              </a:rPr>
              <a:t>An agent cannot hold authority over which requirement matters more.</a:t>
            </a:r>
            <a:endParaRPr lang="en-US" sz="1450" dirty="0"/>
          </a:p>
        </p:txBody>
      </p:sp>
      <p:sp>
        <p:nvSpPr>
          <p:cNvPr id="11" name="Text 9"/>
          <p:cNvSpPr txBox="1"/>
          <p:nvPr/>
        </p:nvSpPr>
        <p:spPr>
          <a:xfrm>
            <a:off x="594360" y="4014216"/>
            <a:ext cx="2834640" cy="548640"/>
          </a:xfrm>
          <a:prstGeom prst="rect">
            <a:avLst/>
          </a:prstGeom>
          <a:noFill/>
          <a:ln/>
        </p:spPr>
        <p:txBody>
          <a:bodyPr wrap="square" lIns="0" tIns="0" rIns="0" bIns="0" rtlCol="0" anchor="t"/>
          <a:lstStyle/>
          <a:p>
            <a:pPr indent="0" marL="0">
              <a:buNone/>
            </a:pPr>
            <a:r>
              <a:rPr lang="en-US" sz="1450" b="1" dirty="0">
                <a:solidFill>
                  <a:srgbClr val="0F6E66"/>
                </a:solidFill>
                <a:latin typeface="Calibri" pitchFamily="34" charset="0"/>
                <a:ea typeface="Calibri" pitchFamily="34" charset="-122"/>
                <a:cs typeface="Calibri" pitchFamily="34" charset="-120"/>
              </a:rPr>
              <a:t>And further</a:t>
            </a:r>
            <a:endParaRPr lang="en-US" sz="1450" dirty="0"/>
          </a:p>
        </p:txBody>
      </p:sp>
      <p:sp>
        <p:nvSpPr>
          <p:cNvPr id="12" name="Text 10"/>
          <p:cNvSpPr txBox="1"/>
          <p:nvPr/>
        </p:nvSpPr>
        <p:spPr>
          <a:xfrm>
            <a:off x="3520440" y="4014216"/>
            <a:ext cx="7955280" cy="640080"/>
          </a:xfrm>
          <a:prstGeom prst="rect">
            <a:avLst/>
          </a:prstGeom>
          <a:noFill/>
          <a:ln/>
        </p:spPr>
        <p:txBody>
          <a:bodyPr wrap="square" lIns="0" tIns="0" rIns="0" bIns="0" rtlCol="0" anchor="t"/>
          <a:lstStyle/>
          <a:p>
            <a:pPr indent="0" marL="0">
              <a:buNone/>
            </a:pPr>
            <a:r>
              <a:rPr lang="en-US" sz="1450" dirty="0">
                <a:solidFill>
                  <a:srgbClr val="2B3138"/>
                </a:solidFill>
                <a:latin typeface="Calibri" pitchFamily="34" charset="0"/>
                <a:ea typeface="Calibri" pitchFamily="34" charset="-122"/>
                <a:cs typeface="Calibri" pitchFamily="34" charset="-120"/>
              </a:rPr>
              <a:t>An agent cannot be accountable for accepting a release.</a:t>
            </a:r>
            <a:endParaRPr lang="en-US" sz="1450" dirty="0"/>
          </a:p>
        </p:txBody>
      </p:sp>
      <p:sp>
        <p:nvSpPr>
          <p:cNvPr id="13" name="Shape 11"/>
          <p:cNvSpPr/>
          <p:nvPr/>
        </p:nvSpPr>
        <p:spPr>
          <a:xfrm>
            <a:off x="594360" y="4892040"/>
            <a:ext cx="11000232" cy="1005840"/>
          </a:xfrm>
          <a:prstGeom prst="roundRect">
            <a:avLst>
              <a:gd name="adj" fmla="val 5455"/>
            </a:avLst>
          </a:prstGeom>
          <a:solidFill>
            <a:srgbClr val="F4F6F6"/>
          </a:solidFill>
          <a:ln w="12700">
            <a:solidFill>
              <a:srgbClr val="DFE3E6"/>
            </a:solidFill>
            <a:prstDash val="solid"/>
          </a:ln>
        </p:spPr>
      </p:sp>
      <p:sp>
        <p:nvSpPr>
          <p:cNvPr id="14" name="Text 12"/>
          <p:cNvSpPr txBox="1"/>
          <p:nvPr/>
        </p:nvSpPr>
        <p:spPr>
          <a:xfrm>
            <a:off x="914400" y="5029200"/>
            <a:ext cx="10515600" cy="731520"/>
          </a:xfrm>
          <a:prstGeom prst="rect">
            <a:avLst/>
          </a:prstGeom>
          <a:noFill/>
          <a:ln/>
        </p:spPr>
        <p:txBody>
          <a:bodyPr wrap="square" lIns="0" tIns="0" rIns="0" bIns="0" rtlCol="0" anchor="ctr"/>
          <a:lstStyle/>
          <a:p>
            <a:pPr indent="0" marL="0">
              <a:buNone/>
            </a:pPr>
            <a:r>
              <a:rPr lang="en-US" sz="1450" b="1" dirty="0">
                <a:solidFill>
                  <a:srgbClr val="1C2128"/>
                </a:solidFill>
                <a:latin typeface="Calibri" pitchFamily="34" charset="0"/>
                <a:ea typeface="Calibri" pitchFamily="34" charset="-122"/>
                <a:cs typeface="Calibri" pitchFamily="34" charset="-120"/>
              </a:rPr>
              <a:t>Every practice assigned to an AI must record a substitution limit — what the agent cannot supply that the practice originally assumed.</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201168"/>
            <a:ext cx="11000232" cy="256032"/>
          </a:xfrm>
          <a:prstGeom prst="rect">
            <a:avLst/>
          </a:prstGeom>
          <a:noFill/>
          <a:ln/>
        </p:spPr>
        <p:txBody>
          <a:bodyPr wrap="square" lIns="0" tIns="0" rIns="0" bIns="0" rtlCol="0" anchor="ctr"/>
          <a:lstStyle/>
          <a:p>
            <a:pPr indent="0" marL="0">
              <a:buNone/>
            </a:pPr>
            <a:r>
              <a:rPr lang="en-US" sz="1100" b="1" spc="200" kern="0" dirty="0">
                <a:solidFill>
                  <a:srgbClr val="0F6E66"/>
                </a:solidFill>
                <a:latin typeface="Calibri" pitchFamily="34" charset="0"/>
                <a:ea typeface="Calibri" pitchFamily="34" charset="-122"/>
                <a:cs typeface="Calibri" pitchFamily="34" charset="-120"/>
              </a:rPr>
              <a:t>THE FIRST REAL LOOP-BACK</a:t>
            </a:r>
            <a:endParaRPr lang="en-US" sz="1100" dirty="0"/>
          </a:p>
        </p:txBody>
      </p:sp>
      <p:sp>
        <p:nvSpPr>
          <p:cNvPr id="3" name="Text 1"/>
          <p:cNvSpPr txBox="1"/>
          <p:nvPr/>
        </p:nvSpPr>
        <p:spPr>
          <a:xfrm>
            <a:off x="594360" y="457200"/>
            <a:ext cx="11000232" cy="777240"/>
          </a:xfrm>
          <a:prstGeom prst="rect">
            <a:avLst/>
          </a:prstGeom>
          <a:noFill/>
          <a:ln/>
        </p:spPr>
        <p:txBody>
          <a:bodyPr wrap="square" lIns="0" tIns="0" rIns="0" bIns="0" rtlCol="0" anchor="ctr"/>
          <a:lstStyle/>
          <a:p>
            <a:pPr indent="0" marL="0">
              <a:buNone/>
            </a:pPr>
            <a:r>
              <a:rPr lang="en-US" sz="3400" b="1" dirty="0">
                <a:solidFill>
                  <a:srgbClr val="1C2128"/>
                </a:solidFill>
                <a:latin typeface="Cambria" pitchFamily="34" charset="0"/>
                <a:ea typeface="Cambria" pitchFamily="34" charset="-122"/>
                <a:cs typeface="Cambria" pitchFamily="34" charset="-120"/>
              </a:rPr>
              <a:t>Ch3 is allowed to tell Ch2 it was wrong</a:t>
            </a:r>
            <a:endParaRPr lang="en-US" sz="3400" dirty="0"/>
          </a:p>
        </p:txBody>
      </p:sp>
      <p:sp>
        <p:nvSpPr>
          <p:cNvPr id="4" name="Shape 2"/>
          <p:cNvSpPr/>
          <p:nvPr/>
        </p:nvSpPr>
        <p:spPr>
          <a:xfrm>
            <a:off x="594360" y="1920240"/>
            <a:ext cx="4846320" cy="2103120"/>
          </a:xfrm>
          <a:prstGeom prst="roundRect">
            <a:avLst>
              <a:gd name="adj" fmla="val 2609"/>
            </a:avLst>
          </a:prstGeom>
          <a:solidFill>
            <a:srgbClr val="F4F6F6"/>
          </a:solidFill>
          <a:ln w="12700">
            <a:solidFill>
              <a:srgbClr val="DFE3E6"/>
            </a:solidFill>
            <a:prstDash val="solid"/>
          </a:ln>
        </p:spPr>
      </p:sp>
      <p:sp>
        <p:nvSpPr>
          <p:cNvPr id="5" name="Shape 3"/>
          <p:cNvSpPr/>
          <p:nvPr/>
        </p:nvSpPr>
        <p:spPr>
          <a:xfrm>
            <a:off x="914400" y="2148840"/>
            <a:ext cx="658368" cy="310896"/>
          </a:xfrm>
          <a:prstGeom prst="roundRect">
            <a:avLst>
              <a:gd name="adj" fmla="val 23529"/>
            </a:avLst>
          </a:prstGeom>
          <a:solidFill>
            <a:srgbClr val="0F6E66"/>
          </a:solidFill>
          <a:ln w="12700">
            <a:solidFill>
              <a:srgbClr val="0F6E66"/>
            </a:solidFill>
            <a:prstDash val="solid"/>
          </a:ln>
        </p:spPr>
      </p:sp>
      <p:sp>
        <p:nvSpPr>
          <p:cNvPr id="6" name="Text 4"/>
          <p:cNvSpPr txBox="1"/>
          <p:nvPr/>
        </p:nvSpPr>
        <p:spPr>
          <a:xfrm>
            <a:off x="914400" y="2148840"/>
            <a:ext cx="658368"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CH2</a:t>
            </a:r>
            <a:endParaRPr lang="en-US" sz="1200" dirty="0"/>
          </a:p>
        </p:txBody>
      </p:sp>
      <p:sp>
        <p:nvSpPr>
          <p:cNvPr id="7" name="Text 5"/>
          <p:cNvSpPr txBox="1"/>
          <p:nvPr/>
        </p:nvSpPr>
        <p:spPr>
          <a:xfrm>
            <a:off x="914400" y="2606040"/>
            <a:ext cx="4206240" cy="365760"/>
          </a:xfrm>
          <a:prstGeom prst="rect">
            <a:avLst/>
          </a:prstGeom>
          <a:noFill/>
          <a:ln/>
        </p:spPr>
        <p:txBody>
          <a:bodyPr wrap="square" lIns="0" tIns="0" rIns="0" bIns="0" rtlCol="0" anchor="ctr"/>
          <a:lstStyle/>
          <a:p>
            <a:pPr indent="0" marL="0">
              <a:buNone/>
            </a:pPr>
            <a:r>
              <a:rPr lang="en-US" sz="1450" b="1" dirty="0">
                <a:solidFill>
                  <a:srgbClr val="1C2128"/>
                </a:solidFill>
                <a:latin typeface="Calibri" pitchFamily="34" charset="0"/>
                <a:ea typeface="Calibri" pitchFamily="34" charset="-122"/>
                <a:cs typeface="Calibri" pitchFamily="34" charset="-120"/>
              </a:rPr>
              <a:t>Eight coarse classification axes</a:t>
            </a:r>
            <a:endParaRPr lang="en-US" sz="1450" dirty="0"/>
          </a:p>
        </p:txBody>
      </p:sp>
      <p:sp>
        <p:nvSpPr>
          <p:cNvPr id="8" name="Text 6"/>
          <p:cNvSpPr txBox="1"/>
          <p:nvPr/>
        </p:nvSpPr>
        <p:spPr>
          <a:xfrm>
            <a:off x="914400" y="2971800"/>
            <a:ext cx="4206240" cy="822960"/>
          </a:xfrm>
          <a:prstGeom prst="rect">
            <a:avLst/>
          </a:prstGeom>
          <a:noFill/>
          <a:ln/>
        </p:spPr>
        <p:txBody>
          <a:bodyPr wrap="square" lIns="0" tIns="0" rIns="0" bIns="0" rtlCol="0" anchor="t"/>
          <a:lstStyle/>
          <a:p>
            <a:pPr indent="0" marL="0">
              <a:buNone/>
            </a:pPr>
            <a:r>
              <a:rPr lang="en-US" sz="1300" dirty="0">
                <a:solidFill>
                  <a:srgbClr val="2B3138"/>
                </a:solidFill>
                <a:latin typeface="Calibri" pitchFamily="34" charset="0"/>
                <a:ea typeface="Calibri" pitchFamily="34" charset="-122"/>
                <a:cs typeface="Calibri" pitchFamily="34" charset="-120"/>
              </a:rPr>
              <a:t>Sets a provisional position on the plan-driven / agile spectrum.</a:t>
            </a:r>
            <a:endParaRPr lang="en-US" sz="1300" dirty="0"/>
          </a:p>
        </p:txBody>
      </p:sp>
      <p:sp>
        <p:nvSpPr>
          <p:cNvPr id="9" name="Text 7"/>
          <p:cNvSpPr txBox="1"/>
          <p:nvPr/>
        </p:nvSpPr>
        <p:spPr>
          <a:xfrm>
            <a:off x="5623560" y="2788920"/>
            <a:ext cx="1188720" cy="365760"/>
          </a:xfrm>
          <a:prstGeom prst="rect">
            <a:avLst/>
          </a:prstGeom>
          <a:noFill/>
          <a:ln/>
        </p:spPr>
        <p:txBody>
          <a:bodyPr wrap="square" lIns="0" tIns="0" rIns="0" bIns="0" rtlCol="0" anchor="ctr"/>
          <a:lstStyle/>
          <a:p>
            <a:pPr algn="ctr" indent="0" marL="0">
              <a:buNone/>
            </a:pPr>
            <a:r>
              <a:rPr lang="en-US" sz="1200" i="1" dirty="0">
                <a:solidFill>
                  <a:srgbClr val="6E7781"/>
                </a:solidFill>
                <a:latin typeface="Calibri" pitchFamily="34" charset="0"/>
                <a:ea typeface="Calibri" pitchFamily="34" charset="-122"/>
                <a:cs typeface="Calibri" pitchFamily="34" charset="-120"/>
              </a:rPr>
              <a:t>audits</a:t>
            </a:r>
            <a:endParaRPr lang="en-US" sz="1200" dirty="0"/>
          </a:p>
        </p:txBody>
      </p:sp>
      <p:sp>
        <p:nvSpPr>
          <p:cNvPr id="10" name="Text 8"/>
          <p:cNvSpPr txBox="1"/>
          <p:nvPr/>
        </p:nvSpPr>
        <p:spPr>
          <a:xfrm>
            <a:off x="5623560" y="2450592"/>
            <a:ext cx="1188720" cy="365760"/>
          </a:xfrm>
          <a:prstGeom prst="rect">
            <a:avLst/>
          </a:prstGeom>
          <a:noFill/>
          <a:ln/>
        </p:spPr>
        <p:txBody>
          <a:bodyPr wrap="square" lIns="0" tIns="0" rIns="0" bIns="0" rtlCol="0" anchor="ctr"/>
          <a:lstStyle/>
          <a:p>
            <a:pPr algn="ctr" indent="0" marL="0">
              <a:buNone/>
            </a:pPr>
            <a:r>
              <a:rPr lang="en-US" sz="1600" dirty="0">
                <a:solidFill>
                  <a:srgbClr val="8C2F2F"/>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6766560" y="1920240"/>
            <a:ext cx="4846320" cy="2103120"/>
          </a:xfrm>
          <a:prstGeom prst="roundRect">
            <a:avLst>
              <a:gd name="adj" fmla="val 2609"/>
            </a:avLst>
          </a:prstGeom>
          <a:solidFill>
            <a:srgbClr val="F4F6F6"/>
          </a:solidFill>
          <a:ln w="12700">
            <a:solidFill>
              <a:srgbClr val="DFE3E6"/>
            </a:solidFill>
            <a:prstDash val="solid"/>
          </a:ln>
        </p:spPr>
      </p:sp>
      <p:sp>
        <p:nvSpPr>
          <p:cNvPr id="12" name="Shape 10"/>
          <p:cNvSpPr/>
          <p:nvPr/>
        </p:nvSpPr>
        <p:spPr>
          <a:xfrm>
            <a:off x="7086600" y="2148840"/>
            <a:ext cx="658368" cy="310896"/>
          </a:xfrm>
          <a:prstGeom prst="roundRect">
            <a:avLst>
              <a:gd name="adj" fmla="val 23529"/>
            </a:avLst>
          </a:prstGeom>
          <a:solidFill>
            <a:srgbClr val="0F6E66"/>
          </a:solidFill>
          <a:ln w="12700">
            <a:solidFill>
              <a:srgbClr val="0F6E66"/>
            </a:solidFill>
            <a:prstDash val="solid"/>
          </a:ln>
        </p:spPr>
      </p:sp>
      <p:sp>
        <p:nvSpPr>
          <p:cNvPr id="13" name="Text 11"/>
          <p:cNvSpPr txBox="1"/>
          <p:nvPr/>
        </p:nvSpPr>
        <p:spPr>
          <a:xfrm>
            <a:off x="7086600" y="2148840"/>
            <a:ext cx="658368"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CH3</a:t>
            </a:r>
            <a:endParaRPr lang="en-US" sz="1200" dirty="0"/>
          </a:p>
        </p:txBody>
      </p:sp>
      <p:sp>
        <p:nvSpPr>
          <p:cNvPr id="14" name="Text 12"/>
          <p:cNvSpPr txBox="1"/>
          <p:nvPr/>
        </p:nvSpPr>
        <p:spPr>
          <a:xfrm>
            <a:off x="7086600" y="2606040"/>
            <a:ext cx="4206240" cy="365760"/>
          </a:xfrm>
          <a:prstGeom prst="rect">
            <a:avLst/>
          </a:prstGeom>
          <a:noFill/>
          <a:ln/>
        </p:spPr>
        <p:txBody>
          <a:bodyPr wrap="square" lIns="0" tIns="0" rIns="0" bIns="0" rtlCol="0" anchor="ctr"/>
          <a:lstStyle/>
          <a:p>
            <a:pPr indent="0" marL="0">
              <a:buNone/>
            </a:pPr>
            <a:r>
              <a:rPr lang="en-US" sz="1450" b="1" dirty="0">
                <a:solidFill>
                  <a:srgbClr val="1C2128"/>
                </a:solidFill>
                <a:latin typeface="Calibri" pitchFamily="34" charset="0"/>
                <a:ea typeface="Calibri" pitchFamily="34" charset="-122"/>
                <a:cs typeface="Calibri" pitchFamily="34" charset="-120"/>
              </a:rPr>
              <a:t>Ten fine-grained choice factors</a:t>
            </a:r>
            <a:endParaRPr lang="en-US" sz="1450" dirty="0"/>
          </a:p>
        </p:txBody>
      </p:sp>
      <p:sp>
        <p:nvSpPr>
          <p:cNvPr id="15" name="Text 13"/>
          <p:cNvSpPr txBox="1"/>
          <p:nvPr/>
        </p:nvSpPr>
        <p:spPr>
          <a:xfrm>
            <a:off x="7086600" y="2971800"/>
            <a:ext cx="4206240" cy="822960"/>
          </a:xfrm>
          <a:prstGeom prst="rect">
            <a:avLst/>
          </a:prstGeom>
          <a:noFill/>
          <a:ln/>
        </p:spPr>
        <p:txBody>
          <a:bodyPr wrap="square" lIns="0" tIns="0" rIns="0" bIns="0" rtlCol="0" anchor="t"/>
          <a:lstStyle/>
          <a:p>
            <a:pPr indent="0" marL="0">
              <a:buNone/>
            </a:pPr>
            <a:r>
              <a:rPr lang="en-US" sz="1300" dirty="0">
                <a:solidFill>
                  <a:srgbClr val="2B3138"/>
                </a:solidFill>
                <a:latin typeface="Calibri" pitchFamily="34" charset="0"/>
                <a:ea typeface="Calibri" pitchFamily="34" charset="-122"/>
                <a:cs typeface="Calibri" pitchFamily="34" charset="-120"/>
              </a:rPr>
              <a:t>If it lands more than one band away, it stops and raises SPECTRUM_MISMATCH.</a:t>
            </a:r>
            <a:endParaRPr lang="en-US" sz="1300" dirty="0"/>
          </a:p>
        </p:txBody>
      </p:sp>
      <p:sp>
        <p:nvSpPr>
          <p:cNvPr id="16" name="Text 14"/>
          <p:cNvSpPr txBox="1"/>
          <p:nvPr/>
        </p:nvSpPr>
        <p:spPr>
          <a:xfrm>
            <a:off x="594360" y="4434840"/>
            <a:ext cx="11000232" cy="1097280"/>
          </a:xfrm>
          <a:prstGeom prst="rect">
            <a:avLst/>
          </a:prstGeom>
          <a:noFill/>
          <a:ln/>
        </p:spPr>
        <p:txBody>
          <a:bodyPr wrap="square" lIns="0" tIns="0" rIns="0" bIns="0" rtlCol="0" anchor="t"/>
          <a:lstStyle/>
          <a:p>
            <a:pPr indent="0" marL="0">
              <a:lnSpc>
                <a:spcPct val="125000"/>
              </a:lnSpc>
              <a:buNone/>
            </a:pPr>
            <a:r>
              <a:rPr lang="en-US" sz="1500" dirty="0">
                <a:solidFill>
                  <a:srgbClr val="2B3138"/>
                </a:solidFill>
                <a:latin typeface="Calibri" pitchFamily="34" charset="0"/>
                <a:ea typeface="Calibri" pitchFamily="34" charset="-122"/>
                <a:cs typeface="Calibri" pitchFamily="34" charset="-120"/>
              </a:rPr>
              <a:t>Everything before this point only flows forward. Ch3 is the first stage with a finer instrument than the one that made the upstream decision — which makes it the first stage that can legitimately contradict its predecessor.</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201168"/>
            <a:ext cx="11000232" cy="256032"/>
          </a:xfrm>
          <a:prstGeom prst="rect">
            <a:avLst/>
          </a:prstGeom>
          <a:noFill/>
          <a:ln/>
        </p:spPr>
        <p:txBody>
          <a:bodyPr wrap="square" lIns="0" tIns="0" rIns="0" bIns="0" rtlCol="0" anchor="ctr"/>
          <a:lstStyle/>
          <a:p>
            <a:pPr indent="0" marL="0">
              <a:buNone/>
            </a:pPr>
            <a:r>
              <a:rPr lang="en-US" sz="1100" b="1" spc="200" kern="0" dirty="0">
                <a:solidFill>
                  <a:srgbClr val="0F6E66"/>
                </a:solidFill>
                <a:latin typeface="Calibri" pitchFamily="34" charset="0"/>
                <a:ea typeface="Calibri" pitchFamily="34" charset="-122"/>
                <a:cs typeface="Calibri" pitchFamily="34" charset="-120"/>
              </a:rPr>
              <a:t>SIDE BY SIDE</a:t>
            </a:r>
            <a:endParaRPr lang="en-US" sz="1100" dirty="0"/>
          </a:p>
        </p:txBody>
      </p:sp>
      <p:sp>
        <p:nvSpPr>
          <p:cNvPr id="3" name="Text 1"/>
          <p:cNvSpPr txBox="1"/>
          <p:nvPr/>
        </p:nvSpPr>
        <p:spPr>
          <a:xfrm>
            <a:off x="594360" y="457200"/>
            <a:ext cx="11000232" cy="777240"/>
          </a:xfrm>
          <a:prstGeom prst="rect">
            <a:avLst/>
          </a:prstGeom>
          <a:noFill/>
          <a:ln/>
        </p:spPr>
        <p:txBody>
          <a:bodyPr wrap="square" lIns="0" tIns="0" rIns="0" bIns="0" rtlCol="0" anchor="ctr"/>
          <a:lstStyle/>
          <a:p>
            <a:pPr indent="0" marL="0">
              <a:buNone/>
            </a:pPr>
            <a:r>
              <a:rPr lang="en-US" sz="3400" b="1" dirty="0">
                <a:solidFill>
                  <a:srgbClr val="1C2128"/>
                </a:solidFill>
                <a:latin typeface="Cambria" pitchFamily="34" charset="0"/>
                <a:ea typeface="Cambria" pitchFamily="34" charset="-122"/>
                <a:cs typeface="Cambria" pitchFamily="34" charset="-120"/>
              </a:rPr>
              <a:t>Same subject, different resolution</a:t>
            </a:r>
            <a:endParaRPr lang="en-US" sz="3400" dirty="0"/>
          </a:p>
        </p:txBody>
      </p:sp>
      <p:sp>
        <p:nvSpPr>
          <p:cNvPr id="4" name="Text 2"/>
          <p:cNvSpPr txBox="1"/>
          <p:nvPr/>
        </p:nvSpPr>
        <p:spPr>
          <a:xfrm>
            <a:off x="2971800" y="1691640"/>
            <a:ext cx="4206240" cy="411480"/>
          </a:xfrm>
          <a:prstGeom prst="rect">
            <a:avLst/>
          </a:prstGeom>
          <a:noFill/>
          <a:ln/>
        </p:spPr>
        <p:txBody>
          <a:bodyPr wrap="square" lIns="0" tIns="0" rIns="0" bIns="0" rtlCol="0" anchor="ctr"/>
          <a:lstStyle/>
          <a:p>
            <a:pPr indent="0" marL="0">
              <a:buNone/>
            </a:pPr>
            <a:r>
              <a:rPr lang="en-US" sz="1400" b="1" spc="100" kern="0" dirty="0">
                <a:solidFill>
                  <a:srgbClr val="0F6E66"/>
                </a:solidFill>
                <a:latin typeface="Calibri" pitchFamily="34" charset="0"/>
                <a:ea typeface="Calibri" pitchFamily="34" charset="-122"/>
                <a:cs typeface="Calibri" pitchFamily="34" charset="-120"/>
              </a:rPr>
              <a:t>CH2 — Process</a:t>
            </a:r>
            <a:endParaRPr lang="en-US" sz="1400" dirty="0"/>
          </a:p>
        </p:txBody>
      </p:sp>
      <p:sp>
        <p:nvSpPr>
          <p:cNvPr id="5" name="Text 3"/>
          <p:cNvSpPr txBox="1"/>
          <p:nvPr/>
        </p:nvSpPr>
        <p:spPr>
          <a:xfrm>
            <a:off x="7360920" y="1691640"/>
            <a:ext cx="4206240" cy="411480"/>
          </a:xfrm>
          <a:prstGeom prst="rect">
            <a:avLst/>
          </a:prstGeom>
          <a:noFill/>
          <a:ln/>
        </p:spPr>
        <p:txBody>
          <a:bodyPr wrap="square" lIns="0" tIns="0" rIns="0" bIns="0" rtlCol="0" anchor="ctr"/>
          <a:lstStyle/>
          <a:p>
            <a:pPr indent="0" marL="0">
              <a:buNone/>
            </a:pPr>
            <a:r>
              <a:rPr lang="en-US" sz="1400" b="1" spc="100" kern="0" dirty="0">
                <a:solidFill>
                  <a:srgbClr val="0F6E66"/>
                </a:solidFill>
                <a:latin typeface="Calibri" pitchFamily="34" charset="0"/>
                <a:ea typeface="Calibri" pitchFamily="34" charset="-122"/>
                <a:cs typeface="Calibri" pitchFamily="34" charset="-120"/>
              </a:rPr>
              <a:t>CH3 — Practice</a:t>
            </a:r>
            <a:endParaRPr lang="en-US" sz="1400" dirty="0"/>
          </a:p>
        </p:txBody>
      </p:sp>
      <p:sp>
        <p:nvSpPr>
          <p:cNvPr id="6" name="Shape 4"/>
          <p:cNvSpPr/>
          <p:nvPr/>
        </p:nvSpPr>
        <p:spPr>
          <a:xfrm>
            <a:off x="594360" y="2148840"/>
            <a:ext cx="11000232" cy="0"/>
          </a:xfrm>
          <a:prstGeom prst="line">
            <a:avLst/>
          </a:prstGeom>
          <a:noFill/>
          <a:ln w="19050">
            <a:solidFill>
              <a:srgbClr val="1C2128"/>
            </a:solidFill>
            <a:prstDash val="solid"/>
          </a:ln>
        </p:spPr>
      </p:sp>
      <p:sp>
        <p:nvSpPr>
          <p:cNvPr id="7" name="Text 5"/>
          <p:cNvSpPr txBox="1"/>
          <p:nvPr/>
        </p:nvSpPr>
        <p:spPr>
          <a:xfrm>
            <a:off x="594360" y="2313432"/>
            <a:ext cx="2194560" cy="777240"/>
          </a:xfrm>
          <a:prstGeom prst="rect">
            <a:avLst/>
          </a:prstGeom>
          <a:noFill/>
          <a:ln/>
        </p:spPr>
        <p:txBody>
          <a:bodyPr wrap="square" lIns="0" tIns="0" rIns="0" bIns="0" rtlCol="0" anchor="t"/>
          <a:lstStyle/>
          <a:p>
            <a:pPr indent="0" marL="0">
              <a:buNone/>
            </a:pPr>
            <a:r>
              <a:rPr lang="en-US" sz="1400" b="1" dirty="0">
                <a:solidFill>
                  <a:srgbClr val="1C2128"/>
                </a:solidFill>
                <a:latin typeface="Calibri" pitchFamily="34" charset="0"/>
                <a:ea typeface="Calibri" pitchFamily="34" charset="-122"/>
                <a:cs typeface="Calibri" pitchFamily="34" charset="-120"/>
              </a:rPr>
              <a:t>Decides</a:t>
            </a:r>
            <a:endParaRPr lang="en-US" sz="1400" dirty="0"/>
          </a:p>
        </p:txBody>
      </p:sp>
      <p:sp>
        <p:nvSpPr>
          <p:cNvPr id="8" name="Text 6"/>
          <p:cNvSpPr txBox="1"/>
          <p:nvPr/>
        </p:nvSpPr>
        <p:spPr>
          <a:xfrm>
            <a:off x="2971800" y="2313432"/>
            <a:ext cx="4206240" cy="822960"/>
          </a:xfrm>
          <a:prstGeom prst="rect">
            <a:avLst/>
          </a:prstGeom>
          <a:noFill/>
          <a:ln/>
        </p:spPr>
        <p:txBody>
          <a:bodyPr wrap="square" lIns="0" tIns="0" rIns="0" bIns="0" rtlCol="0" anchor="t"/>
          <a:lstStyle/>
          <a:p>
            <a:pPr indent="0" marL="0">
              <a:lnSpc>
                <a:spcPct val="110000"/>
              </a:lnSpc>
              <a:buNone/>
            </a:pPr>
            <a:r>
              <a:rPr lang="en-US" sz="1350" dirty="0">
                <a:solidFill>
                  <a:srgbClr val="2B3138"/>
                </a:solidFill>
                <a:latin typeface="Calibri" pitchFamily="34" charset="0"/>
                <a:ea typeface="Calibri" pitchFamily="34" charset="-122"/>
                <a:cs typeface="Calibri" pitchFamily="34" charset="-120"/>
              </a:rPr>
              <a:t>Which model, which phases, what runs when</a:t>
            </a:r>
            <a:endParaRPr lang="en-US" sz="1350" dirty="0"/>
          </a:p>
        </p:txBody>
      </p:sp>
      <p:sp>
        <p:nvSpPr>
          <p:cNvPr id="9" name="Text 7"/>
          <p:cNvSpPr txBox="1"/>
          <p:nvPr/>
        </p:nvSpPr>
        <p:spPr>
          <a:xfrm>
            <a:off x="7360920" y="2313432"/>
            <a:ext cx="4206240" cy="822960"/>
          </a:xfrm>
          <a:prstGeom prst="rect">
            <a:avLst/>
          </a:prstGeom>
          <a:noFill/>
          <a:ln/>
        </p:spPr>
        <p:txBody>
          <a:bodyPr wrap="square" lIns="0" tIns="0" rIns="0" bIns="0" rtlCol="0" anchor="t"/>
          <a:lstStyle/>
          <a:p>
            <a:pPr indent="0" marL="0">
              <a:lnSpc>
                <a:spcPct val="110000"/>
              </a:lnSpc>
              <a:buNone/>
            </a:pPr>
            <a:r>
              <a:rPr lang="en-US" sz="1350" dirty="0">
                <a:solidFill>
                  <a:srgbClr val="2B3138"/>
                </a:solidFill>
                <a:latin typeface="Calibri" pitchFamily="34" charset="0"/>
                <a:ea typeface="Calibri" pitchFamily="34" charset="-122"/>
                <a:cs typeface="Calibri" pitchFamily="34" charset="-120"/>
              </a:rPr>
              <a:t>Which disciplines are in force, and who performs them</a:t>
            </a:r>
            <a:endParaRPr lang="en-US" sz="1350" dirty="0"/>
          </a:p>
        </p:txBody>
      </p:sp>
      <p:sp>
        <p:nvSpPr>
          <p:cNvPr id="10" name="Shape 8"/>
          <p:cNvSpPr/>
          <p:nvPr/>
        </p:nvSpPr>
        <p:spPr>
          <a:xfrm>
            <a:off x="594360" y="3182112"/>
            <a:ext cx="11000232" cy="0"/>
          </a:xfrm>
          <a:prstGeom prst="line">
            <a:avLst/>
          </a:prstGeom>
          <a:noFill/>
          <a:ln w="12700">
            <a:solidFill>
              <a:srgbClr val="DFE3E6"/>
            </a:solidFill>
            <a:prstDash val="solid"/>
          </a:ln>
        </p:spPr>
      </p:sp>
      <p:sp>
        <p:nvSpPr>
          <p:cNvPr id="11" name="Text 9"/>
          <p:cNvSpPr txBox="1"/>
          <p:nvPr/>
        </p:nvSpPr>
        <p:spPr>
          <a:xfrm>
            <a:off x="594360" y="3337560"/>
            <a:ext cx="2194560" cy="777240"/>
          </a:xfrm>
          <a:prstGeom prst="rect">
            <a:avLst/>
          </a:prstGeom>
          <a:noFill/>
          <a:ln/>
        </p:spPr>
        <p:txBody>
          <a:bodyPr wrap="square" lIns="0" tIns="0" rIns="0" bIns="0" rtlCol="0" anchor="t"/>
          <a:lstStyle/>
          <a:p>
            <a:pPr indent="0" marL="0">
              <a:buNone/>
            </a:pPr>
            <a:r>
              <a:rPr lang="en-US" sz="1400" b="1" dirty="0">
                <a:solidFill>
                  <a:srgbClr val="1C2128"/>
                </a:solidFill>
                <a:latin typeface="Calibri" pitchFamily="34" charset="0"/>
                <a:ea typeface="Calibri" pitchFamily="34" charset="-122"/>
                <a:cs typeface="Calibri" pitchFamily="34" charset="-120"/>
              </a:rPr>
              <a:t>Instrument</a:t>
            </a:r>
            <a:endParaRPr lang="en-US" sz="1400" dirty="0"/>
          </a:p>
        </p:txBody>
      </p:sp>
      <p:sp>
        <p:nvSpPr>
          <p:cNvPr id="12" name="Text 10"/>
          <p:cNvSpPr txBox="1"/>
          <p:nvPr/>
        </p:nvSpPr>
        <p:spPr>
          <a:xfrm>
            <a:off x="2971800" y="3337560"/>
            <a:ext cx="4206240" cy="822960"/>
          </a:xfrm>
          <a:prstGeom prst="rect">
            <a:avLst/>
          </a:prstGeom>
          <a:noFill/>
          <a:ln/>
        </p:spPr>
        <p:txBody>
          <a:bodyPr wrap="square" lIns="0" tIns="0" rIns="0" bIns="0" rtlCol="0" anchor="t"/>
          <a:lstStyle/>
          <a:p>
            <a:pPr indent="0" marL="0">
              <a:lnSpc>
                <a:spcPct val="110000"/>
              </a:lnSpc>
              <a:buNone/>
            </a:pPr>
            <a:r>
              <a:rPr lang="en-US" sz="1350" dirty="0">
                <a:solidFill>
                  <a:srgbClr val="2B3138"/>
                </a:solidFill>
                <a:latin typeface="Calibri" pitchFamily="34" charset="0"/>
                <a:ea typeface="Calibri" pitchFamily="34" charset="-122"/>
                <a:cs typeface="Calibri" pitchFamily="34" charset="-120"/>
              </a:rPr>
              <a:t>Eight coarse classification axes</a:t>
            </a:r>
            <a:endParaRPr lang="en-US" sz="1350" dirty="0"/>
          </a:p>
        </p:txBody>
      </p:sp>
      <p:sp>
        <p:nvSpPr>
          <p:cNvPr id="13" name="Text 11"/>
          <p:cNvSpPr txBox="1"/>
          <p:nvPr/>
        </p:nvSpPr>
        <p:spPr>
          <a:xfrm>
            <a:off x="7360920" y="3337560"/>
            <a:ext cx="4206240" cy="822960"/>
          </a:xfrm>
          <a:prstGeom prst="rect">
            <a:avLst/>
          </a:prstGeom>
          <a:noFill/>
          <a:ln/>
        </p:spPr>
        <p:txBody>
          <a:bodyPr wrap="square" lIns="0" tIns="0" rIns="0" bIns="0" rtlCol="0" anchor="t"/>
          <a:lstStyle/>
          <a:p>
            <a:pPr indent="0" marL="0">
              <a:lnSpc>
                <a:spcPct val="110000"/>
              </a:lnSpc>
              <a:buNone/>
            </a:pPr>
            <a:r>
              <a:rPr lang="en-US" sz="1350" dirty="0">
                <a:solidFill>
                  <a:srgbClr val="2B3138"/>
                </a:solidFill>
                <a:latin typeface="Calibri" pitchFamily="34" charset="0"/>
                <a:ea typeface="Calibri" pitchFamily="34" charset="-122"/>
                <a:cs typeface="Calibri" pitchFamily="34" charset="-120"/>
              </a:rPr>
              <a:t>Ten choice factors</a:t>
            </a:r>
            <a:endParaRPr lang="en-US" sz="1350" dirty="0"/>
          </a:p>
        </p:txBody>
      </p:sp>
      <p:sp>
        <p:nvSpPr>
          <p:cNvPr id="14" name="Shape 12"/>
          <p:cNvSpPr/>
          <p:nvPr/>
        </p:nvSpPr>
        <p:spPr>
          <a:xfrm>
            <a:off x="594360" y="4206240"/>
            <a:ext cx="11000232" cy="0"/>
          </a:xfrm>
          <a:prstGeom prst="line">
            <a:avLst/>
          </a:prstGeom>
          <a:noFill/>
          <a:ln w="12700">
            <a:solidFill>
              <a:srgbClr val="DFE3E6"/>
            </a:solidFill>
            <a:prstDash val="solid"/>
          </a:ln>
        </p:spPr>
      </p:sp>
      <p:sp>
        <p:nvSpPr>
          <p:cNvPr id="15" name="Text 13"/>
          <p:cNvSpPr txBox="1"/>
          <p:nvPr/>
        </p:nvSpPr>
        <p:spPr>
          <a:xfrm>
            <a:off x="594360" y="4361688"/>
            <a:ext cx="2194560" cy="777240"/>
          </a:xfrm>
          <a:prstGeom prst="rect">
            <a:avLst/>
          </a:prstGeom>
          <a:noFill/>
          <a:ln/>
        </p:spPr>
        <p:txBody>
          <a:bodyPr wrap="square" lIns="0" tIns="0" rIns="0" bIns="0" rtlCol="0" anchor="t"/>
          <a:lstStyle/>
          <a:p>
            <a:pPr indent="0" marL="0">
              <a:buNone/>
            </a:pPr>
            <a:r>
              <a:rPr lang="en-US" sz="1400" b="1" dirty="0">
                <a:solidFill>
                  <a:srgbClr val="1C2128"/>
                </a:solidFill>
                <a:latin typeface="Calibri" pitchFamily="34" charset="0"/>
                <a:ea typeface="Calibri" pitchFamily="34" charset="-122"/>
                <a:cs typeface="Calibri" pitchFamily="34" charset="-120"/>
              </a:rPr>
              <a:t>Output</a:t>
            </a:r>
            <a:endParaRPr lang="en-US" sz="1400" dirty="0"/>
          </a:p>
        </p:txBody>
      </p:sp>
      <p:sp>
        <p:nvSpPr>
          <p:cNvPr id="16" name="Text 14"/>
          <p:cNvSpPr txBox="1"/>
          <p:nvPr/>
        </p:nvSpPr>
        <p:spPr>
          <a:xfrm>
            <a:off x="2971800" y="4361688"/>
            <a:ext cx="4206240" cy="822960"/>
          </a:xfrm>
          <a:prstGeom prst="rect">
            <a:avLst/>
          </a:prstGeom>
          <a:noFill/>
          <a:ln/>
        </p:spPr>
        <p:txBody>
          <a:bodyPr wrap="square" lIns="0" tIns="0" rIns="0" bIns="0" rtlCol="0" anchor="t"/>
          <a:lstStyle/>
          <a:p>
            <a:pPr indent="0" marL="0">
              <a:lnSpc>
                <a:spcPct val="110000"/>
              </a:lnSpc>
              <a:buNone/>
            </a:pPr>
            <a:r>
              <a:rPr lang="en-US" sz="1350" dirty="0">
                <a:solidFill>
                  <a:srgbClr val="2B3138"/>
                </a:solidFill>
                <a:latin typeface="Calibri" pitchFamily="34" charset="0"/>
                <a:ea typeface="Calibri" pitchFamily="34" charset="-122"/>
                <a:cs typeface="Calibri" pitchFamily="34" charset="-120"/>
              </a:rPr>
              <a:t>Routing plan the agent executes</a:t>
            </a:r>
            <a:endParaRPr lang="en-US" sz="1350" dirty="0"/>
          </a:p>
        </p:txBody>
      </p:sp>
      <p:sp>
        <p:nvSpPr>
          <p:cNvPr id="17" name="Text 15"/>
          <p:cNvSpPr txBox="1"/>
          <p:nvPr/>
        </p:nvSpPr>
        <p:spPr>
          <a:xfrm>
            <a:off x="7360920" y="4361688"/>
            <a:ext cx="4206240" cy="822960"/>
          </a:xfrm>
          <a:prstGeom prst="rect">
            <a:avLst/>
          </a:prstGeom>
          <a:noFill/>
          <a:ln/>
        </p:spPr>
        <p:txBody>
          <a:bodyPr wrap="square" lIns="0" tIns="0" rIns="0" bIns="0" rtlCol="0" anchor="t"/>
          <a:lstStyle/>
          <a:p>
            <a:pPr indent="0" marL="0">
              <a:lnSpc>
                <a:spcPct val="110000"/>
              </a:lnSpc>
              <a:buNone/>
            </a:pPr>
            <a:r>
              <a:rPr lang="en-US" sz="1350" dirty="0">
                <a:solidFill>
                  <a:srgbClr val="2B3138"/>
                </a:solidFill>
                <a:latin typeface="Calibri" pitchFamily="34" charset="0"/>
                <a:ea typeface="Calibri" pitchFamily="34" charset="-122"/>
                <a:cs typeface="Calibri" pitchFamily="34" charset="-120"/>
              </a:rPr>
              <a:t>Practice charter the team works under</a:t>
            </a:r>
            <a:endParaRPr lang="en-US" sz="1350" dirty="0"/>
          </a:p>
        </p:txBody>
      </p:sp>
      <p:sp>
        <p:nvSpPr>
          <p:cNvPr id="18" name="Shape 16"/>
          <p:cNvSpPr/>
          <p:nvPr/>
        </p:nvSpPr>
        <p:spPr>
          <a:xfrm>
            <a:off x="594360" y="5230368"/>
            <a:ext cx="11000232" cy="0"/>
          </a:xfrm>
          <a:prstGeom prst="line">
            <a:avLst/>
          </a:prstGeom>
          <a:noFill/>
          <a:ln w="12700">
            <a:solidFill>
              <a:srgbClr val="DFE3E6"/>
            </a:solidFill>
            <a:prstDash val="solid"/>
          </a:ln>
        </p:spPr>
      </p:sp>
      <p:sp>
        <p:nvSpPr>
          <p:cNvPr id="19" name="Text 17"/>
          <p:cNvSpPr txBox="1"/>
          <p:nvPr/>
        </p:nvSpPr>
        <p:spPr>
          <a:xfrm>
            <a:off x="594360" y="5385816"/>
            <a:ext cx="2194560" cy="777240"/>
          </a:xfrm>
          <a:prstGeom prst="rect">
            <a:avLst/>
          </a:prstGeom>
          <a:noFill/>
          <a:ln/>
        </p:spPr>
        <p:txBody>
          <a:bodyPr wrap="square" lIns="0" tIns="0" rIns="0" bIns="0" rtlCol="0" anchor="t"/>
          <a:lstStyle/>
          <a:p>
            <a:pPr indent="0" marL="0">
              <a:buNone/>
            </a:pPr>
            <a:r>
              <a:rPr lang="en-US" sz="1400" b="1" dirty="0">
                <a:solidFill>
                  <a:srgbClr val="1C2128"/>
                </a:solidFill>
                <a:latin typeface="Calibri" pitchFamily="34" charset="0"/>
                <a:ea typeface="Calibri" pitchFamily="34" charset="-122"/>
                <a:cs typeface="Calibri" pitchFamily="34" charset="-120"/>
              </a:rPr>
              <a:t>Authority</a:t>
            </a:r>
            <a:endParaRPr lang="en-US" sz="1400" dirty="0"/>
          </a:p>
        </p:txBody>
      </p:sp>
      <p:sp>
        <p:nvSpPr>
          <p:cNvPr id="20" name="Text 18"/>
          <p:cNvSpPr txBox="1"/>
          <p:nvPr/>
        </p:nvSpPr>
        <p:spPr>
          <a:xfrm>
            <a:off x="2971800" y="5385816"/>
            <a:ext cx="4206240" cy="822960"/>
          </a:xfrm>
          <a:prstGeom prst="rect">
            <a:avLst/>
          </a:prstGeom>
          <a:noFill/>
          <a:ln/>
        </p:spPr>
        <p:txBody>
          <a:bodyPr wrap="square" lIns="0" tIns="0" rIns="0" bIns="0" rtlCol="0" anchor="t"/>
          <a:lstStyle/>
          <a:p>
            <a:pPr indent="0" marL="0">
              <a:lnSpc>
                <a:spcPct val="110000"/>
              </a:lnSpc>
              <a:buNone/>
            </a:pPr>
            <a:r>
              <a:rPr lang="en-US" sz="1350" dirty="0">
                <a:solidFill>
                  <a:srgbClr val="2B3138"/>
                </a:solidFill>
                <a:latin typeface="Calibri" pitchFamily="34" charset="0"/>
                <a:ea typeface="Calibri" pitchFamily="34" charset="-122"/>
                <a:cs typeface="Calibri" pitchFamily="34" charset="-120"/>
              </a:rPr>
              <a:t>Sets the provisional balance point</a:t>
            </a:r>
            <a:endParaRPr lang="en-US" sz="1350" dirty="0"/>
          </a:p>
        </p:txBody>
      </p:sp>
      <p:sp>
        <p:nvSpPr>
          <p:cNvPr id="21" name="Text 19"/>
          <p:cNvSpPr txBox="1"/>
          <p:nvPr/>
        </p:nvSpPr>
        <p:spPr>
          <a:xfrm>
            <a:off x="7360920" y="5385816"/>
            <a:ext cx="4206240" cy="822960"/>
          </a:xfrm>
          <a:prstGeom prst="rect">
            <a:avLst/>
          </a:prstGeom>
          <a:noFill/>
          <a:ln/>
        </p:spPr>
        <p:txBody>
          <a:bodyPr wrap="square" lIns="0" tIns="0" rIns="0" bIns="0" rtlCol="0" anchor="t"/>
          <a:lstStyle/>
          <a:p>
            <a:pPr indent="0" marL="0">
              <a:lnSpc>
                <a:spcPct val="110000"/>
              </a:lnSpc>
              <a:buNone/>
            </a:pPr>
            <a:r>
              <a:rPr lang="en-US" sz="1350" dirty="0">
                <a:solidFill>
                  <a:srgbClr val="2B3138"/>
                </a:solidFill>
                <a:latin typeface="Calibri" pitchFamily="34" charset="0"/>
                <a:ea typeface="Calibri" pitchFamily="34" charset="-122"/>
                <a:cs typeface="Calibri" pitchFamily="34" charset="-120"/>
              </a:rPr>
              <a:t>Audits it, and may send it back</a:t>
            </a:r>
            <a:endParaRPr lang="en-US" sz="1350" dirty="0"/>
          </a:p>
        </p:txBody>
      </p:sp>
      <p:sp>
        <p:nvSpPr>
          <p:cNvPr id="22" name="Shape 20"/>
          <p:cNvSpPr/>
          <p:nvPr/>
        </p:nvSpPr>
        <p:spPr>
          <a:xfrm>
            <a:off x="594360" y="6254496"/>
            <a:ext cx="11000232" cy="0"/>
          </a:xfrm>
          <a:prstGeom prst="line">
            <a:avLst/>
          </a:prstGeom>
          <a:noFill/>
          <a:ln w="12700">
            <a:solidFill>
              <a:srgbClr val="DFE3E6"/>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C2128"/>
        </a:solidFill>
      </p:bgPr>
    </p:bg>
    <p:spTree>
      <p:nvGrpSpPr>
        <p:cNvPr id="1" name=""/>
        <p:cNvGrpSpPr/>
        <p:nvPr/>
      </p:nvGrpSpPr>
      <p:grpSpPr>
        <a:xfrm>
          <a:off x="0" y="0"/>
          <a:ext cx="0" cy="0"/>
          <a:chOff x="0" y="0"/>
          <a:chExt cx="0" cy="0"/>
        </a:xfrm>
      </p:grpSpPr>
      <p:sp>
        <p:nvSpPr>
          <p:cNvPr id="2" name="Shape 0"/>
          <p:cNvSpPr/>
          <p:nvPr/>
        </p:nvSpPr>
        <p:spPr>
          <a:xfrm>
            <a:off x="594360" y="1920240"/>
            <a:ext cx="658368" cy="310896"/>
          </a:xfrm>
          <a:prstGeom prst="roundRect">
            <a:avLst>
              <a:gd name="adj" fmla="val 23529"/>
            </a:avLst>
          </a:prstGeom>
          <a:solidFill>
            <a:srgbClr val="A85A08"/>
          </a:solidFill>
          <a:ln w="12700">
            <a:solidFill>
              <a:srgbClr val="A85A08"/>
            </a:solidFill>
            <a:prstDash val="solid"/>
          </a:ln>
        </p:spPr>
      </p:sp>
      <p:sp>
        <p:nvSpPr>
          <p:cNvPr id="3" name="Text 1"/>
          <p:cNvSpPr txBox="1"/>
          <p:nvPr/>
        </p:nvSpPr>
        <p:spPr>
          <a:xfrm>
            <a:off x="594360" y="1920240"/>
            <a:ext cx="658368"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CH4</a:t>
            </a:r>
            <a:endParaRPr lang="en-US" sz="1200" dirty="0"/>
          </a:p>
        </p:txBody>
      </p:sp>
      <p:sp>
        <p:nvSpPr>
          <p:cNvPr id="4" name="Text 2"/>
          <p:cNvSpPr txBox="1"/>
          <p:nvPr/>
        </p:nvSpPr>
        <p:spPr>
          <a:xfrm>
            <a:off x="594360" y="2514600"/>
            <a:ext cx="9601200" cy="10058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Chapter 4 is different in kind</a:t>
            </a:r>
            <a:endParaRPr lang="en-US" sz="4000" dirty="0"/>
          </a:p>
        </p:txBody>
      </p:sp>
      <p:sp>
        <p:nvSpPr>
          <p:cNvPr id="5" name="Text 3"/>
          <p:cNvSpPr txBox="1"/>
          <p:nvPr/>
        </p:nvSpPr>
        <p:spPr>
          <a:xfrm>
            <a:off x="594360" y="3657600"/>
            <a:ext cx="8686800" cy="1005840"/>
          </a:xfrm>
          <a:prstGeom prst="rect">
            <a:avLst/>
          </a:prstGeom>
          <a:noFill/>
          <a:ln/>
        </p:spPr>
        <p:txBody>
          <a:bodyPr wrap="square" lIns="0" tIns="0" rIns="0" bIns="0" rtlCol="0" anchor="ctr"/>
          <a:lstStyle/>
          <a:p>
            <a:pPr indent="0" marL="0">
              <a:lnSpc>
                <a:spcPct val="130000"/>
              </a:lnSpc>
              <a:buNone/>
            </a:pPr>
            <a:r>
              <a:rPr lang="en-US" sz="1800" dirty="0">
                <a:solidFill>
                  <a:srgbClr val="C4CBD2"/>
                </a:solidFill>
                <a:latin typeface="Calibri" pitchFamily="34" charset="0"/>
                <a:ea typeface="Calibri" pitchFamily="34" charset="-122"/>
                <a:cs typeface="Calibri" pitchFamily="34" charset="-120"/>
              </a:rPr>
              <a:t>Chapters 2 and 3 can be answered from a project description.</a:t>
            </a:r>
            <a:endParaRPr lang="en-US" sz="1800" dirty="0"/>
          </a:p>
          <a:p>
            <a:pPr indent="0" marL="0">
              <a:lnSpc>
                <a:spcPct val="130000"/>
              </a:lnSpc>
              <a:buNone/>
            </a:pPr>
            <a:r>
              <a:rPr lang="en-US" sz="1800" dirty="0">
                <a:solidFill>
                  <a:srgbClr val="C4CBD2"/>
                </a:solidFill>
                <a:latin typeface="Calibri" pitchFamily="34" charset="0"/>
                <a:ea typeface="Calibri" pitchFamily="34" charset="-122"/>
                <a:cs typeface="Calibri" pitchFamily="34" charset="-120"/>
              </a:rPr>
              <a:t>Chapter 4 cannot — and this is where I want us to slow down.</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936224" y="201168"/>
            <a:ext cx="658368" cy="310896"/>
          </a:xfrm>
          <a:prstGeom prst="roundRect">
            <a:avLst>
              <a:gd name="adj" fmla="val 23529"/>
            </a:avLst>
          </a:prstGeom>
          <a:solidFill>
            <a:srgbClr val="A85A08"/>
          </a:solidFill>
          <a:ln w="12700">
            <a:solidFill>
              <a:srgbClr val="A85A08"/>
            </a:solidFill>
            <a:prstDash val="solid"/>
          </a:ln>
        </p:spPr>
      </p:sp>
      <p:sp>
        <p:nvSpPr>
          <p:cNvPr id="3" name="Text 1"/>
          <p:cNvSpPr txBox="1"/>
          <p:nvPr/>
        </p:nvSpPr>
        <p:spPr>
          <a:xfrm>
            <a:off x="10936224" y="201168"/>
            <a:ext cx="658368"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CH4</a:t>
            </a:r>
            <a:endParaRPr lang="en-US" sz="1200" dirty="0"/>
          </a:p>
        </p:txBody>
      </p:sp>
      <p:sp>
        <p:nvSpPr>
          <p:cNvPr id="4" name="Text 2"/>
          <p:cNvSpPr txBox="1"/>
          <p:nvPr/>
        </p:nvSpPr>
        <p:spPr>
          <a:xfrm>
            <a:off x="594360" y="201168"/>
            <a:ext cx="11000232" cy="256032"/>
          </a:xfrm>
          <a:prstGeom prst="rect">
            <a:avLst/>
          </a:prstGeom>
          <a:noFill/>
          <a:ln/>
        </p:spPr>
        <p:txBody>
          <a:bodyPr wrap="square" lIns="0" tIns="0" rIns="0" bIns="0" rtlCol="0" anchor="ctr"/>
          <a:lstStyle/>
          <a:p>
            <a:pPr indent="0" marL="0">
              <a:buNone/>
            </a:pPr>
            <a:r>
              <a:rPr lang="en-US" sz="1100" b="1" spc="200" kern="0" dirty="0">
                <a:solidFill>
                  <a:srgbClr val="A85A08"/>
                </a:solidFill>
                <a:latin typeface="Calibri" pitchFamily="34" charset="0"/>
                <a:ea typeface="Calibri" pitchFamily="34" charset="-122"/>
                <a:cs typeface="Calibri" pitchFamily="34" charset="-120"/>
              </a:rPr>
              <a:t>THE HONESTY PROBLEM</a:t>
            </a:r>
            <a:endParaRPr lang="en-US" sz="1100" dirty="0"/>
          </a:p>
        </p:txBody>
      </p:sp>
      <p:sp>
        <p:nvSpPr>
          <p:cNvPr id="5" name="Text 3"/>
          <p:cNvSpPr txBox="1"/>
          <p:nvPr/>
        </p:nvSpPr>
        <p:spPr>
          <a:xfrm>
            <a:off x="594360" y="868680"/>
            <a:ext cx="11000232" cy="777240"/>
          </a:xfrm>
          <a:prstGeom prst="rect">
            <a:avLst/>
          </a:prstGeom>
          <a:noFill/>
          <a:ln/>
        </p:spPr>
        <p:txBody>
          <a:bodyPr wrap="square" lIns="0" tIns="0" rIns="0" bIns="0" rtlCol="0" anchor="ctr"/>
          <a:lstStyle/>
          <a:p>
            <a:pPr indent="0" marL="0">
              <a:buNone/>
            </a:pPr>
            <a:r>
              <a:rPr lang="en-US" sz="3400" b="1" dirty="0">
                <a:solidFill>
                  <a:srgbClr val="1C2128"/>
                </a:solidFill>
                <a:latin typeface="Cambria" pitchFamily="34" charset="0"/>
                <a:ea typeface="Cambria" pitchFamily="34" charset="-122"/>
                <a:cs typeface="Cambria" pitchFamily="34" charset="-120"/>
              </a:rPr>
              <a:t>Elicitation is a human-centered activity</a:t>
            </a:r>
            <a:endParaRPr lang="en-US" sz="3400" dirty="0"/>
          </a:p>
        </p:txBody>
      </p:sp>
      <p:sp>
        <p:nvSpPr>
          <p:cNvPr id="6" name="Text 4"/>
          <p:cNvSpPr txBox="1"/>
          <p:nvPr/>
        </p:nvSpPr>
        <p:spPr>
          <a:xfrm>
            <a:off x="594360" y="1664208"/>
            <a:ext cx="11000232" cy="411480"/>
          </a:xfrm>
          <a:prstGeom prst="rect">
            <a:avLst/>
          </a:prstGeom>
          <a:noFill/>
          <a:ln/>
        </p:spPr>
        <p:txBody>
          <a:bodyPr wrap="square" lIns="0" tIns="0" rIns="0" bIns="0" rtlCol="0" anchor="t"/>
          <a:lstStyle/>
          <a:p>
            <a:pPr indent="0" marL="0">
              <a:buNone/>
            </a:pPr>
            <a:r>
              <a:rPr lang="en-US" sz="1500" i="1" dirty="0">
                <a:solidFill>
                  <a:srgbClr val="6E7781"/>
                </a:solidFill>
                <a:latin typeface="Calibri" pitchFamily="34" charset="0"/>
                <a:ea typeface="Calibri" pitchFamily="34" charset="-122"/>
                <a:cs typeface="Calibri" pitchFamily="34" charset="-120"/>
              </a:rPr>
              <a:t>Its primary source is people. An agent has a project description and whatever documents it was handed.</a:t>
            </a:r>
            <a:endParaRPr lang="en-US" sz="1500" dirty="0"/>
          </a:p>
        </p:txBody>
      </p:sp>
      <p:sp>
        <p:nvSpPr>
          <p:cNvPr id="7" name="Shape 5"/>
          <p:cNvSpPr/>
          <p:nvPr/>
        </p:nvSpPr>
        <p:spPr>
          <a:xfrm>
            <a:off x="594360" y="2286000"/>
            <a:ext cx="5486400" cy="1600200"/>
          </a:xfrm>
          <a:prstGeom prst="roundRect">
            <a:avLst>
              <a:gd name="adj" fmla="val 3429"/>
            </a:avLst>
          </a:prstGeom>
          <a:solidFill>
            <a:srgbClr val="F4F6F6"/>
          </a:solidFill>
          <a:ln w="12700">
            <a:solidFill>
              <a:srgbClr val="DFE3E6"/>
            </a:solidFill>
            <a:prstDash val="solid"/>
          </a:ln>
        </p:spPr>
      </p:sp>
      <p:sp>
        <p:nvSpPr>
          <p:cNvPr id="8" name="Text 6"/>
          <p:cNvSpPr txBox="1"/>
          <p:nvPr/>
        </p:nvSpPr>
        <p:spPr>
          <a:xfrm>
            <a:off x="850392" y="2487168"/>
            <a:ext cx="4974336" cy="320040"/>
          </a:xfrm>
          <a:prstGeom prst="rect">
            <a:avLst/>
          </a:prstGeom>
          <a:noFill/>
          <a:ln/>
        </p:spPr>
        <p:txBody>
          <a:bodyPr wrap="square" lIns="0" tIns="0" rIns="0" bIns="0" rtlCol="0" anchor="ctr"/>
          <a:lstStyle/>
          <a:p>
            <a:pPr indent="0" marL="0">
              <a:buNone/>
            </a:pPr>
            <a:r>
              <a:rPr lang="en-US" sz="1500" b="1" dirty="0">
                <a:solidFill>
                  <a:srgbClr val="A85A08"/>
                </a:solidFill>
                <a:latin typeface="Calibri" pitchFamily="34" charset="0"/>
                <a:ea typeface="Calibri" pitchFamily="34" charset="-122"/>
                <a:cs typeface="Calibri" pitchFamily="34" charset="-120"/>
              </a:rPr>
              <a:t>It cannot interview</a:t>
            </a:r>
            <a:endParaRPr lang="en-US" sz="1500" dirty="0"/>
          </a:p>
        </p:txBody>
      </p:sp>
      <p:sp>
        <p:nvSpPr>
          <p:cNvPr id="9" name="Text 7"/>
          <p:cNvSpPr txBox="1"/>
          <p:nvPr/>
        </p:nvSpPr>
        <p:spPr>
          <a:xfrm>
            <a:off x="850392" y="2852928"/>
            <a:ext cx="4974336" cy="822960"/>
          </a:xfrm>
          <a:prstGeom prst="rect">
            <a:avLst/>
          </a:prstGeom>
          <a:noFill/>
          <a:ln/>
        </p:spPr>
        <p:txBody>
          <a:bodyPr wrap="square" lIns="0" tIns="0" rIns="0" bIns="0" rtlCol="0" anchor="t"/>
          <a:lstStyle/>
          <a:p>
            <a:pPr indent="0" marL="0">
              <a:lnSpc>
                <a:spcPct val="112000"/>
              </a:lnSpc>
              <a:buNone/>
            </a:pPr>
            <a:r>
              <a:rPr lang="en-US" sz="1300" dirty="0">
                <a:solidFill>
                  <a:srgbClr val="2B3138"/>
                </a:solidFill>
                <a:latin typeface="Calibri" pitchFamily="34" charset="0"/>
                <a:ea typeface="Calibri" pitchFamily="34" charset="-122"/>
                <a:cs typeface="Calibri" pitchFamily="34" charset="-120"/>
              </a:rPr>
              <a:t>Stakeholders often don't know what they want except in general terms, and can't articulate it without prompting.</a:t>
            </a:r>
            <a:endParaRPr lang="en-US" sz="1300" dirty="0"/>
          </a:p>
        </p:txBody>
      </p:sp>
      <p:sp>
        <p:nvSpPr>
          <p:cNvPr id="10" name="Shape 8"/>
          <p:cNvSpPr/>
          <p:nvPr/>
        </p:nvSpPr>
        <p:spPr>
          <a:xfrm>
            <a:off x="6446520" y="2286000"/>
            <a:ext cx="5486400" cy="1600200"/>
          </a:xfrm>
          <a:prstGeom prst="roundRect">
            <a:avLst>
              <a:gd name="adj" fmla="val 3429"/>
            </a:avLst>
          </a:prstGeom>
          <a:solidFill>
            <a:srgbClr val="F4F6F6"/>
          </a:solidFill>
          <a:ln w="12700">
            <a:solidFill>
              <a:srgbClr val="DFE3E6"/>
            </a:solidFill>
            <a:prstDash val="solid"/>
          </a:ln>
        </p:spPr>
      </p:sp>
      <p:sp>
        <p:nvSpPr>
          <p:cNvPr id="11" name="Text 9"/>
          <p:cNvSpPr txBox="1"/>
          <p:nvPr/>
        </p:nvSpPr>
        <p:spPr>
          <a:xfrm>
            <a:off x="6702552" y="2487168"/>
            <a:ext cx="4974336" cy="320040"/>
          </a:xfrm>
          <a:prstGeom prst="rect">
            <a:avLst/>
          </a:prstGeom>
          <a:noFill/>
          <a:ln/>
        </p:spPr>
        <p:txBody>
          <a:bodyPr wrap="square" lIns="0" tIns="0" rIns="0" bIns="0" rtlCol="0" anchor="ctr"/>
          <a:lstStyle/>
          <a:p>
            <a:pPr indent="0" marL="0">
              <a:buNone/>
            </a:pPr>
            <a:r>
              <a:rPr lang="en-US" sz="1500" b="1" dirty="0">
                <a:solidFill>
                  <a:srgbClr val="A85A08"/>
                </a:solidFill>
                <a:latin typeface="Calibri" pitchFamily="34" charset="0"/>
                <a:ea typeface="Calibri" pitchFamily="34" charset="-122"/>
                <a:cs typeface="Calibri" pitchFamily="34" charset="-120"/>
              </a:rPr>
              <a:t>It cannot observe</a:t>
            </a:r>
            <a:endParaRPr lang="en-US" sz="1500" dirty="0"/>
          </a:p>
        </p:txBody>
      </p:sp>
      <p:sp>
        <p:nvSpPr>
          <p:cNvPr id="12" name="Text 10"/>
          <p:cNvSpPr txBox="1"/>
          <p:nvPr/>
        </p:nvSpPr>
        <p:spPr>
          <a:xfrm>
            <a:off x="6702552" y="2852928"/>
            <a:ext cx="4974336" cy="822960"/>
          </a:xfrm>
          <a:prstGeom prst="rect">
            <a:avLst/>
          </a:prstGeom>
          <a:noFill/>
          <a:ln/>
        </p:spPr>
        <p:txBody>
          <a:bodyPr wrap="square" lIns="0" tIns="0" rIns="0" bIns="0" rtlCol="0" anchor="t"/>
          <a:lstStyle/>
          <a:p>
            <a:pPr indent="0" marL="0">
              <a:lnSpc>
                <a:spcPct val="112000"/>
              </a:lnSpc>
              <a:buNone/>
            </a:pPr>
            <a:r>
              <a:rPr lang="en-US" sz="1300" dirty="0">
                <a:solidFill>
                  <a:srgbClr val="2B3138"/>
                </a:solidFill>
                <a:latin typeface="Calibri" pitchFamily="34" charset="0"/>
                <a:ea typeface="Calibri" pitchFamily="34" charset="-122"/>
                <a:cs typeface="Calibri" pitchFamily="34" charset="-120"/>
              </a:rPr>
              <a:t>Ethnography finds how people actually work, not how the procedure says they work. No document review substitutes.</a:t>
            </a:r>
            <a:endParaRPr lang="en-US" sz="1300" dirty="0"/>
          </a:p>
        </p:txBody>
      </p:sp>
      <p:sp>
        <p:nvSpPr>
          <p:cNvPr id="13" name="Shape 11"/>
          <p:cNvSpPr/>
          <p:nvPr/>
        </p:nvSpPr>
        <p:spPr>
          <a:xfrm>
            <a:off x="594360" y="4069080"/>
            <a:ext cx="5486400" cy="1600200"/>
          </a:xfrm>
          <a:prstGeom prst="roundRect">
            <a:avLst>
              <a:gd name="adj" fmla="val 3429"/>
            </a:avLst>
          </a:prstGeom>
          <a:solidFill>
            <a:srgbClr val="F4F6F6"/>
          </a:solidFill>
          <a:ln w="12700">
            <a:solidFill>
              <a:srgbClr val="DFE3E6"/>
            </a:solidFill>
            <a:prstDash val="solid"/>
          </a:ln>
        </p:spPr>
      </p:sp>
      <p:sp>
        <p:nvSpPr>
          <p:cNvPr id="14" name="Text 12"/>
          <p:cNvSpPr txBox="1"/>
          <p:nvPr/>
        </p:nvSpPr>
        <p:spPr>
          <a:xfrm>
            <a:off x="850392" y="4270248"/>
            <a:ext cx="4974336" cy="320040"/>
          </a:xfrm>
          <a:prstGeom prst="rect">
            <a:avLst/>
          </a:prstGeom>
          <a:noFill/>
          <a:ln/>
        </p:spPr>
        <p:txBody>
          <a:bodyPr wrap="square" lIns="0" tIns="0" rIns="0" bIns="0" rtlCol="0" anchor="ctr"/>
          <a:lstStyle/>
          <a:p>
            <a:pPr indent="0" marL="0">
              <a:buNone/>
            </a:pPr>
            <a:r>
              <a:rPr lang="en-US" sz="1500" b="1" dirty="0">
                <a:solidFill>
                  <a:srgbClr val="A85A08"/>
                </a:solidFill>
                <a:latin typeface="Calibri" pitchFamily="34" charset="0"/>
                <a:ea typeface="Calibri" pitchFamily="34" charset="-122"/>
                <a:cs typeface="Calibri" pitchFamily="34" charset="-120"/>
              </a:rPr>
              <a:t>It cannot hear the unsaid</a:t>
            </a:r>
            <a:endParaRPr lang="en-US" sz="1500" dirty="0"/>
          </a:p>
        </p:txBody>
      </p:sp>
      <p:sp>
        <p:nvSpPr>
          <p:cNvPr id="15" name="Text 13"/>
          <p:cNvSpPr txBox="1"/>
          <p:nvPr/>
        </p:nvSpPr>
        <p:spPr>
          <a:xfrm>
            <a:off x="850392" y="4636008"/>
            <a:ext cx="4974336" cy="822960"/>
          </a:xfrm>
          <a:prstGeom prst="rect">
            <a:avLst/>
          </a:prstGeom>
          <a:noFill/>
          <a:ln/>
        </p:spPr>
        <p:txBody>
          <a:bodyPr wrap="square" lIns="0" tIns="0" rIns="0" bIns="0" rtlCol="0" anchor="t"/>
          <a:lstStyle/>
          <a:p>
            <a:pPr indent="0" marL="0">
              <a:lnSpc>
                <a:spcPct val="112000"/>
              </a:lnSpc>
              <a:buNone/>
            </a:pPr>
            <a:r>
              <a:rPr lang="en-US" sz="1300" dirty="0">
                <a:solidFill>
                  <a:srgbClr val="2B3138"/>
                </a:solidFill>
                <a:latin typeface="Calibri" pitchFamily="34" charset="0"/>
                <a:ea typeface="Calibri" pitchFamily="34" charset="-122"/>
                <a:cs typeface="Calibri" pitchFamily="34" charset="-120"/>
              </a:rPr>
              <a:t>Some domain knowledge is so familiar that stakeholders think it isn't worth mentioning.</a:t>
            </a:r>
            <a:endParaRPr lang="en-US" sz="1300" dirty="0"/>
          </a:p>
        </p:txBody>
      </p:sp>
      <p:sp>
        <p:nvSpPr>
          <p:cNvPr id="16" name="Shape 14"/>
          <p:cNvSpPr/>
          <p:nvPr/>
        </p:nvSpPr>
        <p:spPr>
          <a:xfrm>
            <a:off x="6446520" y="4069080"/>
            <a:ext cx="5486400" cy="1600200"/>
          </a:xfrm>
          <a:prstGeom prst="roundRect">
            <a:avLst>
              <a:gd name="adj" fmla="val 3429"/>
            </a:avLst>
          </a:prstGeom>
          <a:solidFill>
            <a:srgbClr val="F4F6F6"/>
          </a:solidFill>
          <a:ln w="12700">
            <a:solidFill>
              <a:srgbClr val="DFE3E6"/>
            </a:solidFill>
            <a:prstDash val="solid"/>
          </a:ln>
        </p:spPr>
      </p:sp>
      <p:sp>
        <p:nvSpPr>
          <p:cNvPr id="17" name="Text 15"/>
          <p:cNvSpPr txBox="1"/>
          <p:nvPr/>
        </p:nvSpPr>
        <p:spPr>
          <a:xfrm>
            <a:off x="6702552" y="4270248"/>
            <a:ext cx="4974336" cy="320040"/>
          </a:xfrm>
          <a:prstGeom prst="rect">
            <a:avLst/>
          </a:prstGeom>
          <a:noFill/>
          <a:ln/>
        </p:spPr>
        <p:txBody>
          <a:bodyPr wrap="square" lIns="0" tIns="0" rIns="0" bIns="0" rtlCol="0" anchor="ctr"/>
          <a:lstStyle/>
          <a:p>
            <a:pPr indent="0" marL="0">
              <a:buNone/>
            </a:pPr>
            <a:r>
              <a:rPr lang="en-US" sz="1500" b="1" dirty="0">
                <a:solidFill>
                  <a:srgbClr val="A85A08"/>
                </a:solidFill>
                <a:latin typeface="Calibri" pitchFamily="34" charset="0"/>
                <a:ea typeface="Calibri" pitchFamily="34" charset="-122"/>
                <a:cs typeface="Calibri" pitchFamily="34" charset="-120"/>
              </a:rPr>
              <a:t>It cannot negotiate</a:t>
            </a:r>
            <a:endParaRPr lang="en-US" sz="1500" dirty="0"/>
          </a:p>
        </p:txBody>
      </p:sp>
      <p:sp>
        <p:nvSpPr>
          <p:cNvPr id="18" name="Text 16"/>
          <p:cNvSpPr txBox="1"/>
          <p:nvPr/>
        </p:nvSpPr>
        <p:spPr>
          <a:xfrm>
            <a:off x="6702552" y="4636008"/>
            <a:ext cx="4974336" cy="822960"/>
          </a:xfrm>
          <a:prstGeom prst="rect">
            <a:avLst/>
          </a:prstGeom>
          <a:noFill/>
          <a:ln/>
        </p:spPr>
        <p:txBody>
          <a:bodyPr wrap="square" lIns="0" tIns="0" rIns="0" bIns="0" rtlCol="0" anchor="t"/>
          <a:lstStyle/>
          <a:p>
            <a:pPr indent="0" marL="0">
              <a:lnSpc>
                <a:spcPct val="112000"/>
              </a:lnSpc>
              <a:buNone/>
            </a:pPr>
            <a:r>
              <a:rPr lang="en-US" sz="1300" dirty="0">
                <a:solidFill>
                  <a:srgbClr val="2B3138"/>
                </a:solidFill>
                <a:latin typeface="Calibri" pitchFamily="34" charset="0"/>
                <a:ea typeface="Calibri" pitchFamily="34" charset="-122"/>
                <a:cs typeface="Calibri" pitchFamily="34" charset="-120"/>
              </a:rPr>
              <a:t>Requirements are a compromise across stakeholders who disagree. An agent has no standing to settle that.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936224" y="201168"/>
            <a:ext cx="658368" cy="310896"/>
          </a:xfrm>
          <a:prstGeom prst="roundRect">
            <a:avLst>
              <a:gd name="adj" fmla="val 23529"/>
            </a:avLst>
          </a:prstGeom>
          <a:solidFill>
            <a:srgbClr val="A85A08"/>
          </a:solidFill>
          <a:ln w="12700">
            <a:solidFill>
              <a:srgbClr val="A85A08"/>
            </a:solidFill>
            <a:prstDash val="solid"/>
          </a:ln>
        </p:spPr>
      </p:sp>
      <p:sp>
        <p:nvSpPr>
          <p:cNvPr id="3" name="Text 1"/>
          <p:cNvSpPr txBox="1"/>
          <p:nvPr/>
        </p:nvSpPr>
        <p:spPr>
          <a:xfrm>
            <a:off x="10936224" y="201168"/>
            <a:ext cx="658368"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CH4</a:t>
            </a:r>
            <a:endParaRPr lang="en-US" sz="1200" dirty="0"/>
          </a:p>
        </p:txBody>
      </p:sp>
      <p:sp>
        <p:nvSpPr>
          <p:cNvPr id="4" name="Text 2"/>
          <p:cNvSpPr txBox="1"/>
          <p:nvPr/>
        </p:nvSpPr>
        <p:spPr>
          <a:xfrm>
            <a:off x="594360" y="201168"/>
            <a:ext cx="11000232" cy="256032"/>
          </a:xfrm>
          <a:prstGeom prst="rect">
            <a:avLst/>
          </a:prstGeom>
          <a:noFill/>
          <a:ln/>
        </p:spPr>
        <p:txBody>
          <a:bodyPr wrap="square" lIns="0" tIns="0" rIns="0" bIns="0" rtlCol="0" anchor="ctr"/>
          <a:lstStyle/>
          <a:p>
            <a:pPr indent="0" marL="0">
              <a:buNone/>
            </a:pPr>
            <a:r>
              <a:rPr lang="en-US" sz="1100" b="1" spc="200" kern="0" dirty="0">
                <a:solidFill>
                  <a:srgbClr val="A85A08"/>
                </a:solidFill>
                <a:latin typeface="Calibri" pitchFamily="34" charset="0"/>
                <a:ea typeface="Calibri" pitchFamily="34" charset="-122"/>
                <a:cs typeface="Calibri" pitchFamily="34" charset="-120"/>
              </a:rPr>
              <a:t>WHAT THAT CREATES</a:t>
            </a:r>
            <a:endParaRPr lang="en-US" sz="1100" dirty="0"/>
          </a:p>
        </p:txBody>
      </p:sp>
      <p:sp>
        <p:nvSpPr>
          <p:cNvPr id="5" name="Text 3"/>
          <p:cNvSpPr txBox="1"/>
          <p:nvPr/>
        </p:nvSpPr>
        <p:spPr>
          <a:xfrm>
            <a:off x="594360" y="868680"/>
            <a:ext cx="11000232" cy="777240"/>
          </a:xfrm>
          <a:prstGeom prst="rect">
            <a:avLst/>
          </a:prstGeom>
          <a:noFill/>
          <a:ln/>
        </p:spPr>
        <p:txBody>
          <a:bodyPr wrap="square" lIns="0" tIns="0" rIns="0" bIns="0" rtlCol="0" anchor="ctr"/>
          <a:lstStyle/>
          <a:p>
            <a:pPr indent="0" marL="0">
              <a:buNone/>
            </a:pPr>
            <a:r>
              <a:rPr lang="en-US" sz="3100" b="1" dirty="0">
                <a:solidFill>
                  <a:srgbClr val="1C2128"/>
                </a:solidFill>
                <a:latin typeface="Cambria" pitchFamily="34" charset="0"/>
                <a:ea typeface="Cambria" pitchFamily="34" charset="-122"/>
                <a:cs typeface="Cambria" pitchFamily="34" charset="-120"/>
              </a:rPr>
              <a:t>The model does not refuse. It answers beautifully — from nothing.</a:t>
            </a:r>
            <a:endParaRPr lang="en-US" sz="3100" dirty="0"/>
          </a:p>
        </p:txBody>
      </p:sp>
      <p:sp>
        <p:nvSpPr>
          <p:cNvPr id="6" name="Shape 4"/>
          <p:cNvSpPr/>
          <p:nvPr/>
        </p:nvSpPr>
        <p:spPr>
          <a:xfrm>
            <a:off x="594360" y="2148840"/>
            <a:ext cx="11000232" cy="1234440"/>
          </a:xfrm>
          <a:prstGeom prst="roundRect">
            <a:avLst>
              <a:gd name="adj" fmla="val 4444"/>
            </a:avLst>
          </a:prstGeom>
          <a:solidFill>
            <a:srgbClr val="FBF3E9"/>
          </a:solidFill>
          <a:ln w="12700">
            <a:solidFill>
              <a:srgbClr val="DFE3E6"/>
            </a:solidFill>
            <a:prstDash val="solid"/>
          </a:ln>
        </p:spPr>
      </p:sp>
      <p:sp>
        <p:nvSpPr>
          <p:cNvPr id="7" name="Text 5"/>
          <p:cNvSpPr txBox="1"/>
          <p:nvPr/>
        </p:nvSpPr>
        <p:spPr>
          <a:xfrm>
            <a:off x="960120" y="2331720"/>
            <a:ext cx="10515600" cy="548640"/>
          </a:xfrm>
          <a:prstGeom prst="rect">
            <a:avLst/>
          </a:prstGeom>
          <a:noFill/>
          <a:ln/>
        </p:spPr>
        <p:txBody>
          <a:bodyPr wrap="square" lIns="0" tIns="0" rIns="0" bIns="0" rtlCol="0" anchor="ctr"/>
          <a:lstStyle/>
          <a:p>
            <a:pPr indent="0" marL="0">
              <a:buNone/>
            </a:pPr>
            <a:r>
              <a:rPr lang="en-US" sz="2700" b="1" dirty="0">
                <a:solidFill>
                  <a:srgbClr val="A85A08"/>
                </a:solidFill>
                <a:latin typeface="Cambria" pitchFamily="34" charset="0"/>
                <a:ea typeface="Cambria" pitchFamily="34" charset="-122"/>
                <a:cs typeface="Cambria" pitchFamily="34" charset="-120"/>
              </a:rPr>
              <a:t>Every test passes. The wrong system ships.</a:t>
            </a:r>
            <a:endParaRPr lang="en-US" sz="2700" dirty="0"/>
          </a:p>
        </p:txBody>
      </p:sp>
      <p:sp>
        <p:nvSpPr>
          <p:cNvPr id="8" name="Text 6"/>
          <p:cNvSpPr txBox="1"/>
          <p:nvPr/>
        </p:nvSpPr>
        <p:spPr>
          <a:xfrm>
            <a:off x="960120" y="2852928"/>
            <a:ext cx="10515600" cy="411480"/>
          </a:xfrm>
          <a:prstGeom prst="rect">
            <a:avLst/>
          </a:prstGeom>
          <a:noFill/>
          <a:ln/>
        </p:spPr>
        <p:txBody>
          <a:bodyPr wrap="square" lIns="0" tIns="0" rIns="0" bIns="0" rtlCol="0" anchor="ctr"/>
          <a:lstStyle/>
          <a:p>
            <a:pPr indent="0" marL="0">
              <a:buNone/>
            </a:pPr>
            <a:r>
              <a:rPr lang="en-US" sz="1400" dirty="0">
                <a:solidFill>
                  <a:srgbClr val="2B3138"/>
                </a:solidFill>
                <a:latin typeface="Calibri" pitchFamily="34" charset="0"/>
                <a:ea typeface="Calibri" pitchFamily="34" charset="-122"/>
                <a:cs typeface="Calibri" pitchFamily="34" charset="-120"/>
              </a:rPr>
              <a:t>Downstream stages work faithfully from an invented specification. The code matches the spec exactly. The spec never matched reality.</a:t>
            </a:r>
            <a:endParaRPr lang="en-US" sz="1400" dirty="0"/>
          </a:p>
        </p:txBody>
      </p:sp>
      <p:sp>
        <p:nvSpPr>
          <p:cNvPr id="9" name="Text 7"/>
          <p:cNvSpPr txBox="1"/>
          <p:nvPr/>
        </p:nvSpPr>
        <p:spPr>
          <a:xfrm>
            <a:off x="594360" y="3794760"/>
            <a:ext cx="11000232" cy="822960"/>
          </a:xfrm>
          <a:prstGeom prst="rect">
            <a:avLst/>
          </a:prstGeom>
          <a:noFill/>
          <a:ln/>
        </p:spPr>
        <p:txBody>
          <a:bodyPr wrap="square" lIns="0" tIns="0" rIns="0" bIns="0" rtlCol="0" anchor="t"/>
          <a:lstStyle/>
          <a:p>
            <a:pPr indent="0" marL="0">
              <a:lnSpc>
                <a:spcPct val="125000"/>
              </a:lnSpc>
              <a:buNone/>
            </a:pPr>
            <a:r>
              <a:rPr lang="en-US" sz="1600" dirty="0">
                <a:solidFill>
                  <a:srgbClr val="2B3138"/>
                </a:solidFill>
                <a:latin typeface="Calibri" pitchFamily="34" charset="0"/>
                <a:ea typeface="Calibri" pitchFamily="34" charset="-122"/>
                <a:cs typeface="Calibri" pitchFamily="34" charset="-120"/>
              </a:rPr>
              <a:t>This is failure mode #1 from our own end-product document — "you built the wrong thing" — and Chapter 4 is exactly where it enters the chain.</a:t>
            </a:r>
            <a:endParaRPr lang="en-US" sz="1600" dirty="0"/>
          </a:p>
        </p:txBody>
      </p:sp>
      <p:sp>
        <p:nvSpPr>
          <p:cNvPr id="10" name="Shape 8"/>
          <p:cNvSpPr/>
          <p:nvPr/>
        </p:nvSpPr>
        <p:spPr>
          <a:xfrm>
            <a:off x="594360" y="4709160"/>
            <a:ext cx="11000232" cy="1051560"/>
          </a:xfrm>
          <a:prstGeom prst="roundRect">
            <a:avLst>
              <a:gd name="adj" fmla="val 5217"/>
            </a:avLst>
          </a:prstGeom>
          <a:solidFill>
            <a:srgbClr val="F4F6F6"/>
          </a:solidFill>
          <a:ln w="12700">
            <a:solidFill>
              <a:srgbClr val="DFE3E6"/>
            </a:solidFill>
            <a:prstDash val="solid"/>
          </a:ln>
        </p:spPr>
      </p:sp>
      <p:sp>
        <p:nvSpPr>
          <p:cNvPr id="11" name="Text 9"/>
          <p:cNvSpPr txBox="1"/>
          <p:nvPr/>
        </p:nvSpPr>
        <p:spPr>
          <a:xfrm>
            <a:off x="914400" y="4864608"/>
            <a:ext cx="10515600" cy="731520"/>
          </a:xfrm>
          <a:prstGeom prst="rect">
            <a:avLst/>
          </a:prstGeom>
          <a:noFill/>
          <a:ln/>
        </p:spPr>
        <p:txBody>
          <a:bodyPr wrap="square" lIns="0" tIns="0" rIns="0" bIns="0" rtlCol="0" anchor="ctr"/>
          <a:lstStyle/>
          <a:p>
            <a:pPr indent="0" marL="0">
              <a:buNone/>
            </a:pPr>
            <a:r>
              <a:rPr lang="en-US" sz="1450" i="1" dirty="0">
                <a:solidFill>
                  <a:srgbClr val="1C2128"/>
                </a:solidFill>
                <a:latin typeface="Calibri" pitchFamily="34" charset="0"/>
                <a:ea typeface="Calibri" pitchFamily="34" charset="-122"/>
                <a:cs typeface="Calibri" pitchFamily="34" charset="-120"/>
              </a:rPr>
              <a:t>TDD verifies that code matches the spec. It says nothing about whether the spec matched reality. Tests confirm you built the mistake correctly.</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936224" y="201168"/>
            <a:ext cx="658368" cy="310896"/>
          </a:xfrm>
          <a:prstGeom prst="roundRect">
            <a:avLst>
              <a:gd name="adj" fmla="val 23529"/>
            </a:avLst>
          </a:prstGeom>
          <a:solidFill>
            <a:srgbClr val="A85A08"/>
          </a:solidFill>
          <a:ln w="12700">
            <a:solidFill>
              <a:srgbClr val="A85A08"/>
            </a:solidFill>
            <a:prstDash val="solid"/>
          </a:ln>
        </p:spPr>
      </p:sp>
      <p:sp>
        <p:nvSpPr>
          <p:cNvPr id="3" name="Text 1"/>
          <p:cNvSpPr txBox="1"/>
          <p:nvPr/>
        </p:nvSpPr>
        <p:spPr>
          <a:xfrm>
            <a:off x="10936224" y="201168"/>
            <a:ext cx="658368"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CH4</a:t>
            </a:r>
            <a:endParaRPr lang="en-US" sz="1200" dirty="0"/>
          </a:p>
        </p:txBody>
      </p:sp>
      <p:sp>
        <p:nvSpPr>
          <p:cNvPr id="4" name="Text 2"/>
          <p:cNvSpPr txBox="1"/>
          <p:nvPr/>
        </p:nvSpPr>
        <p:spPr>
          <a:xfrm>
            <a:off x="594360" y="201168"/>
            <a:ext cx="11000232" cy="256032"/>
          </a:xfrm>
          <a:prstGeom prst="rect">
            <a:avLst/>
          </a:prstGeom>
          <a:noFill/>
          <a:ln/>
        </p:spPr>
        <p:txBody>
          <a:bodyPr wrap="square" lIns="0" tIns="0" rIns="0" bIns="0" rtlCol="0" anchor="ctr"/>
          <a:lstStyle/>
          <a:p>
            <a:pPr indent="0" marL="0">
              <a:buNone/>
            </a:pPr>
            <a:r>
              <a:rPr lang="en-US" sz="1100" b="1" spc="200" kern="0" dirty="0">
                <a:solidFill>
                  <a:srgbClr val="A85A08"/>
                </a:solidFill>
                <a:latin typeface="Calibri" pitchFamily="34" charset="0"/>
                <a:ea typeface="Calibri" pitchFamily="34" charset="-122"/>
                <a:cs typeface="Calibri" pitchFamily="34" charset="-120"/>
              </a:rPr>
              <a:t>THE MECHANISM</a:t>
            </a:r>
            <a:endParaRPr lang="en-US" sz="1100" dirty="0"/>
          </a:p>
        </p:txBody>
      </p:sp>
      <p:sp>
        <p:nvSpPr>
          <p:cNvPr id="5" name="Text 3"/>
          <p:cNvSpPr txBox="1"/>
          <p:nvPr/>
        </p:nvSpPr>
        <p:spPr>
          <a:xfrm>
            <a:off x="594360" y="868680"/>
            <a:ext cx="11000232" cy="777240"/>
          </a:xfrm>
          <a:prstGeom prst="rect">
            <a:avLst/>
          </a:prstGeom>
          <a:noFill/>
          <a:ln/>
        </p:spPr>
        <p:txBody>
          <a:bodyPr wrap="square" lIns="0" tIns="0" rIns="0" bIns="0" rtlCol="0" anchor="ctr"/>
          <a:lstStyle/>
          <a:p>
            <a:pPr indent="0" marL="0">
              <a:buNone/>
            </a:pPr>
            <a:r>
              <a:rPr lang="en-US" sz="3400" b="1" dirty="0">
                <a:solidFill>
                  <a:srgbClr val="1C2128"/>
                </a:solidFill>
                <a:latin typeface="Cambria" pitchFamily="34" charset="0"/>
                <a:ea typeface="Cambria" pitchFamily="34" charset="-122"/>
                <a:cs typeface="Cambria" pitchFamily="34" charset="-120"/>
              </a:rPr>
              <a:t>Every requirement carries a provenance label</a:t>
            </a:r>
            <a:endParaRPr lang="en-US" sz="3400" dirty="0"/>
          </a:p>
        </p:txBody>
      </p:sp>
      <p:sp>
        <p:nvSpPr>
          <p:cNvPr id="6" name="Text 4"/>
          <p:cNvSpPr txBox="1"/>
          <p:nvPr/>
        </p:nvSpPr>
        <p:spPr>
          <a:xfrm>
            <a:off x="594360" y="1664208"/>
            <a:ext cx="11000232" cy="411480"/>
          </a:xfrm>
          <a:prstGeom prst="rect">
            <a:avLst/>
          </a:prstGeom>
          <a:noFill/>
          <a:ln/>
        </p:spPr>
        <p:txBody>
          <a:bodyPr wrap="square" lIns="0" tIns="0" rIns="0" bIns="0" rtlCol="0" anchor="t"/>
          <a:lstStyle/>
          <a:p>
            <a:pPr indent="0" marL="0">
              <a:buNone/>
            </a:pPr>
            <a:r>
              <a:rPr lang="en-US" sz="1500" i="1" dirty="0">
                <a:solidFill>
                  <a:srgbClr val="6E7781"/>
                </a:solidFill>
                <a:latin typeface="Calibri" pitchFamily="34" charset="0"/>
                <a:ea typeface="Calibri" pitchFamily="34" charset="-122"/>
                <a:cs typeface="Calibri" pitchFamily="34" charset="-120"/>
              </a:rPr>
              <a:t>The agent is forbidden from making invented requirements look like discovered ones.</a:t>
            </a:r>
            <a:endParaRPr lang="en-US" sz="1500" dirty="0"/>
          </a:p>
        </p:txBody>
      </p:sp>
      <p:sp>
        <p:nvSpPr>
          <p:cNvPr id="7" name="Shape 5"/>
          <p:cNvSpPr/>
          <p:nvPr/>
        </p:nvSpPr>
        <p:spPr>
          <a:xfrm>
            <a:off x="594360" y="2331720"/>
            <a:ext cx="1965960" cy="475488"/>
          </a:xfrm>
          <a:prstGeom prst="roundRect">
            <a:avLst>
              <a:gd name="adj" fmla="val 11538"/>
            </a:avLst>
          </a:prstGeom>
          <a:solidFill>
            <a:srgbClr val="0F6E66"/>
          </a:solidFill>
          <a:ln w="12700">
            <a:solidFill>
              <a:srgbClr val="0F6E66"/>
            </a:solidFill>
            <a:prstDash val="solid"/>
          </a:ln>
        </p:spPr>
      </p:sp>
      <p:sp>
        <p:nvSpPr>
          <p:cNvPr id="8" name="Text 6"/>
          <p:cNvSpPr txBox="1"/>
          <p:nvPr/>
        </p:nvSpPr>
        <p:spPr>
          <a:xfrm>
            <a:off x="594360" y="2331720"/>
            <a:ext cx="1965960"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GIVEN</a:t>
            </a:r>
            <a:endParaRPr lang="en-US" sz="1250" dirty="0"/>
          </a:p>
        </p:txBody>
      </p:sp>
      <p:sp>
        <p:nvSpPr>
          <p:cNvPr id="9" name="Text 7"/>
          <p:cNvSpPr txBox="1"/>
          <p:nvPr/>
        </p:nvSpPr>
        <p:spPr>
          <a:xfrm>
            <a:off x="2788920" y="2331720"/>
            <a:ext cx="8686800" cy="475488"/>
          </a:xfrm>
          <a:prstGeom prst="rect">
            <a:avLst/>
          </a:prstGeom>
          <a:noFill/>
          <a:ln/>
        </p:spPr>
        <p:txBody>
          <a:bodyPr wrap="square" lIns="0" tIns="0" rIns="0" bIns="0" rtlCol="0" anchor="ctr"/>
          <a:lstStyle/>
          <a:p>
            <a:pPr indent="0" marL="0">
              <a:buNone/>
            </a:pPr>
            <a:r>
              <a:rPr lang="en-US" sz="1400" dirty="0">
                <a:solidFill>
                  <a:srgbClr val="2B3138"/>
                </a:solidFill>
                <a:latin typeface="Calibri" pitchFamily="34" charset="0"/>
                <a:ea typeface="Calibri" pitchFamily="34" charset="-122"/>
                <a:cs typeface="Calibri" pitchFamily="34" charset="-120"/>
              </a:rPr>
              <a:t>Stated in the input. Cite the source.</a:t>
            </a:r>
            <a:endParaRPr lang="en-US" sz="1400" dirty="0"/>
          </a:p>
        </p:txBody>
      </p:sp>
      <p:sp>
        <p:nvSpPr>
          <p:cNvPr id="10" name="Shape 8"/>
          <p:cNvSpPr/>
          <p:nvPr/>
        </p:nvSpPr>
        <p:spPr>
          <a:xfrm>
            <a:off x="594360" y="2990088"/>
            <a:ext cx="1965960" cy="475488"/>
          </a:xfrm>
          <a:prstGeom prst="roundRect">
            <a:avLst>
              <a:gd name="adj" fmla="val 11538"/>
            </a:avLst>
          </a:prstGeom>
          <a:solidFill>
            <a:srgbClr val="0F6E66"/>
          </a:solidFill>
          <a:ln w="12700">
            <a:solidFill>
              <a:srgbClr val="0F6E66"/>
            </a:solidFill>
            <a:prstDash val="solid"/>
          </a:ln>
        </p:spPr>
      </p:sp>
      <p:sp>
        <p:nvSpPr>
          <p:cNvPr id="11" name="Text 9"/>
          <p:cNvSpPr txBox="1"/>
          <p:nvPr/>
        </p:nvSpPr>
        <p:spPr>
          <a:xfrm>
            <a:off x="594360" y="2990088"/>
            <a:ext cx="1965960"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DERIVED</a:t>
            </a:r>
            <a:endParaRPr lang="en-US" sz="1250" dirty="0"/>
          </a:p>
        </p:txBody>
      </p:sp>
      <p:sp>
        <p:nvSpPr>
          <p:cNvPr id="12" name="Text 10"/>
          <p:cNvSpPr txBox="1"/>
          <p:nvPr/>
        </p:nvSpPr>
        <p:spPr>
          <a:xfrm>
            <a:off x="2788920" y="2990088"/>
            <a:ext cx="8686800" cy="475488"/>
          </a:xfrm>
          <a:prstGeom prst="rect">
            <a:avLst/>
          </a:prstGeom>
          <a:noFill/>
          <a:ln/>
        </p:spPr>
        <p:txBody>
          <a:bodyPr wrap="square" lIns="0" tIns="0" rIns="0" bIns="0" rtlCol="0" anchor="ctr"/>
          <a:lstStyle/>
          <a:p>
            <a:pPr indent="0" marL="0">
              <a:buNone/>
            </a:pPr>
            <a:r>
              <a:rPr lang="en-US" sz="1400" dirty="0">
                <a:solidFill>
                  <a:srgbClr val="2B3138"/>
                </a:solidFill>
                <a:latin typeface="Calibri" pitchFamily="34" charset="0"/>
                <a:ea typeface="Calibri" pitchFamily="34" charset="-122"/>
                <a:cs typeface="Calibri" pitchFamily="34" charset="-120"/>
              </a:rPr>
              <a:t>A necessary consequence of a GIVEN item plus a stated constraint. Show the derivation.</a:t>
            </a:r>
            <a:endParaRPr lang="en-US" sz="1400" dirty="0"/>
          </a:p>
        </p:txBody>
      </p:sp>
      <p:sp>
        <p:nvSpPr>
          <p:cNvPr id="13" name="Shape 11"/>
          <p:cNvSpPr/>
          <p:nvPr/>
        </p:nvSpPr>
        <p:spPr>
          <a:xfrm>
            <a:off x="594360" y="3648456"/>
            <a:ext cx="1965960" cy="475488"/>
          </a:xfrm>
          <a:prstGeom prst="roundRect">
            <a:avLst>
              <a:gd name="adj" fmla="val 11538"/>
            </a:avLst>
          </a:prstGeom>
          <a:solidFill>
            <a:srgbClr val="A85A08"/>
          </a:solidFill>
          <a:ln w="12700">
            <a:solidFill>
              <a:srgbClr val="A85A08"/>
            </a:solidFill>
            <a:prstDash val="solid"/>
          </a:ln>
        </p:spPr>
      </p:sp>
      <p:sp>
        <p:nvSpPr>
          <p:cNvPr id="14" name="Text 12"/>
          <p:cNvSpPr txBox="1"/>
          <p:nvPr/>
        </p:nvSpPr>
        <p:spPr>
          <a:xfrm>
            <a:off x="594360" y="3648456"/>
            <a:ext cx="1965960"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PROPOSED</a:t>
            </a:r>
            <a:endParaRPr lang="en-US" sz="1250" dirty="0"/>
          </a:p>
        </p:txBody>
      </p:sp>
      <p:sp>
        <p:nvSpPr>
          <p:cNvPr id="15" name="Text 13"/>
          <p:cNvSpPr txBox="1"/>
          <p:nvPr/>
        </p:nvSpPr>
        <p:spPr>
          <a:xfrm>
            <a:off x="2788920" y="3648456"/>
            <a:ext cx="8686800" cy="475488"/>
          </a:xfrm>
          <a:prstGeom prst="rect">
            <a:avLst/>
          </a:prstGeom>
          <a:noFill/>
          <a:ln/>
        </p:spPr>
        <p:txBody>
          <a:bodyPr wrap="square" lIns="0" tIns="0" rIns="0" bIns="0" rtlCol="0" anchor="ctr"/>
          <a:lstStyle/>
          <a:p>
            <a:pPr indent="0" marL="0">
              <a:buNone/>
            </a:pPr>
            <a:r>
              <a:rPr lang="en-US" sz="1400" dirty="0">
                <a:solidFill>
                  <a:srgbClr val="2B3138"/>
                </a:solidFill>
                <a:latin typeface="Calibri" pitchFamily="34" charset="0"/>
                <a:ea typeface="Calibri" pitchFamily="34" charset="-122"/>
                <a:cs typeface="Calibri" pitchFamily="34" charset="-120"/>
              </a:rPr>
              <a:t>Plausible, useful, traceable to nothing. The agent's suggestion, offered for confirmation.</a:t>
            </a:r>
            <a:endParaRPr lang="en-US" sz="1400" dirty="0"/>
          </a:p>
        </p:txBody>
      </p:sp>
      <p:sp>
        <p:nvSpPr>
          <p:cNvPr id="16" name="Shape 14"/>
          <p:cNvSpPr/>
          <p:nvPr/>
        </p:nvSpPr>
        <p:spPr>
          <a:xfrm>
            <a:off x="594360" y="4306824"/>
            <a:ext cx="1965960" cy="475488"/>
          </a:xfrm>
          <a:prstGeom prst="roundRect">
            <a:avLst>
              <a:gd name="adj" fmla="val 11538"/>
            </a:avLst>
          </a:prstGeom>
          <a:solidFill>
            <a:srgbClr val="8C2F2F"/>
          </a:solidFill>
          <a:ln w="12700">
            <a:solidFill>
              <a:srgbClr val="8C2F2F"/>
            </a:solidFill>
            <a:prstDash val="solid"/>
          </a:ln>
        </p:spPr>
      </p:sp>
      <p:sp>
        <p:nvSpPr>
          <p:cNvPr id="17" name="Text 15"/>
          <p:cNvSpPr txBox="1"/>
          <p:nvPr/>
        </p:nvSpPr>
        <p:spPr>
          <a:xfrm>
            <a:off x="594360" y="4306824"/>
            <a:ext cx="1965960"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DOMAIN-ASSUMED</a:t>
            </a:r>
            <a:endParaRPr lang="en-US" sz="1250" dirty="0"/>
          </a:p>
        </p:txBody>
      </p:sp>
      <p:sp>
        <p:nvSpPr>
          <p:cNvPr id="18" name="Text 16"/>
          <p:cNvSpPr txBox="1"/>
          <p:nvPr/>
        </p:nvSpPr>
        <p:spPr>
          <a:xfrm>
            <a:off x="2788920" y="4306824"/>
            <a:ext cx="8686800" cy="475488"/>
          </a:xfrm>
          <a:prstGeom prst="rect">
            <a:avLst/>
          </a:prstGeom>
          <a:noFill/>
          <a:ln/>
        </p:spPr>
        <p:txBody>
          <a:bodyPr wrap="square" lIns="0" tIns="0" rIns="0" bIns="0" rtlCol="0" anchor="ctr"/>
          <a:lstStyle/>
          <a:p>
            <a:pPr indent="0" marL="0">
              <a:buNone/>
            </a:pPr>
            <a:r>
              <a:rPr lang="en-US" sz="1400" dirty="0">
                <a:solidFill>
                  <a:srgbClr val="2B3138"/>
                </a:solidFill>
                <a:latin typeface="Calibri" pitchFamily="34" charset="0"/>
                <a:ea typeface="Calibri" pitchFamily="34" charset="-122"/>
                <a:cs typeface="Calibri" pitchFamily="34" charset="-120"/>
              </a:rPr>
              <a:t>Taken from how this kind of system conventionally works. Highest risk in the document.</a:t>
            </a:r>
            <a:endParaRPr lang="en-US" sz="1400" dirty="0"/>
          </a:p>
        </p:txBody>
      </p:sp>
      <p:sp>
        <p:nvSpPr>
          <p:cNvPr id="19" name="Shape 17"/>
          <p:cNvSpPr/>
          <p:nvPr/>
        </p:nvSpPr>
        <p:spPr>
          <a:xfrm>
            <a:off x="594360" y="4965192"/>
            <a:ext cx="1965960" cy="475488"/>
          </a:xfrm>
          <a:prstGeom prst="roundRect">
            <a:avLst>
              <a:gd name="adj" fmla="val 11538"/>
            </a:avLst>
          </a:prstGeom>
          <a:solidFill>
            <a:srgbClr val="8C2F2F"/>
          </a:solidFill>
          <a:ln w="12700">
            <a:solidFill>
              <a:srgbClr val="8C2F2F"/>
            </a:solidFill>
            <a:prstDash val="solid"/>
          </a:ln>
        </p:spPr>
      </p:sp>
      <p:sp>
        <p:nvSpPr>
          <p:cNvPr id="20" name="Text 18"/>
          <p:cNvSpPr txBox="1"/>
          <p:nvPr/>
        </p:nvSpPr>
        <p:spPr>
          <a:xfrm>
            <a:off x="594360" y="4965192"/>
            <a:ext cx="1965960"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BLOCKED</a:t>
            </a:r>
            <a:endParaRPr lang="en-US" sz="1250" dirty="0"/>
          </a:p>
        </p:txBody>
      </p:sp>
      <p:sp>
        <p:nvSpPr>
          <p:cNvPr id="21" name="Text 19"/>
          <p:cNvSpPr txBox="1"/>
          <p:nvPr/>
        </p:nvSpPr>
        <p:spPr>
          <a:xfrm>
            <a:off x="2788920" y="4965192"/>
            <a:ext cx="8686800" cy="475488"/>
          </a:xfrm>
          <a:prstGeom prst="rect">
            <a:avLst/>
          </a:prstGeom>
          <a:noFill/>
          <a:ln/>
        </p:spPr>
        <p:txBody>
          <a:bodyPr wrap="square" lIns="0" tIns="0" rIns="0" bIns="0" rtlCol="0" anchor="ctr"/>
          <a:lstStyle/>
          <a:p>
            <a:pPr indent="0" marL="0">
              <a:buNone/>
            </a:pPr>
            <a:r>
              <a:rPr lang="en-US" sz="1400" dirty="0">
                <a:solidFill>
                  <a:srgbClr val="2B3138"/>
                </a:solidFill>
                <a:latin typeface="Calibri" pitchFamily="34" charset="0"/>
                <a:ea typeface="Calibri" pitchFamily="34" charset="-122"/>
                <a:cs typeface="Calibri" pitchFamily="34" charset="-120"/>
              </a:rPr>
              <a:t>Known to be needed. Cannot be determined without access we don't have.</a:t>
            </a:r>
            <a:endParaRPr lang="en-US" sz="1400" dirty="0"/>
          </a:p>
        </p:txBody>
      </p:sp>
      <p:sp>
        <p:nvSpPr>
          <p:cNvPr id="22" name="Text 20"/>
          <p:cNvSpPr txBox="1"/>
          <p:nvPr/>
        </p:nvSpPr>
        <p:spPr>
          <a:xfrm>
            <a:off x="594360" y="5715000"/>
            <a:ext cx="11000232" cy="548640"/>
          </a:xfrm>
          <a:prstGeom prst="rect">
            <a:avLst/>
          </a:prstGeom>
          <a:noFill/>
          <a:ln/>
        </p:spPr>
        <p:txBody>
          <a:bodyPr wrap="square" lIns="0" tIns="0" rIns="0" bIns="0" rtlCol="0" anchor="t"/>
          <a:lstStyle/>
          <a:p>
            <a:pPr indent="0" marL="0">
              <a:buNone/>
            </a:pPr>
            <a:r>
              <a:rPr lang="en-US" sz="1400" i="1" dirty="0">
                <a:solidFill>
                  <a:srgbClr val="A85A08"/>
                </a:solidFill>
                <a:latin typeface="Calibri" pitchFamily="34" charset="0"/>
                <a:ea typeface="Calibri" pitchFamily="34" charset="-122"/>
                <a:cs typeface="Calibri" pitchFamily="34" charset="-120"/>
              </a:rPr>
              <a:t>Rule: a requirement may not be labeled GIVEN or DERIVED unless you can point to the specific input text. When in doubt between two labels, take the weaker one.</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936224" y="201168"/>
            <a:ext cx="658368" cy="310896"/>
          </a:xfrm>
          <a:prstGeom prst="roundRect">
            <a:avLst>
              <a:gd name="adj" fmla="val 23529"/>
            </a:avLst>
          </a:prstGeom>
          <a:solidFill>
            <a:srgbClr val="A85A08"/>
          </a:solidFill>
          <a:ln w="12700">
            <a:solidFill>
              <a:srgbClr val="A85A08"/>
            </a:solidFill>
            <a:prstDash val="solid"/>
          </a:ln>
        </p:spPr>
      </p:sp>
      <p:sp>
        <p:nvSpPr>
          <p:cNvPr id="3" name="Text 1"/>
          <p:cNvSpPr txBox="1"/>
          <p:nvPr/>
        </p:nvSpPr>
        <p:spPr>
          <a:xfrm>
            <a:off x="10936224" y="201168"/>
            <a:ext cx="658368"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CH4</a:t>
            </a:r>
            <a:endParaRPr lang="en-US" sz="1200" dirty="0"/>
          </a:p>
        </p:txBody>
      </p:sp>
      <p:sp>
        <p:nvSpPr>
          <p:cNvPr id="4" name="Text 2"/>
          <p:cNvSpPr txBox="1"/>
          <p:nvPr/>
        </p:nvSpPr>
        <p:spPr>
          <a:xfrm>
            <a:off x="594360" y="201168"/>
            <a:ext cx="11000232" cy="256032"/>
          </a:xfrm>
          <a:prstGeom prst="rect">
            <a:avLst/>
          </a:prstGeom>
          <a:noFill/>
          <a:ln/>
        </p:spPr>
        <p:txBody>
          <a:bodyPr wrap="square" lIns="0" tIns="0" rIns="0" bIns="0" rtlCol="0" anchor="ctr"/>
          <a:lstStyle/>
          <a:p>
            <a:pPr indent="0" marL="0">
              <a:buNone/>
            </a:pPr>
            <a:r>
              <a:rPr lang="en-US" sz="1100" b="1" spc="200" kern="0" dirty="0">
                <a:solidFill>
                  <a:srgbClr val="A85A08"/>
                </a:solidFill>
                <a:latin typeface="Calibri" pitchFamily="34" charset="0"/>
                <a:ea typeface="Calibri" pitchFamily="34" charset="-122"/>
                <a:cs typeface="Calibri" pitchFamily="34" charset="-120"/>
              </a:rPr>
              <a:t>WHERE IT GOES IN THE DOCUMENT</a:t>
            </a:r>
            <a:endParaRPr lang="en-US" sz="1100" dirty="0"/>
          </a:p>
        </p:txBody>
      </p:sp>
      <p:sp>
        <p:nvSpPr>
          <p:cNvPr id="5" name="Text 3"/>
          <p:cNvSpPr txBox="1"/>
          <p:nvPr/>
        </p:nvSpPr>
        <p:spPr>
          <a:xfrm>
            <a:off x="594360" y="868680"/>
            <a:ext cx="11000232" cy="777240"/>
          </a:xfrm>
          <a:prstGeom prst="rect">
            <a:avLst/>
          </a:prstGeom>
          <a:noFill/>
          <a:ln/>
        </p:spPr>
        <p:txBody>
          <a:bodyPr wrap="square" lIns="0" tIns="0" rIns="0" bIns="0" rtlCol="0" anchor="ctr"/>
          <a:lstStyle/>
          <a:p>
            <a:pPr indent="0" marL="0">
              <a:buNone/>
            </a:pPr>
            <a:r>
              <a:rPr lang="en-US" sz="3000" b="1" dirty="0">
                <a:solidFill>
                  <a:srgbClr val="1C2128"/>
                </a:solidFill>
                <a:latin typeface="Cambria" pitchFamily="34" charset="0"/>
                <a:ea typeface="Cambria" pitchFamily="34" charset="-122"/>
                <a:cs typeface="Cambria" pitchFamily="34" charset="-120"/>
              </a:rPr>
              <a:t>The reader learns how much is invention before reading any of it</a:t>
            </a:r>
            <a:endParaRPr lang="en-US" sz="3000" dirty="0"/>
          </a:p>
        </p:txBody>
      </p:sp>
      <p:sp>
        <p:nvSpPr>
          <p:cNvPr id="6" name="Shape 4"/>
          <p:cNvSpPr/>
          <p:nvPr/>
        </p:nvSpPr>
        <p:spPr>
          <a:xfrm>
            <a:off x="594360" y="2011680"/>
            <a:ext cx="5669280" cy="3017520"/>
          </a:xfrm>
          <a:prstGeom prst="roundRect">
            <a:avLst>
              <a:gd name="adj" fmla="val 1818"/>
            </a:avLst>
          </a:prstGeom>
          <a:solidFill>
            <a:srgbClr val="F4F6F6"/>
          </a:solidFill>
          <a:ln w="12700">
            <a:solidFill>
              <a:srgbClr val="DFE3E6"/>
            </a:solidFill>
            <a:prstDash val="solid"/>
          </a:ln>
        </p:spPr>
      </p:sp>
      <p:sp>
        <p:nvSpPr>
          <p:cNvPr id="7" name="Text 5"/>
          <p:cNvSpPr txBox="1"/>
          <p:nvPr/>
        </p:nvSpPr>
        <p:spPr>
          <a:xfrm>
            <a:off x="914400" y="2212848"/>
            <a:ext cx="5029200" cy="365760"/>
          </a:xfrm>
          <a:prstGeom prst="rect">
            <a:avLst/>
          </a:prstGeom>
          <a:noFill/>
          <a:ln/>
        </p:spPr>
        <p:txBody>
          <a:bodyPr wrap="square" lIns="0" tIns="0" rIns="0" bIns="0" rtlCol="0" anchor="ctr"/>
          <a:lstStyle/>
          <a:p>
            <a:pPr indent="0" marL="0">
              <a:buNone/>
            </a:pPr>
            <a:r>
              <a:rPr lang="en-US" sz="1500" b="1" dirty="0">
                <a:solidFill>
                  <a:srgbClr val="1C2128"/>
                </a:solidFill>
                <a:latin typeface="Calibri" pitchFamily="34" charset="0"/>
                <a:ea typeface="Calibri" pitchFamily="34" charset="-122"/>
                <a:cs typeface="Calibri" pitchFamily="34" charset="-120"/>
              </a:rPr>
              <a:t>Section 1 — Provenance Summary</a:t>
            </a:r>
            <a:endParaRPr lang="en-US" sz="1500" dirty="0"/>
          </a:p>
        </p:txBody>
      </p:sp>
      <p:sp>
        <p:nvSpPr>
          <p:cNvPr id="8" name="Text 6"/>
          <p:cNvSpPr txBox="1"/>
          <p:nvPr/>
        </p:nvSpPr>
        <p:spPr>
          <a:xfrm>
            <a:off x="914400" y="2606040"/>
            <a:ext cx="5029200" cy="2103120"/>
          </a:xfrm>
          <a:prstGeom prst="rect">
            <a:avLst/>
          </a:prstGeom>
          <a:noFill/>
          <a:ln/>
        </p:spPr>
        <p:txBody>
          <a:bodyPr wrap="square" lIns="0" tIns="0" rIns="0" bIns="0" rtlCol="0" anchor="t"/>
          <a:lstStyle/>
          <a:p>
            <a:pPr indent="0" marL="0">
              <a:lnSpc>
                <a:spcPct val="115000"/>
              </a:lnSpc>
              <a:buNone/>
            </a:pPr>
            <a:r>
              <a:rPr lang="en-US" sz="1300" dirty="0">
                <a:solidFill>
                  <a:srgbClr val="2B3138"/>
                </a:solidFill>
                <a:latin typeface="Courier New" pitchFamily="34" charset="0"/>
                <a:ea typeface="Courier New" pitchFamily="34" charset="-122"/>
                <a:cs typeface="Courier New" pitchFamily="34" charset="-120"/>
              </a:rPr>
              <a:t>GIVEN            4</a:t>
            </a:r>
            <a:endParaRPr lang="en-US" sz="1300" dirty="0"/>
          </a:p>
          <a:p>
            <a:pPr indent="0" marL="0">
              <a:lnSpc>
                <a:spcPct val="115000"/>
              </a:lnSpc>
              <a:buNone/>
            </a:pPr>
            <a:r>
              <a:rPr lang="en-US" sz="1300" dirty="0">
                <a:solidFill>
                  <a:srgbClr val="2B3138"/>
                </a:solidFill>
                <a:latin typeface="Courier New" pitchFamily="34" charset="0"/>
                <a:ea typeface="Courier New" pitchFamily="34" charset="-122"/>
                <a:cs typeface="Courier New" pitchFamily="34" charset="-120"/>
              </a:rPr>
              <a:t>DERIVED          6</a:t>
            </a:r>
            <a:endParaRPr lang="en-US" sz="1300" dirty="0"/>
          </a:p>
          <a:p>
            <a:pPr indent="0" marL="0">
              <a:lnSpc>
                <a:spcPct val="115000"/>
              </a:lnSpc>
              <a:buNone/>
            </a:pPr>
            <a:r>
              <a:rPr lang="en-US" sz="1300" dirty="0">
                <a:solidFill>
                  <a:srgbClr val="2B3138"/>
                </a:solidFill>
                <a:latin typeface="Courier New" pitchFamily="34" charset="0"/>
                <a:ea typeface="Courier New" pitchFamily="34" charset="-122"/>
                <a:cs typeface="Courier New" pitchFamily="34" charset="-120"/>
              </a:rPr>
              <a:t>PROPOSED        21</a:t>
            </a:r>
            <a:endParaRPr lang="en-US" sz="1300" dirty="0"/>
          </a:p>
          <a:p>
            <a:pPr indent="0" marL="0">
              <a:lnSpc>
                <a:spcPct val="115000"/>
              </a:lnSpc>
              <a:buNone/>
            </a:pPr>
            <a:r>
              <a:rPr lang="en-US" sz="1300" dirty="0">
                <a:solidFill>
                  <a:srgbClr val="2B3138"/>
                </a:solidFill>
                <a:latin typeface="Courier New" pitchFamily="34" charset="0"/>
                <a:ea typeface="Courier New" pitchFamily="34" charset="-122"/>
                <a:cs typeface="Courier New" pitchFamily="34" charset="-120"/>
              </a:rPr>
              <a:t>DOMAIN-ASSUMED   9</a:t>
            </a:r>
            <a:endParaRPr lang="en-US" sz="1300" dirty="0"/>
          </a:p>
          <a:p>
            <a:pPr indent="0" marL="0">
              <a:lnSpc>
                <a:spcPct val="115000"/>
              </a:lnSpc>
              <a:buNone/>
            </a:pPr>
            <a:r>
              <a:rPr lang="en-US" sz="1300" dirty="0">
                <a:solidFill>
                  <a:srgbClr val="2B3138"/>
                </a:solidFill>
                <a:latin typeface="Courier New" pitchFamily="34" charset="0"/>
                <a:ea typeface="Courier New" pitchFamily="34" charset="-122"/>
                <a:cs typeface="Courier New" pitchFamily="34" charset="-120"/>
              </a:rPr>
              <a:t>BLOCKED          7</a:t>
            </a:r>
            <a:endParaRPr lang="en-US" sz="1300" dirty="0"/>
          </a:p>
          <a:p>
            <a:pPr indent="0" marL="0">
              <a:lnSpc>
                <a:spcPct val="115000"/>
              </a:lnSpc>
              <a:buNone/>
            </a:pPr>
            <a:endParaRPr lang="en-US" sz="1300" dirty="0"/>
          </a:p>
          <a:p>
            <a:pPr indent="0" marL="0">
              <a:lnSpc>
                <a:spcPct val="115000"/>
              </a:lnSpc>
              <a:buNone/>
            </a:pPr>
            <a:r>
              <a:rPr lang="en-US" sz="1300" dirty="0">
                <a:solidFill>
                  <a:srgbClr val="2B3138"/>
                </a:solidFill>
                <a:latin typeface="Courier New" pitchFamily="34" charset="0"/>
                <a:ea typeface="Courier New" pitchFamily="34" charset="-122"/>
                <a:cs typeface="Courier New" pitchFamily="34" charset="-120"/>
              </a:rPr>
              <a:t>confirmed_fraction: 0.21</a:t>
            </a:r>
            <a:endParaRPr lang="en-US" sz="1300" dirty="0"/>
          </a:p>
        </p:txBody>
      </p:sp>
      <p:sp>
        <p:nvSpPr>
          <p:cNvPr id="9" name="Text 7"/>
          <p:cNvSpPr txBox="1"/>
          <p:nvPr/>
        </p:nvSpPr>
        <p:spPr>
          <a:xfrm>
            <a:off x="6720840" y="2103120"/>
            <a:ext cx="4846320" cy="640080"/>
          </a:xfrm>
          <a:prstGeom prst="rect">
            <a:avLst/>
          </a:prstGeom>
          <a:noFill/>
          <a:ln/>
        </p:spPr>
        <p:txBody>
          <a:bodyPr wrap="square" lIns="0" tIns="0" rIns="0" bIns="0" rtlCol="0" anchor="t"/>
          <a:lstStyle/>
          <a:p>
            <a:pPr indent="0" marL="0">
              <a:lnSpc>
                <a:spcPct val="120000"/>
              </a:lnSpc>
              <a:buNone/>
            </a:pPr>
            <a:r>
              <a:rPr lang="en-US" sz="1600" b="1" dirty="0">
                <a:solidFill>
                  <a:srgbClr val="1C2128"/>
                </a:solidFill>
                <a:latin typeface="Calibri" pitchFamily="34" charset="0"/>
                <a:ea typeface="Calibri" pitchFamily="34" charset="-122"/>
                <a:cs typeface="Calibri" pitchFamily="34" charset="-120"/>
              </a:rPr>
              <a:t>It appears before the requirements, not in an appendix after them.</a:t>
            </a:r>
            <a:endParaRPr lang="en-US" sz="1600" dirty="0"/>
          </a:p>
        </p:txBody>
      </p:sp>
      <p:sp>
        <p:nvSpPr>
          <p:cNvPr id="10" name="Text 8"/>
          <p:cNvSpPr txBox="1"/>
          <p:nvPr/>
        </p:nvSpPr>
        <p:spPr>
          <a:xfrm>
            <a:off x="6720840" y="2926080"/>
            <a:ext cx="4846320" cy="1517904"/>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2B3138"/>
                </a:solidFill>
                <a:latin typeface="Calibri" pitchFamily="34" charset="0"/>
                <a:ea typeface="Calibri" pitchFamily="34" charset="-122"/>
                <a:cs typeface="Calibri" pitchFamily="34" charset="-120"/>
              </a:rPr>
              <a:t>The router reads confirmed_fraction and can refuse to advance</a:t>
            </a:r>
            <a:endParaRPr lang="en-US" sz="1400" dirty="0"/>
          </a:p>
          <a:p>
            <a:pPr marL="342900" indent="-342900">
              <a:spcAft>
                <a:spcPts val="1000"/>
              </a:spcAft>
              <a:buSzPct val="100000"/>
              <a:buChar char="•"/>
            </a:pPr>
            <a:r>
              <a:rPr lang="en-US" sz="1400" dirty="0">
                <a:solidFill>
                  <a:srgbClr val="2B3138"/>
                </a:solidFill>
                <a:latin typeface="Calibri" pitchFamily="34" charset="0"/>
                <a:ea typeface="Calibri" pitchFamily="34" charset="-122"/>
                <a:cs typeface="Calibri" pitchFamily="34" charset="-120"/>
              </a:rPr>
              <a:t>A reviewer knows where to spend attention</a:t>
            </a:r>
            <a:endParaRPr lang="en-US" sz="1400" dirty="0"/>
          </a:p>
          <a:p>
            <a:pPr marL="342900" indent="-342900">
              <a:spcAft>
                <a:spcPts val="1000"/>
              </a:spcAft>
              <a:buSzPct val="100000"/>
              <a:buChar char="•"/>
            </a:pPr>
            <a:r>
              <a:rPr lang="en-US" sz="1400" dirty="0">
                <a:solidFill>
                  <a:srgbClr val="2B3138"/>
                </a:solidFill>
                <a:latin typeface="Calibri" pitchFamily="34" charset="0"/>
                <a:ea typeface="Calibri" pitchFamily="34" charset="-122"/>
                <a:cs typeface="Calibri" pitchFamily="34" charset="-120"/>
              </a:rPr>
              <a:t>A specification that is mostly PROPOSED must say so in its own opening section</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936224" y="201168"/>
            <a:ext cx="658368" cy="310896"/>
          </a:xfrm>
          <a:prstGeom prst="roundRect">
            <a:avLst>
              <a:gd name="adj" fmla="val 23529"/>
            </a:avLst>
          </a:prstGeom>
          <a:solidFill>
            <a:srgbClr val="A85A08"/>
          </a:solidFill>
          <a:ln w="12700">
            <a:solidFill>
              <a:srgbClr val="A85A08"/>
            </a:solidFill>
            <a:prstDash val="solid"/>
          </a:ln>
        </p:spPr>
      </p:sp>
      <p:sp>
        <p:nvSpPr>
          <p:cNvPr id="3" name="Text 1"/>
          <p:cNvSpPr txBox="1"/>
          <p:nvPr/>
        </p:nvSpPr>
        <p:spPr>
          <a:xfrm>
            <a:off x="10936224" y="201168"/>
            <a:ext cx="658368"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CH4</a:t>
            </a:r>
            <a:endParaRPr lang="en-US" sz="1200" dirty="0"/>
          </a:p>
        </p:txBody>
      </p:sp>
      <p:sp>
        <p:nvSpPr>
          <p:cNvPr id="4" name="Text 2"/>
          <p:cNvSpPr txBox="1"/>
          <p:nvPr/>
        </p:nvSpPr>
        <p:spPr>
          <a:xfrm>
            <a:off x="594360" y="201168"/>
            <a:ext cx="11000232" cy="256032"/>
          </a:xfrm>
          <a:prstGeom prst="rect">
            <a:avLst/>
          </a:prstGeom>
          <a:noFill/>
          <a:ln/>
        </p:spPr>
        <p:txBody>
          <a:bodyPr wrap="square" lIns="0" tIns="0" rIns="0" bIns="0" rtlCol="0" anchor="ctr"/>
          <a:lstStyle/>
          <a:p>
            <a:pPr indent="0" marL="0">
              <a:buNone/>
            </a:pPr>
            <a:r>
              <a:rPr lang="en-US" sz="1100" b="1" spc="200" kern="0" dirty="0">
                <a:solidFill>
                  <a:srgbClr val="A85A08"/>
                </a:solidFill>
                <a:latin typeface="Calibri" pitchFamily="34" charset="0"/>
                <a:ea typeface="Calibri" pitchFamily="34" charset="-122"/>
                <a:cs typeface="Calibri" pitchFamily="34" charset="-120"/>
              </a:rPr>
              <a:t>TURNING THE LIMITATION INTO A DELIVERABLE</a:t>
            </a:r>
            <a:endParaRPr lang="en-US" sz="1100" dirty="0"/>
          </a:p>
        </p:txBody>
      </p:sp>
      <p:sp>
        <p:nvSpPr>
          <p:cNvPr id="5" name="Text 3"/>
          <p:cNvSpPr txBox="1"/>
          <p:nvPr/>
        </p:nvSpPr>
        <p:spPr>
          <a:xfrm>
            <a:off x="594360" y="868680"/>
            <a:ext cx="11000232" cy="777240"/>
          </a:xfrm>
          <a:prstGeom prst="rect">
            <a:avLst/>
          </a:prstGeom>
          <a:noFill/>
          <a:ln/>
        </p:spPr>
        <p:txBody>
          <a:bodyPr wrap="square" lIns="0" tIns="0" rIns="0" bIns="0" rtlCol="0" anchor="ctr"/>
          <a:lstStyle/>
          <a:p>
            <a:pPr indent="0" marL="0">
              <a:buNone/>
            </a:pPr>
            <a:r>
              <a:rPr lang="en-US" sz="3400" b="1" dirty="0">
                <a:solidFill>
                  <a:srgbClr val="1C2128"/>
                </a:solidFill>
                <a:latin typeface="Cambria" pitchFamily="34" charset="0"/>
                <a:ea typeface="Cambria" pitchFamily="34" charset="-122"/>
                <a:cs typeface="Cambria" pitchFamily="34" charset="-120"/>
              </a:rPr>
              <a:t>What the agent hands the human to go and ask</a:t>
            </a:r>
            <a:endParaRPr lang="en-US" sz="3400" dirty="0"/>
          </a:p>
        </p:txBody>
      </p:sp>
      <p:sp>
        <p:nvSpPr>
          <p:cNvPr id="6" name="Text 4"/>
          <p:cNvSpPr txBox="1"/>
          <p:nvPr/>
        </p:nvSpPr>
        <p:spPr>
          <a:xfrm>
            <a:off x="594360" y="2057400"/>
            <a:ext cx="3108960" cy="777240"/>
          </a:xfrm>
          <a:prstGeom prst="rect">
            <a:avLst/>
          </a:prstGeom>
          <a:noFill/>
          <a:ln/>
        </p:spPr>
        <p:txBody>
          <a:bodyPr wrap="square" lIns="0" tIns="0" rIns="0" bIns="0" rtlCol="0" anchor="t"/>
          <a:lstStyle/>
          <a:p>
            <a:pPr indent="0" marL="0">
              <a:buNone/>
            </a:pPr>
            <a:r>
              <a:rPr lang="en-US" sz="1450" b="1" dirty="0">
                <a:solidFill>
                  <a:srgbClr val="A85A08"/>
                </a:solidFill>
                <a:latin typeface="Calibri" pitchFamily="34" charset="0"/>
                <a:ea typeface="Calibri" pitchFamily="34" charset="-122"/>
                <a:cs typeface="Calibri" pitchFamily="34" charset="-120"/>
              </a:rPr>
              <a:t>Interview questions</a:t>
            </a:r>
            <a:endParaRPr lang="en-US" sz="1450" dirty="0"/>
          </a:p>
        </p:txBody>
      </p:sp>
      <p:sp>
        <p:nvSpPr>
          <p:cNvPr id="7" name="Text 5"/>
          <p:cNvSpPr txBox="1"/>
          <p:nvPr/>
        </p:nvSpPr>
        <p:spPr>
          <a:xfrm>
            <a:off x="3840480" y="2057400"/>
            <a:ext cx="7680960" cy="868680"/>
          </a:xfrm>
          <a:prstGeom prst="rect">
            <a:avLst/>
          </a:prstGeom>
          <a:noFill/>
          <a:ln/>
        </p:spPr>
        <p:txBody>
          <a:bodyPr wrap="square" lIns="0" tIns="0" rIns="0" bIns="0" rtlCol="0" anchor="t"/>
          <a:lstStyle/>
          <a:p>
            <a:pPr indent="0" marL="0">
              <a:lnSpc>
                <a:spcPct val="112000"/>
              </a:lnSpc>
              <a:buNone/>
            </a:pPr>
            <a:r>
              <a:rPr lang="en-US" sz="1400" dirty="0">
                <a:solidFill>
                  <a:srgbClr val="2B3138"/>
                </a:solidFill>
                <a:latin typeface="Calibri" pitchFamily="34" charset="0"/>
                <a:ea typeface="Calibri" pitchFamily="34" charset="-122"/>
                <a:cs typeface="Calibri" pitchFamily="34" charset="-120"/>
              </a:rPr>
              <a:t>Anchored in a concrete proposal or scenario — "tell me what you want" doesn't work. Flagged where terminology is likely to be misread.</a:t>
            </a:r>
            <a:endParaRPr lang="en-US" sz="1400" dirty="0"/>
          </a:p>
        </p:txBody>
      </p:sp>
      <p:sp>
        <p:nvSpPr>
          <p:cNvPr id="8" name="Shape 6"/>
          <p:cNvSpPr/>
          <p:nvPr/>
        </p:nvSpPr>
        <p:spPr>
          <a:xfrm>
            <a:off x="594360" y="2971800"/>
            <a:ext cx="11000232" cy="0"/>
          </a:xfrm>
          <a:prstGeom prst="line">
            <a:avLst/>
          </a:prstGeom>
          <a:noFill/>
          <a:ln w="12700">
            <a:solidFill>
              <a:srgbClr val="DFE3E6"/>
            </a:solidFill>
            <a:prstDash val="solid"/>
          </a:ln>
        </p:spPr>
      </p:sp>
      <p:sp>
        <p:nvSpPr>
          <p:cNvPr id="9" name="Text 7"/>
          <p:cNvSpPr txBox="1"/>
          <p:nvPr/>
        </p:nvSpPr>
        <p:spPr>
          <a:xfrm>
            <a:off x="594360" y="3108960"/>
            <a:ext cx="3108960" cy="777240"/>
          </a:xfrm>
          <a:prstGeom prst="rect">
            <a:avLst/>
          </a:prstGeom>
          <a:noFill/>
          <a:ln/>
        </p:spPr>
        <p:txBody>
          <a:bodyPr wrap="square" lIns="0" tIns="0" rIns="0" bIns="0" rtlCol="0" anchor="t"/>
          <a:lstStyle/>
          <a:p>
            <a:pPr indent="0" marL="0">
              <a:buNone/>
            </a:pPr>
            <a:r>
              <a:rPr lang="en-US" sz="1450" b="1" dirty="0">
                <a:solidFill>
                  <a:srgbClr val="A85A08"/>
                </a:solidFill>
                <a:latin typeface="Calibri" pitchFamily="34" charset="0"/>
                <a:ea typeface="Calibri" pitchFamily="34" charset="-122"/>
                <a:cs typeface="Calibri" pitchFamily="34" charset="-120"/>
              </a:rPr>
              <a:t>Scenario drafts</a:t>
            </a:r>
            <a:endParaRPr lang="en-US" sz="1450" dirty="0"/>
          </a:p>
        </p:txBody>
      </p:sp>
      <p:sp>
        <p:nvSpPr>
          <p:cNvPr id="10" name="Text 8"/>
          <p:cNvSpPr txBox="1"/>
          <p:nvPr/>
        </p:nvSpPr>
        <p:spPr>
          <a:xfrm>
            <a:off x="3840480" y="3108960"/>
            <a:ext cx="7680960" cy="868680"/>
          </a:xfrm>
          <a:prstGeom prst="rect">
            <a:avLst/>
          </a:prstGeom>
          <a:noFill/>
          <a:ln/>
        </p:spPr>
        <p:txBody>
          <a:bodyPr wrap="square" lIns="0" tIns="0" rIns="0" bIns="0" rtlCol="0" anchor="t"/>
          <a:lstStyle/>
          <a:p>
            <a:pPr indent="0" marL="0">
              <a:lnSpc>
                <a:spcPct val="112000"/>
              </a:lnSpc>
              <a:buNone/>
            </a:pPr>
            <a:r>
              <a:rPr lang="en-US" sz="1400" dirty="0">
                <a:solidFill>
                  <a:srgbClr val="2B3138"/>
                </a:solidFill>
                <a:latin typeface="Calibri" pitchFamily="34" charset="0"/>
                <a:ea typeface="Calibri" pitchFamily="34" charset="-122"/>
                <a:cs typeface="Calibri" pitchFamily="34" charset="-120"/>
              </a:rPr>
              <a:t>Initial state, normal flow, what can go wrong, what else is happening, state on completion — written for confirmation, not as fact.</a:t>
            </a:r>
            <a:endParaRPr lang="en-US" sz="1400" dirty="0"/>
          </a:p>
        </p:txBody>
      </p:sp>
      <p:sp>
        <p:nvSpPr>
          <p:cNvPr id="11" name="Shape 9"/>
          <p:cNvSpPr/>
          <p:nvPr/>
        </p:nvSpPr>
        <p:spPr>
          <a:xfrm>
            <a:off x="594360" y="4023360"/>
            <a:ext cx="11000232" cy="0"/>
          </a:xfrm>
          <a:prstGeom prst="line">
            <a:avLst/>
          </a:prstGeom>
          <a:noFill/>
          <a:ln w="12700">
            <a:solidFill>
              <a:srgbClr val="DFE3E6"/>
            </a:solidFill>
            <a:prstDash val="solid"/>
          </a:ln>
        </p:spPr>
      </p:sp>
      <p:sp>
        <p:nvSpPr>
          <p:cNvPr id="12" name="Text 10"/>
          <p:cNvSpPr txBox="1"/>
          <p:nvPr/>
        </p:nvSpPr>
        <p:spPr>
          <a:xfrm>
            <a:off x="594360" y="4160520"/>
            <a:ext cx="3108960" cy="777240"/>
          </a:xfrm>
          <a:prstGeom prst="rect">
            <a:avLst/>
          </a:prstGeom>
          <a:noFill/>
          <a:ln/>
        </p:spPr>
        <p:txBody>
          <a:bodyPr wrap="square" lIns="0" tIns="0" rIns="0" bIns="0" rtlCol="0" anchor="t"/>
          <a:lstStyle/>
          <a:p>
            <a:pPr indent="0" marL="0">
              <a:buNone/>
            </a:pPr>
            <a:r>
              <a:rPr lang="en-US" sz="1450" b="1" dirty="0">
                <a:solidFill>
                  <a:srgbClr val="A85A08"/>
                </a:solidFill>
                <a:latin typeface="Calibri" pitchFamily="34" charset="0"/>
                <a:ea typeface="Calibri" pitchFamily="34" charset="-122"/>
                <a:cs typeface="Calibri" pitchFamily="34" charset="-120"/>
              </a:rPr>
              <a:t>Use case skeletons</a:t>
            </a:r>
            <a:endParaRPr lang="en-US" sz="1450" dirty="0"/>
          </a:p>
        </p:txBody>
      </p:sp>
      <p:sp>
        <p:nvSpPr>
          <p:cNvPr id="13" name="Text 11"/>
          <p:cNvSpPr txBox="1"/>
          <p:nvPr/>
        </p:nvSpPr>
        <p:spPr>
          <a:xfrm>
            <a:off x="3840480" y="4160520"/>
            <a:ext cx="7680960" cy="868680"/>
          </a:xfrm>
          <a:prstGeom prst="rect">
            <a:avLst/>
          </a:prstGeom>
          <a:noFill/>
          <a:ln/>
        </p:spPr>
        <p:txBody>
          <a:bodyPr wrap="square" lIns="0" tIns="0" rIns="0" bIns="0" rtlCol="0" anchor="t"/>
          <a:lstStyle/>
          <a:p>
            <a:pPr indent="0" marL="0">
              <a:lnSpc>
                <a:spcPct val="112000"/>
              </a:lnSpc>
              <a:buNone/>
            </a:pPr>
            <a:r>
              <a:rPr lang="en-US" sz="1400" dirty="0">
                <a:solidFill>
                  <a:srgbClr val="2B3138"/>
                </a:solidFill>
                <a:latin typeface="Calibri" pitchFamily="34" charset="0"/>
                <a:ea typeface="Calibri" pitchFamily="34" charset="-122"/>
                <a:cs typeface="Calibri" pitchFamily="34" charset="-120"/>
              </a:rPr>
              <a:t>Actors and interaction types, ready to be filled in with a stakeholder.</a:t>
            </a:r>
            <a:endParaRPr lang="en-US" sz="1400" dirty="0"/>
          </a:p>
        </p:txBody>
      </p:sp>
      <p:sp>
        <p:nvSpPr>
          <p:cNvPr id="14" name="Shape 12"/>
          <p:cNvSpPr/>
          <p:nvPr/>
        </p:nvSpPr>
        <p:spPr>
          <a:xfrm>
            <a:off x="594360" y="5074920"/>
            <a:ext cx="11000232" cy="0"/>
          </a:xfrm>
          <a:prstGeom prst="line">
            <a:avLst/>
          </a:prstGeom>
          <a:noFill/>
          <a:ln w="12700">
            <a:solidFill>
              <a:srgbClr val="DFE3E6"/>
            </a:solidFill>
            <a:prstDash val="solid"/>
          </a:ln>
        </p:spPr>
      </p:sp>
      <p:sp>
        <p:nvSpPr>
          <p:cNvPr id="15" name="Text 13"/>
          <p:cNvSpPr txBox="1"/>
          <p:nvPr/>
        </p:nvSpPr>
        <p:spPr>
          <a:xfrm>
            <a:off x="594360" y="5212080"/>
            <a:ext cx="3108960" cy="777240"/>
          </a:xfrm>
          <a:prstGeom prst="rect">
            <a:avLst/>
          </a:prstGeom>
          <a:noFill/>
          <a:ln/>
        </p:spPr>
        <p:txBody>
          <a:bodyPr wrap="square" lIns="0" tIns="0" rIns="0" bIns="0" rtlCol="0" anchor="t"/>
          <a:lstStyle/>
          <a:p>
            <a:pPr indent="0" marL="0">
              <a:buNone/>
            </a:pPr>
            <a:r>
              <a:rPr lang="en-US" sz="1450" b="1" dirty="0">
                <a:solidFill>
                  <a:srgbClr val="A85A08"/>
                </a:solidFill>
                <a:latin typeface="Calibri" pitchFamily="34" charset="0"/>
                <a:ea typeface="Calibri" pitchFamily="34" charset="-122"/>
                <a:cs typeface="Calibri" pitchFamily="34" charset="-120"/>
              </a:rPr>
              <a:t>What only watching reveals</a:t>
            </a:r>
            <a:endParaRPr lang="en-US" sz="1450" dirty="0"/>
          </a:p>
        </p:txBody>
      </p:sp>
      <p:sp>
        <p:nvSpPr>
          <p:cNvPr id="16" name="Text 14"/>
          <p:cNvSpPr txBox="1"/>
          <p:nvPr/>
        </p:nvSpPr>
        <p:spPr>
          <a:xfrm>
            <a:off x="3840480" y="5212080"/>
            <a:ext cx="7680960" cy="868680"/>
          </a:xfrm>
          <a:prstGeom prst="rect">
            <a:avLst/>
          </a:prstGeom>
          <a:noFill/>
          <a:ln/>
        </p:spPr>
        <p:txBody>
          <a:bodyPr wrap="square" lIns="0" tIns="0" rIns="0" bIns="0" rtlCol="0" anchor="t"/>
          <a:lstStyle/>
          <a:p>
            <a:pPr indent="0" marL="0">
              <a:lnSpc>
                <a:spcPct val="112000"/>
              </a:lnSpc>
              <a:buNone/>
            </a:pPr>
            <a:r>
              <a:rPr lang="en-US" sz="1400" dirty="0">
                <a:solidFill>
                  <a:srgbClr val="2B3138"/>
                </a:solidFill>
                <a:latin typeface="Calibri" pitchFamily="34" charset="0"/>
                <a:ea typeface="Calibri" pitchFamily="34" charset="-122"/>
                <a:cs typeface="Calibri" pitchFamily="34" charset="-120"/>
              </a:rPr>
              <a:t>Named explicitly, with a plain statement that the agent cannot supply it.</a:t>
            </a:r>
            <a:endParaRPr lang="en-US" sz="1400" dirty="0"/>
          </a:p>
        </p:txBody>
      </p:sp>
      <p:sp>
        <p:nvSpPr>
          <p:cNvPr id="17" name="Shape 15"/>
          <p:cNvSpPr/>
          <p:nvPr/>
        </p:nvSpPr>
        <p:spPr>
          <a:xfrm>
            <a:off x="594360" y="6126480"/>
            <a:ext cx="11000232" cy="0"/>
          </a:xfrm>
          <a:prstGeom prst="line">
            <a:avLst/>
          </a:prstGeom>
          <a:noFill/>
          <a:ln w="12700">
            <a:solidFill>
              <a:srgbClr val="DFE3E6"/>
            </a:solidFill>
            <a:prstDash val="solid"/>
          </a:ln>
        </p:spPr>
      </p:sp>
      <p:sp>
        <p:nvSpPr>
          <p:cNvPr id="18" name="Text 16"/>
          <p:cNvSpPr txBox="1"/>
          <p:nvPr/>
        </p:nvSpPr>
        <p:spPr>
          <a:xfrm>
            <a:off x="594360" y="5715000"/>
            <a:ext cx="11000232" cy="457200"/>
          </a:xfrm>
          <a:prstGeom prst="rect">
            <a:avLst/>
          </a:prstGeom>
          <a:noFill/>
          <a:ln/>
        </p:spPr>
        <p:txBody>
          <a:bodyPr wrap="square" lIns="0" tIns="0" rIns="0" bIns="0" rtlCol="0" anchor="ctr"/>
          <a:lstStyle/>
          <a:p>
            <a:pPr indent="0" marL="0">
              <a:buNone/>
            </a:pPr>
            <a:r>
              <a:rPr lang="en-US" sz="1400" i="1" dirty="0">
                <a:solidFill>
                  <a:srgbClr val="6E7781"/>
                </a:solidFill>
                <a:latin typeface="Calibri" pitchFamily="34" charset="0"/>
                <a:ea typeface="Calibri" pitchFamily="34" charset="-122"/>
                <a:cs typeface="Calibri" pitchFamily="34" charset="-120"/>
              </a:rPr>
              <a:t>Ranked by how much downstream work is blocked until each is answered.</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201168"/>
            <a:ext cx="11000232" cy="256032"/>
          </a:xfrm>
          <a:prstGeom prst="rect">
            <a:avLst/>
          </a:prstGeom>
          <a:noFill/>
          <a:ln/>
        </p:spPr>
        <p:txBody>
          <a:bodyPr wrap="square" lIns="0" tIns="0" rIns="0" bIns="0" rtlCol="0" anchor="ctr"/>
          <a:lstStyle/>
          <a:p>
            <a:pPr indent="0" marL="0">
              <a:buNone/>
            </a:pPr>
            <a:r>
              <a:rPr lang="en-US" sz="1100" b="1" spc="200" kern="0" dirty="0">
                <a:solidFill>
                  <a:srgbClr val="A85A08"/>
                </a:solidFill>
                <a:latin typeface="Calibri" pitchFamily="34" charset="0"/>
                <a:ea typeface="Calibri" pitchFamily="34" charset="-122"/>
                <a:cs typeface="Calibri" pitchFamily="34" charset="-120"/>
              </a:rPr>
              <a:t>THE TEST WORTH RUNNING IN CLASS</a:t>
            </a:r>
            <a:endParaRPr lang="en-US" sz="1100" dirty="0"/>
          </a:p>
        </p:txBody>
      </p:sp>
      <p:sp>
        <p:nvSpPr>
          <p:cNvPr id="3" name="Text 1"/>
          <p:cNvSpPr txBox="1"/>
          <p:nvPr/>
        </p:nvSpPr>
        <p:spPr>
          <a:xfrm>
            <a:off x="594360" y="457200"/>
            <a:ext cx="11000232" cy="777240"/>
          </a:xfrm>
          <a:prstGeom prst="rect">
            <a:avLst/>
          </a:prstGeom>
          <a:noFill/>
          <a:ln/>
        </p:spPr>
        <p:txBody>
          <a:bodyPr wrap="square" lIns="0" tIns="0" rIns="0" bIns="0" rtlCol="0" anchor="ctr"/>
          <a:lstStyle/>
          <a:p>
            <a:pPr indent="0" marL="0">
              <a:buNone/>
            </a:pPr>
            <a:r>
              <a:rPr lang="en-US" sz="3400" b="1" dirty="0">
                <a:solidFill>
                  <a:srgbClr val="1C2128"/>
                </a:solidFill>
                <a:latin typeface="Cambria" pitchFamily="34" charset="0"/>
                <a:ea typeface="Cambria" pitchFamily="34" charset="-122"/>
                <a:cs typeface="Cambria" pitchFamily="34" charset="-120"/>
              </a:rPr>
              <a:t>Two sentences in. What comes out?</a:t>
            </a:r>
            <a:endParaRPr lang="en-US" sz="3400" dirty="0"/>
          </a:p>
        </p:txBody>
      </p:sp>
      <p:sp>
        <p:nvSpPr>
          <p:cNvPr id="4" name="Shape 2"/>
          <p:cNvSpPr/>
          <p:nvPr/>
        </p:nvSpPr>
        <p:spPr>
          <a:xfrm>
            <a:off x="594360" y="2011680"/>
            <a:ext cx="5486400" cy="2926080"/>
          </a:xfrm>
          <a:prstGeom prst="roundRect">
            <a:avLst>
              <a:gd name="adj" fmla="val 1875"/>
            </a:avLst>
          </a:prstGeom>
          <a:solidFill>
            <a:srgbClr val="F4F6F6"/>
          </a:solidFill>
          <a:ln w="12700">
            <a:solidFill>
              <a:srgbClr val="DFE3E6"/>
            </a:solidFill>
            <a:prstDash val="solid"/>
          </a:ln>
        </p:spPr>
      </p:sp>
      <p:sp>
        <p:nvSpPr>
          <p:cNvPr id="5" name="Text 3"/>
          <p:cNvSpPr txBox="1"/>
          <p:nvPr/>
        </p:nvSpPr>
        <p:spPr>
          <a:xfrm>
            <a:off x="914400" y="2212848"/>
            <a:ext cx="4846320" cy="365760"/>
          </a:xfrm>
          <a:prstGeom prst="rect">
            <a:avLst/>
          </a:prstGeom>
          <a:noFill/>
          <a:ln/>
        </p:spPr>
        <p:txBody>
          <a:bodyPr wrap="square" lIns="0" tIns="0" rIns="0" bIns="0" rtlCol="0" anchor="ctr"/>
          <a:lstStyle/>
          <a:p>
            <a:pPr indent="0" marL="0">
              <a:buNone/>
            </a:pPr>
            <a:r>
              <a:rPr lang="en-US" sz="1600" b="1" dirty="0">
                <a:solidFill>
                  <a:srgbClr val="8C2F2F"/>
                </a:solidFill>
                <a:latin typeface="Calibri" pitchFamily="34" charset="0"/>
                <a:ea typeface="Calibri" pitchFamily="34" charset="-122"/>
                <a:cs typeface="Calibri" pitchFamily="34" charset="-120"/>
              </a:rPr>
              <a:t>Unguarded model</a:t>
            </a:r>
            <a:endParaRPr lang="en-US" sz="1600" dirty="0"/>
          </a:p>
        </p:txBody>
      </p:sp>
      <p:sp>
        <p:nvSpPr>
          <p:cNvPr id="6" name="Text 4"/>
          <p:cNvSpPr txBox="1"/>
          <p:nvPr/>
        </p:nvSpPr>
        <p:spPr>
          <a:xfrm>
            <a:off x="914400" y="2651760"/>
            <a:ext cx="4846320" cy="2011680"/>
          </a:xfrm>
          <a:prstGeom prst="rect">
            <a:avLst/>
          </a:prstGeom>
          <a:noFill/>
          <a:ln/>
        </p:spPr>
        <p:txBody>
          <a:bodyPr wrap="square" lIns="0" tIns="0" rIns="0" bIns="0" rtlCol="0" anchor="t"/>
          <a:lstStyle/>
          <a:p>
            <a:pPr indent="0" marL="0">
              <a:lnSpc>
                <a:spcPct val="135000"/>
              </a:lnSpc>
              <a:buNone/>
            </a:pPr>
            <a:r>
              <a:rPr lang="en-US" sz="1500" dirty="0">
                <a:solidFill>
                  <a:srgbClr val="2B3138"/>
                </a:solidFill>
                <a:latin typeface="Calibri" pitchFamily="34" charset="0"/>
                <a:ea typeface="Calibri" pitchFamily="34" charset="-122"/>
                <a:cs typeface="Calibri" pitchFamily="34" charset="-120"/>
              </a:rPr>
              <a:t>40 confident requirements.</a:t>
            </a:r>
            <a:endParaRPr lang="en-US" sz="1500" dirty="0"/>
          </a:p>
          <a:p>
            <a:pPr indent="0" marL="0">
              <a:lnSpc>
                <a:spcPct val="135000"/>
              </a:lnSpc>
              <a:buNone/>
            </a:pPr>
            <a:r>
              <a:rPr lang="en-US" sz="1500" dirty="0">
                <a:solidFill>
                  <a:srgbClr val="2B3138"/>
                </a:solidFill>
                <a:latin typeface="Calibri" pitchFamily="34" charset="0"/>
                <a:ea typeface="Calibri" pitchFamily="34" charset="-122"/>
                <a:cs typeface="Calibri" pitchFamily="34" charset="-120"/>
              </a:rPr>
              <a:t>No indication which are invented.</a:t>
            </a:r>
            <a:endParaRPr lang="en-US" sz="1500" dirty="0"/>
          </a:p>
          <a:p>
            <a:pPr indent="0" marL="0">
              <a:lnSpc>
                <a:spcPct val="135000"/>
              </a:lnSpc>
              <a:buNone/>
            </a:pPr>
            <a:r>
              <a:rPr lang="en-US" sz="1500" dirty="0">
                <a:solidFill>
                  <a:srgbClr val="2B3138"/>
                </a:solidFill>
                <a:latin typeface="Calibri" pitchFamily="34" charset="0"/>
                <a:ea typeface="Calibri" pitchFamily="34" charset="-122"/>
                <a:cs typeface="Calibri" pitchFamily="34" charset="-120"/>
              </a:rPr>
              <a:t>Looks complete. Reads well.</a:t>
            </a:r>
            <a:endParaRPr lang="en-US" sz="1500" dirty="0"/>
          </a:p>
          <a:p>
            <a:pPr indent="0" marL="0">
              <a:lnSpc>
                <a:spcPct val="135000"/>
              </a:lnSpc>
              <a:buNone/>
            </a:pPr>
            <a:r>
              <a:rPr lang="en-US" sz="1500" dirty="0">
                <a:solidFill>
                  <a:srgbClr val="2B3138"/>
                </a:solidFill>
                <a:latin typeface="Calibri" pitchFamily="34" charset="0"/>
                <a:ea typeface="Calibri" pitchFamily="34" charset="-122"/>
                <a:cs typeface="Calibri" pitchFamily="34" charset="-120"/>
              </a:rPr>
              <a:t>Indistinguishable from real work.</a:t>
            </a:r>
            <a:endParaRPr lang="en-US" sz="1500" dirty="0"/>
          </a:p>
        </p:txBody>
      </p:sp>
      <p:sp>
        <p:nvSpPr>
          <p:cNvPr id="7" name="Shape 5"/>
          <p:cNvSpPr/>
          <p:nvPr/>
        </p:nvSpPr>
        <p:spPr>
          <a:xfrm>
            <a:off x="6446520" y="2011680"/>
            <a:ext cx="5486400" cy="2926080"/>
          </a:xfrm>
          <a:prstGeom prst="roundRect">
            <a:avLst>
              <a:gd name="adj" fmla="val 1875"/>
            </a:avLst>
          </a:prstGeom>
          <a:solidFill>
            <a:srgbClr val="F4F6F6"/>
          </a:solidFill>
          <a:ln w="12700">
            <a:solidFill>
              <a:srgbClr val="DFE3E6"/>
            </a:solidFill>
            <a:prstDash val="solid"/>
          </a:ln>
        </p:spPr>
      </p:sp>
      <p:sp>
        <p:nvSpPr>
          <p:cNvPr id="8" name="Text 6"/>
          <p:cNvSpPr txBox="1"/>
          <p:nvPr/>
        </p:nvSpPr>
        <p:spPr>
          <a:xfrm>
            <a:off x="6766560" y="2212848"/>
            <a:ext cx="4846320" cy="365760"/>
          </a:xfrm>
          <a:prstGeom prst="rect">
            <a:avLst/>
          </a:prstGeom>
          <a:noFill/>
          <a:ln/>
        </p:spPr>
        <p:txBody>
          <a:bodyPr wrap="square" lIns="0" tIns="0" rIns="0" bIns="0" rtlCol="0" anchor="ctr"/>
          <a:lstStyle/>
          <a:p>
            <a:pPr indent="0" marL="0">
              <a:buNone/>
            </a:pPr>
            <a:r>
              <a:rPr lang="en-US" sz="1600" b="1" dirty="0">
                <a:solidFill>
                  <a:srgbClr val="0F6E66"/>
                </a:solidFill>
                <a:latin typeface="Calibri" pitchFamily="34" charset="0"/>
                <a:ea typeface="Calibri" pitchFamily="34" charset="-122"/>
                <a:cs typeface="Calibri" pitchFamily="34" charset="-120"/>
              </a:rPr>
              <a:t>Our Ch4 prompt</a:t>
            </a:r>
            <a:endParaRPr lang="en-US" sz="1600" dirty="0"/>
          </a:p>
        </p:txBody>
      </p:sp>
      <p:sp>
        <p:nvSpPr>
          <p:cNvPr id="9" name="Text 7"/>
          <p:cNvSpPr txBox="1"/>
          <p:nvPr/>
        </p:nvSpPr>
        <p:spPr>
          <a:xfrm>
            <a:off x="6766560" y="2651760"/>
            <a:ext cx="4846320" cy="2011680"/>
          </a:xfrm>
          <a:prstGeom prst="rect">
            <a:avLst/>
          </a:prstGeom>
          <a:noFill/>
          <a:ln/>
        </p:spPr>
        <p:txBody>
          <a:bodyPr wrap="square" lIns="0" tIns="0" rIns="0" bIns="0" rtlCol="0" anchor="t"/>
          <a:lstStyle/>
          <a:p>
            <a:pPr indent="0" marL="0">
              <a:lnSpc>
                <a:spcPct val="135000"/>
              </a:lnSpc>
              <a:buNone/>
            </a:pPr>
            <a:r>
              <a:rPr lang="en-US" sz="1500" dirty="0">
                <a:solidFill>
                  <a:srgbClr val="2B3138"/>
                </a:solidFill>
                <a:latin typeface="Calibri" pitchFamily="34" charset="0"/>
                <a:ea typeface="Calibri" pitchFamily="34" charset="-122"/>
                <a:cs typeface="Calibri" pitchFamily="34" charset="-120"/>
              </a:rPr>
              <a:t>A thin document that announces its own thinness.</a:t>
            </a:r>
            <a:endParaRPr lang="en-US" sz="1500" dirty="0"/>
          </a:p>
          <a:p>
            <a:pPr indent="0" marL="0">
              <a:lnSpc>
                <a:spcPct val="135000"/>
              </a:lnSpc>
              <a:buNone/>
            </a:pPr>
            <a:r>
              <a:rPr lang="en-US" sz="1500" dirty="0">
                <a:solidFill>
                  <a:srgbClr val="2B3138"/>
                </a:solidFill>
                <a:latin typeface="Calibri" pitchFamily="34" charset="0"/>
                <a:ea typeface="Calibri" pitchFamily="34" charset="-122"/>
                <a:cs typeface="Calibri" pitchFamily="34" charset="-120"/>
              </a:rPr>
              <a:t>A low confirmed_fraction.</a:t>
            </a:r>
            <a:endParaRPr lang="en-US" sz="1500" dirty="0"/>
          </a:p>
          <a:p>
            <a:pPr indent="0" marL="0">
              <a:lnSpc>
                <a:spcPct val="135000"/>
              </a:lnSpc>
              <a:buNone/>
            </a:pPr>
            <a:r>
              <a:rPr lang="en-US" sz="1500" dirty="0">
                <a:solidFill>
                  <a:srgbClr val="2B3138"/>
                </a:solidFill>
                <a:latin typeface="Calibri" pitchFamily="34" charset="0"/>
                <a:ea typeface="Calibri" pitchFamily="34" charset="-122"/>
                <a:cs typeface="Calibri" pitchFamily="34" charset="-120"/>
              </a:rPr>
              <a:t>An elicitation plan for the rest.</a:t>
            </a:r>
            <a:endParaRPr lang="en-US" sz="1500" dirty="0"/>
          </a:p>
          <a:p>
            <a:pPr indent="0" marL="0">
              <a:lnSpc>
                <a:spcPct val="135000"/>
              </a:lnSpc>
              <a:buNone/>
            </a:pPr>
            <a:r>
              <a:rPr lang="en-US" sz="1500" dirty="0">
                <a:solidFill>
                  <a:srgbClr val="2B3138"/>
                </a:solidFill>
                <a:latin typeface="Calibri" pitchFamily="34" charset="0"/>
                <a:ea typeface="Calibri" pitchFamily="34" charset="-122"/>
                <a:cs typeface="Calibri" pitchFamily="34" charset="-120"/>
              </a:rPr>
              <a:t>Honest about what it doesn't know.</a:t>
            </a:r>
            <a:endParaRPr lang="en-US" sz="1500" dirty="0"/>
          </a:p>
        </p:txBody>
      </p:sp>
      <p:sp>
        <p:nvSpPr>
          <p:cNvPr id="10" name="Text 8"/>
          <p:cNvSpPr txBox="1"/>
          <p:nvPr/>
        </p:nvSpPr>
        <p:spPr>
          <a:xfrm>
            <a:off x="594360" y="5257800"/>
            <a:ext cx="11000232" cy="822960"/>
          </a:xfrm>
          <a:prstGeom prst="rect">
            <a:avLst/>
          </a:prstGeom>
          <a:noFill/>
          <a:ln/>
        </p:spPr>
        <p:txBody>
          <a:bodyPr wrap="square" lIns="0" tIns="0" rIns="0" bIns="0" rtlCol="0" anchor="t"/>
          <a:lstStyle/>
          <a:p>
            <a:pPr indent="0" marL="0">
              <a:lnSpc>
                <a:spcPct val="120000"/>
              </a:lnSpc>
              <a:buNone/>
            </a:pPr>
            <a:r>
              <a:rPr lang="en-US" sz="1800" b="1" dirty="0">
                <a:solidFill>
                  <a:srgbClr val="1C2128"/>
                </a:solidFill>
                <a:latin typeface="Cambria" pitchFamily="34" charset="0"/>
                <a:ea typeface="Cambria" pitchFamily="34" charset="-122"/>
                <a:cs typeface="Cambria" pitchFamily="34" charset="-120"/>
              </a:rPr>
              <a:t>That contrast is the entire value proposition of this course, in one side-by-side — and it's more persuasive than any argument about why structure matters.</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201168"/>
            <a:ext cx="11000232" cy="256032"/>
          </a:xfrm>
          <a:prstGeom prst="rect">
            <a:avLst/>
          </a:prstGeom>
          <a:noFill/>
          <a:ln/>
        </p:spPr>
        <p:txBody>
          <a:bodyPr wrap="square" lIns="0" tIns="0" rIns="0" bIns="0" rtlCol="0" anchor="ctr"/>
          <a:lstStyle/>
          <a:p>
            <a:pPr indent="0" marL="0">
              <a:buNone/>
            </a:pPr>
            <a:r>
              <a:rPr lang="en-US" sz="1100" b="1" spc="200" kern="0" dirty="0">
                <a:solidFill>
                  <a:srgbClr val="0F6E66"/>
                </a:solidFill>
                <a:latin typeface="Calibri" pitchFamily="34" charset="0"/>
                <a:ea typeface="Calibri" pitchFamily="34" charset="-122"/>
                <a:cs typeface="Calibri" pitchFamily="34" charset="-120"/>
              </a:rPr>
              <a:t>TRACKING THE HARDER CLAIM</a:t>
            </a:r>
            <a:endParaRPr lang="en-US" sz="1100" dirty="0"/>
          </a:p>
        </p:txBody>
      </p:sp>
      <p:sp>
        <p:nvSpPr>
          <p:cNvPr id="3" name="Text 1"/>
          <p:cNvSpPr txBox="1"/>
          <p:nvPr/>
        </p:nvSpPr>
        <p:spPr>
          <a:xfrm>
            <a:off x="594360" y="457200"/>
            <a:ext cx="11000232" cy="777240"/>
          </a:xfrm>
          <a:prstGeom prst="rect">
            <a:avLst/>
          </a:prstGeom>
          <a:noFill/>
          <a:ln/>
        </p:spPr>
        <p:txBody>
          <a:bodyPr wrap="square" lIns="0" tIns="0" rIns="0" bIns="0" rtlCol="0" anchor="ctr"/>
          <a:lstStyle/>
          <a:p>
            <a:pPr indent="0" marL="0">
              <a:buNone/>
            </a:pPr>
            <a:r>
              <a:rPr lang="en-US" sz="3100" b="1" dirty="0">
                <a:solidFill>
                  <a:srgbClr val="1C2128"/>
                </a:solidFill>
                <a:latin typeface="Cambria" pitchFamily="34" charset="0"/>
                <a:ea typeface="Cambria" pitchFamily="34" charset="-122"/>
                <a:cs typeface="Cambria" pitchFamily="34" charset="-120"/>
              </a:rPr>
              <a:t>Tests aren't enough — where do the other two get built?</a:t>
            </a:r>
            <a:endParaRPr lang="en-US" sz="3100" dirty="0"/>
          </a:p>
        </p:txBody>
      </p:sp>
      <p:sp>
        <p:nvSpPr>
          <p:cNvPr id="4" name="Shape 2"/>
          <p:cNvSpPr/>
          <p:nvPr/>
        </p:nvSpPr>
        <p:spPr>
          <a:xfrm>
            <a:off x="594360" y="1783080"/>
            <a:ext cx="11000232" cy="1170432"/>
          </a:xfrm>
          <a:prstGeom prst="roundRect">
            <a:avLst>
              <a:gd name="adj" fmla="val 4688"/>
            </a:avLst>
          </a:prstGeom>
          <a:solidFill>
            <a:srgbClr val="F4F6F6"/>
          </a:solidFill>
          <a:ln w="12700">
            <a:solidFill>
              <a:srgbClr val="DFE3E6"/>
            </a:solidFill>
            <a:prstDash val="solid"/>
          </a:ln>
        </p:spPr>
      </p:sp>
      <p:sp>
        <p:nvSpPr>
          <p:cNvPr id="5" name="Text 3"/>
          <p:cNvSpPr txBox="1"/>
          <p:nvPr/>
        </p:nvSpPr>
        <p:spPr>
          <a:xfrm>
            <a:off x="914400" y="1947672"/>
            <a:ext cx="2743200" cy="365760"/>
          </a:xfrm>
          <a:prstGeom prst="rect">
            <a:avLst/>
          </a:prstGeom>
          <a:noFill/>
          <a:ln/>
        </p:spPr>
        <p:txBody>
          <a:bodyPr wrap="square" lIns="0" tIns="0" rIns="0" bIns="0" rtlCol="0" anchor="ctr"/>
          <a:lstStyle/>
          <a:p>
            <a:pPr indent="0" marL="0">
              <a:buNone/>
            </a:pPr>
            <a:r>
              <a:rPr lang="en-US" sz="1600" b="1" dirty="0">
                <a:solidFill>
                  <a:srgbClr val="0F6E66"/>
                </a:solidFill>
                <a:latin typeface="Calibri" pitchFamily="34" charset="0"/>
                <a:ea typeface="Calibri" pitchFamily="34" charset="-122"/>
                <a:cs typeface="Calibri" pitchFamily="34" charset="-120"/>
              </a:rPr>
              <a:t>Tests</a:t>
            </a:r>
            <a:endParaRPr lang="en-US" sz="1600" dirty="0"/>
          </a:p>
        </p:txBody>
      </p:sp>
      <p:sp>
        <p:nvSpPr>
          <p:cNvPr id="6" name="Text 4"/>
          <p:cNvSpPr txBox="1"/>
          <p:nvPr/>
        </p:nvSpPr>
        <p:spPr>
          <a:xfrm>
            <a:off x="914400" y="2331720"/>
            <a:ext cx="4206240" cy="457200"/>
          </a:xfrm>
          <a:prstGeom prst="rect">
            <a:avLst/>
          </a:prstGeom>
          <a:noFill/>
          <a:ln/>
        </p:spPr>
        <p:txBody>
          <a:bodyPr wrap="square" lIns="0" tIns="0" rIns="0" bIns="0" rtlCol="0" anchor="t"/>
          <a:lstStyle/>
          <a:p>
            <a:pPr indent="0" marL="0">
              <a:buNone/>
            </a:pPr>
            <a:r>
              <a:rPr lang="en-US" sz="1300" dirty="0">
                <a:solidFill>
                  <a:srgbClr val="2B3138"/>
                </a:solidFill>
                <a:latin typeface="Calibri" pitchFamily="34" charset="0"/>
                <a:ea typeface="Calibri" pitchFamily="34" charset="-122"/>
                <a:cs typeface="Calibri" pitchFamily="34" charset="-120"/>
              </a:rPr>
              <a:t>Catch the failures somebody anticipated</a:t>
            </a:r>
            <a:endParaRPr lang="en-US" sz="1300" dirty="0"/>
          </a:p>
        </p:txBody>
      </p:sp>
      <p:sp>
        <p:nvSpPr>
          <p:cNvPr id="7" name="Text 5"/>
          <p:cNvSpPr txBox="1"/>
          <p:nvPr/>
        </p:nvSpPr>
        <p:spPr>
          <a:xfrm>
            <a:off x="5532120" y="2039112"/>
            <a:ext cx="5852160" cy="731520"/>
          </a:xfrm>
          <a:prstGeom prst="rect">
            <a:avLst/>
          </a:prstGeom>
          <a:noFill/>
          <a:ln/>
        </p:spPr>
        <p:txBody>
          <a:bodyPr wrap="square" lIns="0" tIns="0" rIns="0" bIns="0" rtlCol="0" anchor="ctr"/>
          <a:lstStyle/>
          <a:p>
            <a:pPr indent="0" marL="0">
              <a:lnSpc>
                <a:spcPct val="110000"/>
              </a:lnSpc>
              <a:buNone/>
            </a:pPr>
            <a:r>
              <a:rPr lang="en-US" sz="1350" dirty="0">
                <a:solidFill>
                  <a:srgbClr val="2B3138"/>
                </a:solidFill>
                <a:latin typeface="Calibri" pitchFamily="34" charset="0"/>
                <a:ea typeface="Calibri" pitchFamily="34" charset="-122"/>
                <a:cs typeface="Calibri" pitchFamily="34" charset="-120"/>
              </a:rPr>
              <a:t>CH8, plus CH12 / CH13</a:t>
            </a:r>
            <a:endParaRPr lang="en-US" sz="1350" dirty="0"/>
          </a:p>
        </p:txBody>
      </p:sp>
      <p:sp>
        <p:nvSpPr>
          <p:cNvPr id="8" name="Shape 6"/>
          <p:cNvSpPr/>
          <p:nvPr/>
        </p:nvSpPr>
        <p:spPr>
          <a:xfrm>
            <a:off x="594360" y="3108960"/>
            <a:ext cx="11000232" cy="1170432"/>
          </a:xfrm>
          <a:prstGeom prst="roundRect">
            <a:avLst>
              <a:gd name="adj" fmla="val 4688"/>
            </a:avLst>
          </a:prstGeom>
          <a:solidFill>
            <a:srgbClr val="F4F6F6"/>
          </a:solidFill>
          <a:ln w="12700">
            <a:solidFill>
              <a:srgbClr val="DFE3E6"/>
            </a:solidFill>
            <a:prstDash val="solid"/>
          </a:ln>
        </p:spPr>
      </p:sp>
      <p:sp>
        <p:nvSpPr>
          <p:cNvPr id="9" name="Text 7"/>
          <p:cNvSpPr txBox="1"/>
          <p:nvPr/>
        </p:nvSpPr>
        <p:spPr>
          <a:xfrm>
            <a:off x="914400" y="3273552"/>
            <a:ext cx="2743200" cy="365760"/>
          </a:xfrm>
          <a:prstGeom prst="rect">
            <a:avLst/>
          </a:prstGeom>
          <a:noFill/>
          <a:ln/>
        </p:spPr>
        <p:txBody>
          <a:bodyPr wrap="square" lIns="0" tIns="0" rIns="0" bIns="0" rtlCol="0" anchor="ctr"/>
          <a:lstStyle/>
          <a:p>
            <a:pPr indent="0" marL="0">
              <a:buNone/>
            </a:pPr>
            <a:r>
              <a:rPr lang="en-US" sz="1600" b="1" dirty="0">
                <a:solidFill>
                  <a:srgbClr val="0F6E66"/>
                </a:solidFill>
                <a:latin typeface="Calibri" pitchFamily="34" charset="0"/>
                <a:ea typeface="Calibri" pitchFamily="34" charset="-122"/>
                <a:cs typeface="Calibri" pitchFamily="34" charset="-120"/>
              </a:rPr>
              <a:t>Intent documentation</a:t>
            </a:r>
            <a:endParaRPr lang="en-US" sz="1600" dirty="0"/>
          </a:p>
        </p:txBody>
      </p:sp>
      <p:sp>
        <p:nvSpPr>
          <p:cNvPr id="10" name="Text 8"/>
          <p:cNvSpPr txBox="1"/>
          <p:nvPr/>
        </p:nvSpPr>
        <p:spPr>
          <a:xfrm>
            <a:off x="914400" y="3657600"/>
            <a:ext cx="4206240" cy="457200"/>
          </a:xfrm>
          <a:prstGeom prst="rect">
            <a:avLst/>
          </a:prstGeom>
          <a:noFill/>
          <a:ln/>
        </p:spPr>
        <p:txBody>
          <a:bodyPr wrap="square" lIns="0" tIns="0" rIns="0" bIns="0" rtlCol="0" anchor="t"/>
          <a:lstStyle/>
          <a:p>
            <a:pPr indent="0" marL="0">
              <a:buNone/>
            </a:pPr>
            <a:r>
              <a:rPr lang="en-US" sz="1300" dirty="0">
                <a:solidFill>
                  <a:srgbClr val="2B3138"/>
                </a:solidFill>
                <a:latin typeface="Calibri" pitchFamily="34" charset="0"/>
                <a:ea typeface="Calibri" pitchFamily="34" charset="-122"/>
                <a:cs typeface="Calibri" pitchFamily="34" charset="-120"/>
              </a:rPr>
              <a:t>Lets a stranger reason toward a fix nobody predicted</a:t>
            </a:r>
            <a:endParaRPr lang="en-US" sz="1300" dirty="0"/>
          </a:p>
        </p:txBody>
      </p:sp>
      <p:sp>
        <p:nvSpPr>
          <p:cNvPr id="11" name="Text 9"/>
          <p:cNvSpPr txBox="1"/>
          <p:nvPr/>
        </p:nvSpPr>
        <p:spPr>
          <a:xfrm>
            <a:off x="5532120" y="3364992"/>
            <a:ext cx="5852160" cy="731520"/>
          </a:xfrm>
          <a:prstGeom prst="rect">
            <a:avLst/>
          </a:prstGeom>
          <a:noFill/>
          <a:ln/>
        </p:spPr>
        <p:txBody>
          <a:bodyPr wrap="square" lIns="0" tIns="0" rIns="0" bIns="0" rtlCol="0" anchor="ctr"/>
          <a:lstStyle/>
          <a:p>
            <a:pPr indent="0" marL="0">
              <a:lnSpc>
                <a:spcPct val="110000"/>
              </a:lnSpc>
              <a:buNone/>
            </a:pPr>
            <a:r>
              <a:rPr lang="en-US" sz="1350" dirty="0">
                <a:solidFill>
                  <a:srgbClr val="2B3138"/>
                </a:solidFill>
                <a:latin typeface="Calibri" pitchFamily="34" charset="0"/>
                <a:ea typeface="Calibri" pitchFamily="34" charset="-122"/>
                <a:cs typeface="Calibri" pitchFamily="34" charset="-120"/>
              </a:rPr>
              <a:t>CH3 — retained documentation must name the maintenance question it answers</a:t>
            </a:r>
            <a:endParaRPr lang="en-US" sz="1350" dirty="0"/>
          </a:p>
        </p:txBody>
      </p:sp>
      <p:sp>
        <p:nvSpPr>
          <p:cNvPr id="12" name="Shape 10"/>
          <p:cNvSpPr/>
          <p:nvPr/>
        </p:nvSpPr>
        <p:spPr>
          <a:xfrm>
            <a:off x="594360" y="4434840"/>
            <a:ext cx="11000232" cy="1170432"/>
          </a:xfrm>
          <a:prstGeom prst="roundRect">
            <a:avLst>
              <a:gd name="adj" fmla="val 4688"/>
            </a:avLst>
          </a:prstGeom>
          <a:solidFill>
            <a:srgbClr val="F4F6F6"/>
          </a:solidFill>
          <a:ln w="12700">
            <a:solidFill>
              <a:srgbClr val="DFE3E6"/>
            </a:solidFill>
            <a:prstDash val="solid"/>
          </a:ln>
        </p:spPr>
      </p:sp>
      <p:sp>
        <p:nvSpPr>
          <p:cNvPr id="13" name="Text 11"/>
          <p:cNvSpPr txBox="1"/>
          <p:nvPr/>
        </p:nvSpPr>
        <p:spPr>
          <a:xfrm>
            <a:off x="914400" y="4599432"/>
            <a:ext cx="2743200" cy="365760"/>
          </a:xfrm>
          <a:prstGeom prst="rect">
            <a:avLst/>
          </a:prstGeom>
          <a:noFill/>
          <a:ln/>
        </p:spPr>
        <p:txBody>
          <a:bodyPr wrap="square" lIns="0" tIns="0" rIns="0" bIns="0" rtlCol="0" anchor="ctr"/>
          <a:lstStyle/>
          <a:p>
            <a:pPr indent="0" marL="0">
              <a:buNone/>
            </a:pPr>
            <a:r>
              <a:rPr lang="en-US" sz="1600" b="1" dirty="0">
                <a:solidFill>
                  <a:srgbClr val="A85A08"/>
                </a:solidFill>
                <a:latin typeface="Calibri" pitchFamily="34" charset="0"/>
                <a:ea typeface="Calibri" pitchFamily="34" charset="-122"/>
                <a:cs typeface="Calibri" pitchFamily="34" charset="-120"/>
              </a:rPr>
              <a:t>Observability</a:t>
            </a:r>
            <a:endParaRPr lang="en-US" sz="1600" dirty="0"/>
          </a:p>
        </p:txBody>
      </p:sp>
      <p:sp>
        <p:nvSpPr>
          <p:cNvPr id="14" name="Text 12"/>
          <p:cNvSpPr txBox="1"/>
          <p:nvPr/>
        </p:nvSpPr>
        <p:spPr>
          <a:xfrm>
            <a:off x="914400" y="4983480"/>
            <a:ext cx="4206240" cy="457200"/>
          </a:xfrm>
          <a:prstGeom prst="rect">
            <a:avLst/>
          </a:prstGeom>
          <a:noFill/>
          <a:ln/>
        </p:spPr>
        <p:txBody>
          <a:bodyPr wrap="square" lIns="0" tIns="0" rIns="0" bIns="0" rtlCol="0" anchor="t"/>
          <a:lstStyle/>
          <a:p>
            <a:pPr indent="0" marL="0">
              <a:buNone/>
            </a:pPr>
            <a:r>
              <a:rPr lang="en-US" sz="1300" dirty="0">
                <a:solidFill>
                  <a:srgbClr val="2B3138"/>
                </a:solidFill>
                <a:latin typeface="Calibri" pitchFamily="34" charset="0"/>
                <a:ea typeface="Calibri" pitchFamily="34" charset="-122"/>
                <a:cs typeface="Calibri" pitchFamily="34" charset="-120"/>
              </a:rPr>
              <a:t>Makes an unanticipated failure visible at all</a:t>
            </a:r>
            <a:endParaRPr lang="en-US" sz="1300" dirty="0"/>
          </a:p>
        </p:txBody>
      </p:sp>
      <p:sp>
        <p:nvSpPr>
          <p:cNvPr id="15" name="Text 13"/>
          <p:cNvSpPr txBox="1"/>
          <p:nvPr/>
        </p:nvSpPr>
        <p:spPr>
          <a:xfrm>
            <a:off x="5532120" y="4690872"/>
            <a:ext cx="5852160" cy="731520"/>
          </a:xfrm>
          <a:prstGeom prst="rect">
            <a:avLst/>
          </a:prstGeom>
          <a:noFill/>
          <a:ln/>
        </p:spPr>
        <p:txBody>
          <a:bodyPr wrap="square" lIns="0" tIns="0" rIns="0" bIns="0" rtlCol="0" anchor="ctr"/>
          <a:lstStyle/>
          <a:p>
            <a:pPr indent="0" marL="0">
              <a:lnSpc>
                <a:spcPct val="110000"/>
              </a:lnSpc>
              <a:buNone/>
            </a:pPr>
            <a:r>
              <a:rPr lang="en-US" sz="1350" dirty="0">
                <a:solidFill>
                  <a:srgbClr val="2B3138"/>
                </a:solidFill>
                <a:latin typeface="Calibri" pitchFamily="34" charset="0"/>
                <a:ea typeface="Calibri" pitchFamily="34" charset="-122"/>
                <a:cs typeface="Calibri" pitchFamily="34" charset="-120"/>
              </a:rPr>
              <a:t>CH4 — every non-functional requirement must name a runtime signal</a:t>
            </a:r>
            <a:endParaRPr lang="en-US" sz="1350" dirty="0"/>
          </a:p>
        </p:txBody>
      </p:sp>
      <p:sp>
        <p:nvSpPr>
          <p:cNvPr id="16" name="Text 14"/>
          <p:cNvSpPr txBox="1"/>
          <p:nvPr/>
        </p:nvSpPr>
        <p:spPr>
          <a:xfrm>
            <a:off x="594360" y="5806440"/>
            <a:ext cx="11000232" cy="640080"/>
          </a:xfrm>
          <a:prstGeom prst="rect">
            <a:avLst/>
          </a:prstGeom>
          <a:noFill/>
          <a:ln/>
        </p:spPr>
        <p:txBody>
          <a:bodyPr wrap="square" lIns="0" tIns="0" rIns="0" bIns="0" rtlCol="0" anchor="t"/>
          <a:lstStyle/>
          <a:p>
            <a:pPr indent="0" marL="0">
              <a:lnSpc>
                <a:spcPct val="115000"/>
              </a:lnSpc>
              <a:buNone/>
            </a:pPr>
            <a:r>
              <a:rPr lang="en-US" sz="1300" i="1" dirty="0">
                <a:solidFill>
                  <a:srgbClr val="6E7781"/>
                </a:solidFill>
                <a:latin typeface="Calibri" pitchFamily="34" charset="0"/>
                <a:ea typeface="Calibri" pitchFamily="34" charset="-122"/>
                <a:cs typeface="Calibri" pitchFamily="34" charset="-120"/>
              </a:rPr>
              <a:t>Observability was listed as a gap in our own end-product document. It now enters the project as a requirement with a source and a verification method — not as something someone adds in Ch7 if there's time.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201168"/>
            <a:ext cx="11000232" cy="256032"/>
          </a:xfrm>
          <a:prstGeom prst="rect">
            <a:avLst/>
          </a:prstGeom>
          <a:noFill/>
          <a:ln/>
        </p:spPr>
        <p:txBody>
          <a:bodyPr wrap="square" lIns="0" tIns="0" rIns="0" bIns="0" rtlCol="0" anchor="ctr"/>
          <a:lstStyle/>
          <a:p>
            <a:pPr indent="0" marL="0">
              <a:buNone/>
            </a:pPr>
            <a:r>
              <a:rPr lang="en-US" sz="1100" b="1" spc="200" kern="0" dirty="0">
                <a:solidFill>
                  <a:srgbClr val="8C2F2F"/>
                </a:solidFill>
                <a:latin typeface="Calibri" pitchFamily="34" charset="0"/>
                <a:ea typeface="Calibri" pitchFamily="34" charset="-122"/>
                <a:cs typeface="Calibri" pitchFamily="34" charset="-120"/>
              </a:rPr>
              <a:t>HONEST CONCERNS</a:t>
            </a:r>
            <a:endParaRPr lang="en-US" sz="1100" dirty="0"/>
          </a:p>
        </p:txBody>
      </p:sp>
      <p:sp>
        <p:nvSpPr>
          <p:cNvPr id="3" name="Text 1"/>
          <p:cNvSpPr txBox="1"/>
          <p:nvPr/>
        </p:nvSpPr>
        <p:spPr>
          <a:xfrm>
            <a:off x="594360" y="457200"/>
            <a:ext cx="11000232" cy="777240"/>
          </a:xfrm>
          <a:prstGeom prst="rect">
            <a:avLst/>
          </a:prstGeom>
          <a:noFill/>
          <a:ln/>
        </p:spPr>
        <p:txBody>
          <a:bodyPr wrap="square" lIns="0" tIns="0" rIns="0" bIns="0" rtlCol="0" anchor="ctr"/>
          <a:lstStyle/>
          <a:p>
            <a:pPr indent="0" marL="0">
              <a:buNone/>
            </a:pPr>
            <a:r>
              <a:rPr lang="en-US" sz="3400" b="1" dirty="0">
                <a:solidFill>
                  <a:srgbClr val="1C2128"/>
                </a:solidFill>
                <a:latin typeface="Cambria" pitchFamily="34" charset="0"/>
                <a:ea typeface="Cambria" pitchFamily="34" charset="-122"/>
                <a:cs typeface="Cambria" pitchFamily="34" charset="-120"/>
              </a:rPr>
              <a:t>What I expect to break</a:t>
            </a:r>
            <a:endParaRPr lang="en-US" sz="3400" dirty="0"/>
          </a:p>
        </p:txBody>
      </p:sp>
      <p:sp>
        <p:nvSpPr>
          <p:cNvPr id="4" name="Shape 2"/>
          <p:cNvSpPr/>
          <p:nvPr/>
        </p:nvSpPr>
        <p:spPr>
          <a:xfrm>
            <a:off x="594360" y="1883664"/>
            <a:ext cx="118872" cy="640080"/>
          </a:xfrm>
          <a:prstGeom prst="roundRect">
            <a:avLst>
              <a:gd name="adj" fmla="val 38462"/>
            </a:avLst>
          </a:prstGeom>
          <a:solidFill>
            <a:srgbClr val="8C2F2F"/>
          </a:solidFill>
          <a:ln w="12700">
            <a:solidFill>
              <a:srgbClr val="8C2F2F"/>
            </a:solidFill>
            <a:prstDash val="solid"/>
          </a:ln>
        </p:spPr>
      </p:sp>
      <p:sp>
        <p:nvSpPr>
          <p:cNvPr id="5" name="Text 3"/>
          <p:cNvSpPr txBox="1"/>
          <p:nvPr/>
        </p:nvSpPr>
        <p:spPr>
          <a:xfrm>
            <a:off x="960120" y="1828800"/>
            <a:ext cx="4297680" cy="822960"/>
          </a:xfrm>
          <a:prstGeom prst="rect">
            <a:avLst/>
          </a:prstGeom>
          <a:noFill/>
          <a:ln/>
        </p:spPr>
        <p:txBody>
          <a:bodyPr wrap="square" lIns="0" tIns="0" rIns="0" bIns="0" rtlCol="0" anchor="t"/>
          <a:lstStyle/>
          <a:p>
            <a:pPr indent="0" marL="0">
              <a:lnSpc>
                <a:spcPct val="110000"/>
              </a:lnSpc>
              <a:buNone/>
            </a:pPr>
            <a:r>
              <a:rPr lang="en-US" sz="1450" b="1" dirty="0">
                <a:solidFill>
                  <a:srgbClr val="1C2128"/>
                </a:solidFill>
                <a:latin typeface="Calibri" pitchFamily="34" charset="0"/>
                <a:ea typeface="Calibri" pitchFamily="34" charset="-122"/>
                <a:cs typeface="Calibri" pitchFamily="34" charset="-120"/>
              </a:rPr>
              <a:t>Provenance labels drift optimistic</a:t>
            </a:r>
            <a:endParaRPr lang="en-US" sz="1450" dirty="0"/>
          </a:p>
        </p:txBody>
      </p:sp>
      <p:sp>
        <p:nvSpPr>
          <p:cNvPr id="6" name="Text 4"/>
          <p:cNvSpPr txBox="1"/>
          <p:nvPr/>
        </p:nvSpPr>
        <p:spPr>
          <a:xfrm>
            <a:off x="5440680" y="1828800"/>
            <a:ext cx="6126480" cy="914400"/>
          </a:xfrm>
          <a:prstGeom prst="rect">
            <a:avLst/>
          </a:prstGeom>
          <a:noFill/>
          <a:ln/>
        </p:spPr>
        <p:txBody>
          <a:bodyPr wrap="square" lIns="0" tIns="0" rIns="0" bIns="0" rtlCol="0" anchor="t"/>
          <a:lstStyle/>
          <a:p>
            <a:pPr indent="0" marL="0">
              <a:lnSpc>
                <a:spcPct val="112000"/>
              </a:lnSpc>
              <a:buNone/>
            </a:pPr>
            <a:r>
              <a:rPr lang="en-US" sz="1350" dirty="0">
                <a:solidFill>
                  <a:srgbClr val="2B3138"/>
                </a:solidFill>
                <a:latin typeface="Calibri" pitchFamily="34" charset="0"/>
                <a:ea typeface="Calibri" pitchFamily="34" charset="-122"/>
                <a:cs typeface="Calibri" pitchFamily="34" charset="-120"/>
              </a:rPr>
              <a:t>In a long document the discipline decays and PROPOSED items start appearing as DERIVED. There's an audit pass for it. Expect it anyway.</a:t>
            </a:r>
            <a:endParaRPr lang="en-US" sz="1350" dirty="0"/>
          </a:p>
        </p:txBody>
      </p:sp>
      <p:sp>
        <p:nvSpPr>
          <p:cNvPr id="7" name="Shape 5"/>
          <p:cNvSpPr/>
          <p:nvPr/>
        </p:nvSpPr>
        <p:spPr>
          <a:xfrm>
            <a:off x="594360" y="2999232"/>
            <a:ext cx="118872" cy="640080"/>
          </a:xfrm>
          <a:prstGeom prst="roundRect">
            <a:avLst>
              <a:gd name="adj" fmla="val 38462"/>
            </a:avLst>
          </a:prstGeom>
          <a:solidFill>
            <a:srgbClr val="8C2F2F"/>
          </a:solidFill>
          <a:ln w="12700">
            <a:solidFill>
              <a:srgbClr val="8C2F2F"/>
            </a:solidFill>
            <a:prstDash val="solid"/>
          </a:ln>
        </p:spPr>
      </p:sp>
      <p:sp>
        <p:nvSpPr>
          <p:cNvPr id="8" name="Text 6"/>
          <p:cNvSpPr txBox="1"/>
          <p:nvPr/>
        </p:nvSpPr>
        <p:spPr>
          <a:xfrm>
            <a:off x="960120" y="2944368"/>
            <a:ext cx="4297680" cy="822960"/>
          </a:xfrm>
          <a:prstGeom prst="rect">
            <a:avLst/>
          </a:prstGeom>
          <a:noFill/>
          <a:ln/>
        </p:spPr>
        <p:txBody>
          <a:bodyPr wrap="square" lIns="0" tIns="0" rIns="0" bIns="0" rtlCol="0" anchor="t"/>
          <a:lstStyle/>
          <a:p>
            <a:pPr indent="0" marL="0">
              <a:lnSpc>
                <a:spcPct val="110000"/>
              </a:lnSpc>
              <a:buNone/>
            </a:pPr>
            <a:r>
              <a:rPr lang="en-US" sz="1450" b="1" dirty="0">
                <a:solidFill>
                  <a:srgbClr val="1C2128"/>
                </a:solidFill>
                <a:latin typeface="Calibri" pitchFamily="34" charset="0"/>
                <a:ea typeface="Calibri" pitchFamily="34" charset="-122"/>
                <a:cs typeface="Calibri" pitchFamily="34" charset="-120"/>
              </a:rPr>
              <a:t>The non-functional sweep is uneven</a:t>
            </a:r>
            <a:endParaRPr lang="en-US" sz="1450" dirty="0"/>
          </a:p>
        </p:txBody>
      </p:sp>
      <p:sp>
        <p:nvSpPr>
          <p:cNvPr id="9" name="Text 7"/>
          <p:cNvSpPr txBox="1"/>
          <p:nvPr/>
        </p:nvSpPr>
        <p:spPr>
          <a:xfrm>
            <a:off x="5440680" y="2944368"/>
            <a:ext cx="6126480" cy="914400"/>
          </a:xfrm>
          <a:prstGeom prst="rect">
            <a:avLst/>
          </a:prstGeom>
          <a:noFill/>
          <a:ln/>
        </p:spPr>
        <p:txBody>
          <a:bodyPr wrap="square" lIns="0" tIns="0" rIns="0" bIns="0" rtlCol="0" anchor="t"/>
          <a:lstStyle/>
          <a:p>
            <a:pPr indent="0" marL="0">
              <a:lnSpc>
                <a:spcPct val="112000"/>
              </a:lnSpc>
              <a:buNone/>
            </a:pPr>
            <a:r>
              <a:rPr lang="en-US" sz="1350" dirty="0">
                <a:solidFill>
                  <a:srgbClr val="2B3138"/>
                </a:solidFill>
                <a:latin typeface="Calibri" pitchFamily="34" charset="0"/>
                <a:ea typeface="Calibri" pitchFamily="34" charset="-122"/>
                <a:cs typeface="Calibri" pitchFamily="34" charset="-120"/>
              </a:rPr>
              <a:t>Models reliably produce performance and security requirements and reliably omit organizational and ethical ones.</a:t>
            </a:r>
            <a:endParaRPr lang="en-US" sz="1350" dirty="0"/>
          </a:p>
        </p:txBody>
      </p:sp>
      <p:sp>
        <p:nvSpPr>
          <p:cNvPr id="10" name="Shape 8"/>
          <p:cNvSpPr/>
          <p:nvPr/>
        </p:nvSpPr>
        <p:spPr>
          <a:xfrm>
            <a:off x="594360" y="4114800"/>
            <a:ext cx="118872" cy="640080"/>
          </a:xfrm>
          <a:prstGeom prst="roundRect">
            <a:avLst>
              <a:gd name="adj" fmla="val 38462"/>
            </a:avLst>
          </a:prstGeom>
          <a:solidFill>
            <a:srgbClr val="8C2F2F"/>
          </a:solidFill>
          <a:ln w="12700">
            <a:solidFill>
              <a:srgbClr val="8C2F2F"/>
            </a:solidFill>
            <a:prstDash val="solid"/>
          </a:ln>
        </p:spPr>
      </p:sp>
      <p:sp>
        <p:nvSpPr>
          <p:cNvPr id="11" name="Text 9"/>
          <p:cNvSpPr txBox="1"/>
          <p:nvPr/>
        </p:nvSpPr>
        <p:spPr>
          <a:xfrm>
            <a:off x="960120" y="4059936"/>
            <a:ext cx="4297680" cy="822960"/>
          </a:xfrm>
          <a:prstGeom prst="rect">
            <a:avLst/>
          </a:prstGeom>
          <a:noFill/>
          <a:ln/>
        </p:spPr>
        <p:txBody>
          <a:bodyPr wrap="square" lIns="0" tIns="0" rIns="0" bIns="0" rtlCol="0" anchor="t"/>
          <a:lstStyle/>
          <a:p>
            <a:pPr indent="0" marL="0">
              <a:lnSpc>
                <a:spcPct val="110000"/>
              </a:lnSpc>
              <a:buNone/>
            </a:pPr>
            <a:r>
              <a:rPr lang="en-US" sz="1450" b="1" dirty="0">
                <a:solidFill>
                  <a:srgbClr val="1C2128"/>
                </a:solidFill>
                <a:latin typeface="Calibri" pitchFamily="34" charset="0"/>
                <a:ea typeface="Calibri" pitchFamily="34" charset="-122"/>
                <a:cs typeface="Calibri" pitchFamily="34" charset="-120"/>
              </a:rPr>
              <a:t>Domain assumptions are confidently wrong</a:t>
            </a:r>
            <a:endParaRPr lang="en-US" sz="1450" dirty="0"/>
          </a:p>
        </p:txBody>
      </p:sp>
      <p:sp>
        <p:nvSpPr>
          <p:cNvPr id="12" name="Text 10"/>
          <p:cNvSpPr txBox="1"/>
          <p:nvPr/>
        </p:nvSpPr>
        <p:spPr>
          <a:xfrm>
            <a:off x="5440680" y="4059936"/>
            <a:ext cx="6126480" cy="914400"/>
          </a:xfrm>
          <a:prstGeom prst="rect">
            <a:avLst/>
          </a:prstGeom>
          <a:noFill/>
          <a:ln/>
        </p:spPr>
        <p:txBody>
          <a:bodyPr wrap="square" lIns="0" tIns="0" rIns="0" bIns="0" rtlCol="0" anchor="t"/>
          <a:lstStyle/>
          <a:p>
            <a:pPr indent="0" marL="0">
              <a:lnSpc>
                <a:spcPct val="112000"/>
              </a:lnSpc>
              <a:buNone/>
            </a:pPr>
            <a:r>
              <a:rPr lang="en-US" sz="1350" dirty="0">
                <a:solidFill>
                  <a:srgbClr val="2B3138"/>
                </a:solidFill>
                <a:latin typeface="Calibri" pitchFamily="34" charset="0"/>
                <a:ea typeface="Calibri" pitchFamily="34" charset="-122"/>
                <a:cs typeface="Calibri" pitchFamily="34" charset="-120"/>
              </a:rPr>
              <a:t>This is where an agent is least reliable and most certain. If nobody knows the domain, nobody catches it.</a:t>
            </a:r>
            <a:endParaRPr lang="en-US" sz="1350" dirty="0"/>
          </a:p>
        </p:txBody>
      </p:sp>
      <p:sp>
        <p:nvSpPr>
          <p:cNvPr id="13" name="Shape 11"/>
          <p:cNvSpPr/>
          <p:nvPr/>
        </p:nvSpPr>
        <p:spPr>
          <a:xfrm>
            <a:off x="594360" y="5230368"/>
            <a:ext cx="118872" cy="640080"/>
          </a:xfrm>
          <a:prstGeom prst="roundRect">
            <a:avLst>
              <a:gd name="adj" fmla="val 38462"/>
            </a:avLst>
          </a:prstGeom>
          <a:solidFill>
            <a:srgbClr val="8C2F2F"/>
          </a:solidFill>
          <a:ln w="12700">
            <a:solidFill>
              <a:srgbClr val="8C2F2F"/>
            </a:solidFill>
            <a:prstDash val="solid"/>
          </a:ln>
        </p:spPr>
      </p:sp>
      <p:sp>
        <p:nvSpPr>
          <p:cNvPr id="14" name="Text 12"/>
          <p:cNvSpPr txBox="1"/>
          <p:nvPr/>
        </p:nvSpPr>
        <p:spPr>
          <a:xfrm>
            <a:off x="960120" y="5175504"/>
            <a:ext cx="4297680" cy="822960"/>
          </a:xfrm>
          <a:prstGeom prst="rect">
            <a:avLst/>
          </a:prstGeom>
          <a:noFill/>
          <a:ln/>
        </p:spPr>
        <p:txBody>
          <a:bodyPr wrap="square" lIns="0" tIns="0" rIns="0" bIns="0" rtlCol="0" anchor="t"/>
          <a:lstStyle/>
          <a:p>
            <a:pPr indent="0" marL="0">
              <a:lnSpc>
                <a:spcPct val="110000"/>
              </a:lnSpc>
              <a:buNone/>
            </a:pPr>
            <a:r>
              <a:rPr lang="en-US" sz="1450" b="1" dirty="0">
                <a:solidFill>
                  <a:srgbClr val="1C2128"/>
                </a:solidFill>
                <a:latin typeface="Calibri" pitchFamily="34" charset="0"/>
                <a:ea typeface="Calibri" pitchFamily="34" charset="-122"/>
                <a:cs typeface="Calibri" pitchFamily="34" charset="-120"/>
              </a:rPr>
              <a:t>No customer means a third of Ch3 collapses</a:t>
            </a:r>
            <a:endParaRPr lang="en-US" sz="1450" dirty="0"/>
          </a:p>
        </p:txBody>
      </p:sp>
      <p:sp>
        <p:nvSpPr>
          <p:cNvPr id="15" name="Text 13"/>
          <p:cNvSpPr txBox="1"/>
          <p:nvPr/>
        </p:nvSpPr>
        <p:spPr>
          <a:xfrm>
            <a:off x="5440680" y="5175504"/>
            <a:ext cx="6126480" cy="914400"/>
          </a:xfrm>
          <a:prstGeom prst="rect">
            <a:avLst/>
          </a:prstGeom>
          <a:noFill/>
          <a:ln/>
        </p:spPr>
        <p:txBody>
          <a:bodyPr wrap="square" lIns="0" tIns="0" rIns="0" bIns="0" rtlCol="0" anchor="t"/>
          <a:lstStyle/>
          <a:p>
            <a:pPr indent="0" marL="0">
              <a:lnSpc>
                <a:spcPct val="112000"/>
              </a:lnSpc>
              <a:buNone/>
            </a:pPr>
            <a:r>
              <a:rPr lang="en-US" sz="1350" dirty="0">
                <a:solidFill>
                  <a:srgbClr val="2B3138"/>
                </a:solidFill>
                <a:latin typeface="Calibri" pitchFamily="34" charset="0"/>
                <a:ea typeface="Calibri" pitchFamily="34" charset="-122"/>
                <a:cs typeface="Calibri" pitchFamily="34" charset="-120"/>
              </a:rPr>
              <a:t>Roughly a third of the practice list depends on someone being available to prioritize and accept.</a:t>
            </a:r>
            <a:endParaRPr lang="en-US" sz="1350" dirty="0"/>
          </a:p>
        </p:txBody>
      </p:sp>
      <p:sp>
        <p:nvSpPr>
          <p:cNvPr id="16" name="Text 14"/>
          <p:cNvSpPr txBox="1"/>
          <p:nvPr/>
        </p:nvSpPr>
        <p:spPr>
          <a:xfrm>
            <a:off x="594360" y="6080760"/>
            <a:ext cx="11000232" cy="457200"/>
          </a:xfrm>
          <a:prstGeom prst="rect">
            <a:avLst/>
          </a:prstGeom>
          <a:noFill/>
          <a:ln/>
        </p:spPr>
        <p:txBody>
          <a:bodyPr wrap="square" lIns="0" tIns="0" rIns="0" bIns="0" rtlCol="0" anchor="ctr"/>
          <a:lstStyle/>
          <a:p>
            <a:pPr indent="0" marL="0">
              <a:buNone/>
            </a:pPr>
            <a:r>
              <a:rPr lang="en-US" sz="1400" i="1" dirty="0">
                <a:solidFill>
                  <a:srgbClr val="6E7781"/>
                </a:solidFill>
                <a:latin typeface="Calibri" pitchFamily="34" charset="0"/>
                <a:ea typeface="Calibri" pitchFamily="34" charset="-122"/>
                <a:cs typeface="Calibri" pitchFamily="34" charset="-120"/>
              </a:rPr>
              <a:t>Naming these now is the point. In Week 13 they become findings instead of surprises.</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201168"/>
            <a:ext cx="11000232" cy="256032"/>
          </a:xfrm>
          <a:prstGeom prst="rect">
            <a:avLst/>
          </a:prstGeom>
          <a:noFill/>
          <a:ln/>
        </p:spPr>
        <p:txBody>
          <a:bodyPr wrap="square" lIns="0" tIns="0" rIns="0" bIns="0" rtlCol="0" anchor="ctr"/>
          <a:lstStyle/>
          <a:p>
            <a:pPr indent="0" marL="0">
              <a:buNone/>
            </a:pPr>
            <a:r>
              <a:rPr lang="en-US" sz="1100" b="1" spc="200" kern="0" dirty="0">
                <a:solidFill>
                  <a:srgbClr val="0F6E66"/>
                </a:solidFill>
                <a:latin typeface="Calibri" pitchFamily="34" charset="0"/>
                <a:ea typeface="Calibri" pitchFamily="34" charset="-122"/>
                <a:cs typeface="Calibri" pitchFamily="34" charset="-120"/>
              </a:rPr>
              <a:t>WHAT THE COLD TEST ACTUALLY MEASURES</a:t>
            </a:r>
            <a:endParaRPr lang="en-US" sz="1100" dirty="0"/>
          </a:p>
        </p:txBody>
      </p:sp>
      <p:sp>
        <p:nvSpPr>
          <p:cNvPr id="3" name="Text 1"/>
          <p:cNvSpPr txBox="1"/>
          <p:nvPr/>
        </p:nvSpPr>
        <p:spPr>
          <a:xfrm>
            <a:off x="594360" y="457200"/>
            <a:ext cx="11000232" cy="777240"/>
          </a:xfrm>
          <a:prstGeom prst="rect">
            <a:avLst/>
          </a:prstGeom>
          <a:noFill/>
          <a:ln/>
        </p:spPr>
        <p:txBody>
          <a:bodyPr wrap="square" lIns="0" tIns="0" rIns="0" bIns="0" rtlCol="0" anchor="ctr"/>
          <a:lstStyle/>
          <a:p>
            <a:pPr indent="0" marL="0">
              <a:buNone/>
            </a:pPr>
            <a:r>
              <a:rPr lang="en-US" sz="3400" b="1" dirty="0">
                <a:solidFill>
                  <a:srgbClr val="1C2128"/>
                </a:solidFill>
                <a:latin typeface="Cambria" pitchFamily="34" charset="0"/>
                <a:ea typeface="Cambria" pitchFamily="34" charset="-122"/>
                <a:cs typeface="Cambria" pitchFamily="34" charset="-120"/>
              </a:rPr>
              <a:t>Three things to watch in Week 13</a:t>
            </a:r>
            <a:endParaRPr lang="en-US" sz="3400" dirty="0"/>
          </a:p>
        </p:txBody>
      </p:sp>
      <p:sp>
        <p:nvSpPr>
          <p:cNvPr id="4" name="Shape 2"/>
          <p:cNvSpPr/>
          <p:nvPr/>
        </p:nvSpPr>
        <p:spPr>
          <a:xfrm>
            <a:off x="594360" y="1783080"/>
            <a:ext cx="548640" cy="548640"/>
          </a:xfrm>
          <a:prstGeom prst="roundRect">
            <a:avLst>
              <a:gd name="adj" fmla="val 50000"/>
            </a:avLst>
          </a:prstGeom>
          <a:solidFill>
            <a:srgbClr val="1C2128"/>
          </a:solidFill>
          <a:ln w="12700">
            <a:solidFill>
              <a:srgbClr val="1C2128"/>
            </a:solidFill>
            <a:prstDash val="solid"/>
          </a:ln>
        </p:spPr>
      </p:sp>
      <p:sp>
        <p:nvSpPr>
          <p:cNvPr id="5" name="Text 3"/>
          <p:cNvSpPr txBox="1"/>
          <p:nvPr/>
        </p:nvSpPr>
        <p:spPr>
          <a:xfrm>
            <a:off x="594360" y="17830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417320" y="1783080"/>
            <a:ext cx="10058400" cy="411480"/>
          </a:xfrm>
          <a:prstGeom prst="rect">
            <a:avLst/>
          </a:prstGeom>
          <a:noFill/>
          <a:ln/>
        </p:spPr>
        <p:txBody>
          <a:bodyPr wrap="square" lIns="0" tIns="0" rIns="0" bIns="0" rtlCol="0" anchor="ctr"/>
          <a:lstStyle/>
          <a:p>
            <a:pPr indent="0" marL="0">
              <a:buNone/>
            </a:pPr>
            <a:r>
              <a:rPr lang="en-US" sz="1700" b="1" dirty="0">
                <a:solidFill>
                  <a:srgbClr val="1C2128"/>
                </a:solidFill>
                <a:latin typeface="Calibri" pitchFamily="34" charset="0"/>
                <a:ea typeface="Calibri" pitchFamily="34" charset="-122"/>
                <a:cs typeface="Calibri" pitchFamily="34" charset="-120"/>
              </a:rPr>
              <a:t>Does SPECTRUM_MISMATCH ever fire?</a:t>
            </a:r>
            <a:endParaRPr lang="en-US" sz="1700" dirty="0"/>
          </a:p>
        </p:txBody>
      </p:sp>
      <p:sp>
        <p:nvSpPr>
          <p:cNvPr id="7" name="Text 5"/>
          <p:cNvSpPr txBox="1"/>
          <p:nvPr/>
        </p:nvSpPr>
        <p:spPr>
          <a:xfrm>
            <a:off x="1417320" y="2221992"/>
            <a:ext cx="10058400" cy="731520"/>
          </a:xfrm>
          <a:prstGeom prst="rect">
            <a:avLst/>
          </a:prstGeom>
          <a:noFill/>
          <a:ln/>
        </p:spPr>
        <p:txBody>
          <a:bodyPr wrap="square" lIns="0" tIns="0" rIns="0" bIns="0" rtlCol="0" anchor="t"/>
          <a:lstStyle/>
          <a:p>
            <a:pPr indent="0" marL="0">
              <a:lnSpc>
                <a:spcPct val="115000"/>
              </a:lnSpc>
              <a:buNone/>
            </a:pPr>
            <a:r>
              <a:rPr lang="en-US" sz="1400" dirty="0">
                <a:solidFill>
                  <a:srgbClr val="2B3138"/>
                </a:solidFill>
                <a:latin typeface="Calibri" pitchFamily="34" charset="0"/>
                <a:ea typeface="Calibri" pitchFamily="34" charset="-122"/>
                <a:cs typeface="Calibri" pitchFamily="34" charset="-120"/>
              </a:rPr>
              <a:t>If no team's Ch3 ever contradicts its Ch2, either Ch2 is doing more work than we think or Ch3 is deferring instead of auditing.</a:t>
            </a:r>
            <a:endParaRPr lang="en-US" sz="1400" dirty="0"/>
          </a:p>
        </p:txBody>
      </p:sp>
      <p:sp>
        <p:nvSpPr>
          <p:cNvPr id="8" name="Shape 6"/>
          <p:cNvSpPr/>
          <p:nvPr/>
        </p:nvSpPr>
        <p:spPr>
          <a:xfrm>
            <a:off x="594360" y="3246120"/>
            <a:ext cx="548640" cy="548640"/>
          </a:xfrm>
          <a:prstGeom prst="roundRect">
            <a:avLst>
              <a:gd name="adj" fmla="val 50000"/>
            </a:avLst>
          </a:prstGeom>
          <a:solidFill>
            <a:srgbClr val="1C2128"/>
          </a:solidFill>
          <a:ln w="12700">
            <a:solidFill>
              <a:srgbClr val="1C2128"/>
            </a:solidFill>
            <a:prstDash val="solid"/>
          </a:ln>
        </p:spPr>
      </p:sp>
      <p:sp>
        <p:nvSpPr>
          <p:cNvPr id="9" name="Text 7"/>
          <p:cNvSpPr txBox="1"/>
          <p:nvPr/>
        </p:nvSpPr>
        <p:spPr>
          <a:xfrm>
            <a:off x="594360" y="32461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1417320" y="3246120"/>
            <a:ext cx="10058400" cy="411480"/>
          </a:xfrm>
          <a:prstGeom prst="rect">
            <a:avLst/>
          </a:prstGeom>
          <a:noFill/>
          <a:ln/>
        </p:spPr>
        <p:txBody>
          <a:bodyPr wrap="square" lIns="0" tIns="0" rIns="0" bIns="0" rtlCol="0" anchor="ctr"/>
          <a:lstStyle/>
          <a:p>
            <a:pPr indent="0" marL="0">
              <a:buNone/>
            </a:pPr>
            <a:r>
              <a:rPr lang="en-US" sz="1700" b="1" dirty="0">
                <a:solidFill>
                  <a:srgbClr val="1C2128"/>
                </a:solidFill>
                <a:latin typeface="Calibri" pitchFamily="34" charset="0"/>
                <a:ea typeface="Calibri" pitchFamily="34" charset="-122"/>
                <a:cs typeface="Calibri" pitchFamily="34" charset="-120"/>
              </a:rPr>
              <a:t>What is the confirmed_fraction on an unfamiliar domain?</a:t>
            </a:r>
            <a:endParaRPr lang="en-US" sz="1700" dirty="0"/>
          </a:p>
        </p:txBody>
      </p:sp>
      <p:sp>
        <p:nvSpPr>
          <p:cNvPr id="11" name="Text 9"/>
          <p:cNvSpPr txBox="1"/>
          <p:nvPr/>
        </p:nvSpPr>
        <p:spPr>
          <a:xfrm>
            <a:off x="1417320" y="3685032"/>
            <a:ext cx="10058400" cy="731520"/>
          </a:xfrm>
          <a:prstGeom prst="rect">
            <a:avLst/>
          </a:prstGeom>
          <a:noFill/>
          <a:ln/>
        </p:spPr>
        <p:txBody>
          <a:bodyPr wrap="square" lIns="0" tIns="0" rIns="0" bIns="0" rtlCol="0" anchor="t"/>
          <a:lstStyle/>
          <a:p>
            <a:pPr indent="0" marL="0">
              <a:lnSpc>
                <a:spcPct val="115000"/>
              </a:lnSpc>
              <a:buNone/>
            </a:pPr>
            <a:r>
              <a:rPr lang="en-US" sz="1400" dirty="0">
                <a:solidFill>
                  <a:srgbClr val="2B3138"/>
                </a:solidFill>
                <a:latin typeface="Calibri" pitchFamily="34" charset="0"/>
                <a:ea typeface="Calibri" pitchFamily="34" charset="-122"/>
                <a:cs typeface="Calibri" pitchFamily="34" charset="-120"/>
              </a:rPr>
              <a:t>It should be low, and the document should say so. A high number on a domain nobody knows is a red flag, not a success.</a:t>
            </a:r>
            <a:endParaRPr lang="en-US" sz="1400" dirty="0"/>
          </a:p>
        </p:txBody>
      </p:sp>
      <p:sp>
        <p:nvSpPr>
          <p:cNvPr id="12" name="Shape 10"/>
          <p:cNvSpPr/>
          <p:nvPr/>
        </p:nvSpPr>
        <p:spPr>
          <a:xfrm>
            <a:off x="594360" y="4709160"/>
            <a:ext cx="548640" cy="548640"/>
          </a:xfrm>
          <a:prstGeom prst="roundRect">
            <a:avLst>
              <a:gd name="adj" fmla="val 50000"/>
            </a:avLst>
          </a:prstGeom>
          <a:solidFill>
            <a:srgbClr val="1C2128"/>
          </a:solidFill>
          <a:ln w="12700">
            <a:solidFill>
              <a:srgbClr val="1C2128"/>
            </a:solidFill>
            <a:prstDash val="solid"/>
          </a:ln>
        </p:spPr>
      </p:sp>
      <p:sp>
        <p:nvSpPr>
          <p:cNvPr id="13" name="Text 11"/>
          <p:cNvSpPr txBox="1"/>
          <p:nvPr/>
        </p:nvSpPr>
        <p:spPr>
          <a:xfrm>
            <a:off x="594360" y="47091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1417320" y="4709160"/>
            <a:ext cx="10058400" cy="411480"/>
          </a:xfrm>
          <a:prstGeom prst="rect">
            <a:avLst/>
          </a:prstGeom>
          <a:noFill/>
          <a:ln/>
        </p:spPr>
        <p:txBody>
          <a:bodyPr wrap="square" lIns="0" tIns="0" rIns="0" bIns="0" rtlCol="0" anchor="ctr"/>
          <a:lstStyle/>
          <a:p>
            <a:pPr indent="0" marL="0">
              <a:buNone/>
            </a:pPr>
            <a:r>
              <a:rPr lang="en-US" sz="1700" b="1" dirty="0">
                <a:solidFill>
                  <a:srgbClr val="1C2128"/>
                </a:solidFill>
                <a:latin typeface="Calibri" pitchFamily="34" charset="0"/>
                <a:ea typeface="Calibri" pitchFamily="34" charset="-122"/>
                <a:cs typeface="Calibri" pitchFamily="34" charset="-120"/>
              </a:rPr>
              <a:t>Can a stranger fix it?</a:t>
            </a:r>
            <a:endParaRPr lang="en-US" sz="1700" dirty="0"/>
          </a:p>
        </p:txBody>
      </p:sp>
      <p:sp>
        <p:nvSpPr>
          <p:cNvPr id="15" name="Text 13"/>
          <p:cNvSpPr txBox="1"/>
          <p:nvPr/>
        </p:nvSpPr>
        <p:spPr>
          <a:xfrm>
            <a:off x="1417320" y="5148072"/>
            <a:ext cx="10058400" cy="731520"/>
          </a:xfrm>
          <a:prstGeom prst="rect">
            <a:avLst/>
          </a:prstGeom>
          <a:noFill/>
          <a:ln/>
        </p:spPr>
        <p:txBody>
          <a:bodyPr wrap="square" lIns="0" tIns="0" rIns="0" bIns="0" rtlCol="0" anchor="t"/>
          <a:lstStyle/>
          <a:p>
            <a:pPr indent="0" marL="0">
              <a:lnSpc>
                <a:spcPct val="115000"/>
              </a:lnSpc>
              <a:buNone/>
            </a:pPr>
            <a:r>
              <a:rPr lang="en-US" sz="1400" dirty="0">
                <a:solidFill>
                  <a:srgbClr val="2B3138"/>
                </a:solidFill>
                <a:latin typeface="Calibri" pitchFamily="34" charset="0"/>
                <a:ea typeface="Calibri" pitchFamily="34" charset="-122"/>
                <a:cs typeface="Calibri" pitchFamily="34" charset="-120"/>
              </a:rPr>
              <a:t>The handoff drill: another team's codebase, an unanticipated failure, and only our documentation and logs to work from.</a:t>
            </a:r>
            <a:endParaRPr lang="en-US" sz="1400" dirty="0"/>
          </a:p>
        </p:txBody>
      </p:sp>
      <p:sp>
        <p:nvSpPr>
          <p:cNvPr id="16" name="Text 14"/>
          <p:cNvSpPr txBox="1"/>
          <p:nvPr/>
        </p:nvSpPr>
        <p:spPr>
          <a:xfrm>
            <a:off x="594360" y="5806440"/>
            <a:ext cx="11000232" cy="502920"/>
          </a:xfrm>
          <a:prstGeom prst="rect">
            <a:avLst/>
          </a:prstGeom>
          <a:noFill/>
          <a:ln/>
        </p:spPr>
        <p:txBody>
          <a:bodyPr wrap="square" lIns="0" tIns="0" rIns="0" bIns="0" rtlCol="0" anchor="ctr"/>
          <a:lstStyle/>
          <a:p>
            <a:pPr indent="0" marL="0">
              <a:buNone/>
            </a:pPr>
            <a:r>
              <a:rPr lang="en-US" sz="1800" b="1" dirty="0">
                <a:solidFill>
                  <a:srgbClr val="1C2128"/>
                </a:solidFill>
                <a:latin typeface="Cambria" pitchFamily="34" charset="0"/>
                <a:ea typeface="Cambria" pitchFamily="34" charset="-122"/>
                <a:cs typeface="Cambria" pitchFamily="34" charset="-120"/>
              </a:rPr>
              <a:t>Break points are data, not failure. Hiding that it broke is the only real failure.</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C2128"/>
        </a:solidFill>
      </p:bgPr>
    </p:bg>
    <p:spTree>
      <p:nvGrpSpPr>
        <p:cNvPr id="1" name=""/>
        <p:cNvGrpSpPr/>
        <p:nvPr/>
      </p:nvGrpSpPr>
      <p:grpSpPr>
        <a:xfrm>
          <a:off x="0" y="0"/>
          <a:ext cx="0" cy="0"/>
          <a:chOff x="0" y="0"/>
          <a:chExt cx="0" cy="0"/>
        </a:xfrm>
      </p:grpSpPr>
      <p:sp>
        <p:nvSpPr>
          <p:cNvPr id="2" name="Text 0"/>
          <p:cNvSpPr txBox="1"/>
          <p:nvPr/>
        </p:nvSpPr>
        <p:spPr>
          <a:xfrm>
            <a:off x="594360" y="201168"/>
            <a:ext cx="11000232" cy="256032"/>
          </a:xfrm>
          <a:prstGeom prst="rect">
            <a:avLst/>
          </a:prstGeom>
          <a:noFill/>
          <a:ln/>
        </p:spPr>
        <p:txBody>
          <a:bodyPr wrap="square" lIns="0" tIns="0" rIns="0" bIns="0" rtlCol="0" anchor="ctr"/>
          <a:lstStyle/>
          <a:p>
            <a:pPr indent="0" marL="0">
              <a:buNone/>
            </a:pPr>
            <a:r>
              <a:rPr lang="en-US" sz="1100" b="1" spc="200" kern="0" dirty="0">
                <a:solidFill>
                  <a:srgbClr val="8A949E"/>
                </a:solidFill>
                <a:latin typeface="Calibri" pitchFamily="34" charset="0"/>
                <a:ea typeface="Calibri" pitchFamily="34" charset="-122"/>
                <a:cs typeface="Calibri" pitchFamily="34" charset="-120"/>
              </a:rPr>
              <a:t>DISCUSSION</a:t>
            </a:r>
            <a:endParaRPr lang="en-US" sz="1100" dirty="0"/>
          </a:p>
        </p:txBody>
      </p:sp>
      <p:sp>
        <p:nvSpPr>
          <p:cNvPr id="3" name="Text 1"/>
          <p:cNvSpPr txBox="1"/>
          <p:nvPr/>
        </p:nvSpPr>
        <p:spPr>
          <a:xfrm>
            <a:off x="594360" y="1234440"/>
            <a:ext cx="914400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Three questions</a:t>
            </a:r>
            <a:endParaRPr lang="en-US" sz="3800" dirty="0"/>
          </a:p>
        </p:txBody>
      </p:sp>
      <p:sp>
        <p:nvSpPr>
          <p:cNvPr id="4" name="Text 2"/>
          <p:cNvSpPr txBox="1"/>
          <p:nvPr/>
        </p:nvSpPr>
        <p:spPr>
          <a:xfrm>
            <a:off x="594360" y="2286000"/>
            <a:ext cx="457200" cy="365760"/>
          </a:xfrm>
          <a:prstGeom prst="rect">
            <a:avLst/>
          </a:prstGeom>
          <a:noFill/>
          <a:ln/>
        </p:spPr>
        <p:txBody>
          <a:bodyPr wrap="square" lIns="0" tIns="0" rIns="0" bIns="0" rtlCol="0" anchor="t"/>
          <a:lstStyle/>
          <a:p>
            <a:pPr indent="0" marL="0">
              <a:buNone/>
            </a:pPr>
            <a:r>
              <a:rPr lang="en-US" sz="2000" b="1" dirty="0">
                <a:solidFill>
                  <a:srgbClr val="A85A08"/>
                </a:solidFill>
                <a:latin typeface="Cambria" pitchFamily="34" charset="0"/>
                <a:ea typeface="Cambria" pitchFamily="34" charset="-122"/>
                <a:cs typeface="Cambria" pitchFamily="34" charset="-120"/>
              </a:rPr>
              <a:t>1</a:t>
            </a:r>
            <a:endParaRPr lang="en-US" sz="2000" dirty="0"/>
          </a:p>
        </p:txBody>
      </p:sp>
      <p:sp>
        <p:nvSpPr>
          <p:cNvPr id="5" name="Text 3"/>
          <p:cNvSpPr txBox="1"/>
          <p:nvPr/>
        </p:nvSpPr>
        <p:spPr>
          <a:xfrm>
            <a:off x="1188720" y="2286000"/>
            <a:ext cx="10058400" cy="1005840"/>
          </a:xfrm>
          <a:prstGeom prst="rect">
            <a:avLst/>
          </a:prstGeom>
          <a:noFill/>
          <a:ln/>
        </p:spPr>
        <p:txBody>
          <a:bodyPr wrap="square" lIns="0" tIns="0" rIns="0" bIns="0" rtlCol="0" anchor="t"/>
          <a:lstStyle/>
          <a:p>
            <a:pPr indent="0" marL="0">
              <a:lnSpc>
                <a:spcPct val="125000"/>
              </a:lnSpc>
              <a:buNone/>
            </a:pPr>
            <a:r>
              <a:rPr lang="en-US" sz="1600" dirty="0">
                <a:solidFill>
                  <a:srgbClr val="D7DDE3"/>
                </a:solidFill>
                <a:latin typeface="Calibri" pitchFamily="34" charset="0"/>
                <a:ea typeface="Calibri" pitchFamily="34" charset="-122"/>
                <a:cs typeface="Calibri" pitchFamily="34" charset="-120"/>
              </a:rPr>
              <a:t>Sommerville says there are no right or wrong software processes. Does the same hold for prompting techniques — or is that where the analogy breaks?</a:t>
            </a:r>
            <a:endParaRPr lang="en-US" sz="1600" dirty="0"/>
          </a:p>
        </p:txBody>
      </p:sp>
      <p:sp>
        <p:nvSpPr>
          <p:cNvPr id="6" name="Text 4"/>
          <p:cNvSpPr txBox="1"/>
          <p:nvPr/>
        </p:nvSpPr>
        <p:spPr>
          <a:xfrm>
            <a:off x="594360" y="3520440"/>
            <a:ext cx="457200" cy="365760"/>
          </a:xfrm>
          <a:prstGeom prst="rect">
            <a:avLst/>
          </a:prstGeom>
          <a:noFill/>
          <a:ln/>
        </p:spPr>
        <p:txBody>
          <a:bodyPr wrap="square" lIns="0" tIns="0" rIns="0" bIns="0" rtlCol="0" anchor="t"/>
          <a:lstStyle/>
          <a:p>
            <a:pPr indent="0" marL="0">
              <a:buNone/>
            </a:pPr>
            <a:r>
              <a:rPr lang="en-US" sz="2000" b="1" dirty="0">
                <a:solidFill>
                  <a:srgbClr val="A85A08"/>
                </a:solidFill>
                <a:latin typeface="Cambria" pitchFamily="34" charset="0"/>
                <a:ea typeface="Cambria" pitchFamily="34" charset="-122"/>
                <a:cs typeface="Cambria" pitchFamily="34" charset="-120"/>
              </a:rPr>
              <a:t>2</a:t>
            </a:r>
            <a:endParaRPr lang="en-US" sz="2000" dirty="0"/>
          </a:p>
        </p:txBody>
      </p:sp>
      <p:sp>
        <p:nvSpPr>
          <p:cNvPr id="7" name="Text 5"/>
          <p:cNvSpPr txBox="1"/>
          <p:nvPr/>
        </p:nvSpPr>
        <p:spPr>
          <a:xfrm>
            <a:off x="1188720" y="3520440"/>
            <a:ext cx="10058400" cy="1005840"/>
          </a:xfrm>
          <a:prstGeom prst="rect">
            <a:avLst/>
          </a:prstGeom>
          <a:noFill/>
          <a:ln/>
        </p:spPr>
        <p:txBody>
          <a:bodyPr wrap="square" lIns="0" tIns="0" rIns="0" bIns="0" rtlCol="0" anchor="t"/>
          <a:lstStyle/>
          <a:p>
            <a:pPr indent="0" marL="0">
              <a:lnSpc>
                <a:spcPct val="125000"/>
              </a:lnSpc>
              <a:buNone/>
            </a:pPr>
            <a:r>
              <a:rPr lang="en-US" sz="1600" dirty="0">
                <a:solidFill>
                  <a:srgbClr val="D7DDE3"/>
                </a:solidFill>
                <a:latin typeface="Calibri" pitchFamily="34" charset="0"/>
                <a:ea typeface="Calibri" pitchFamily="34" charset="-122"/>
                <a:cs typeface="Calibri" pitchFamily="34" charset="-120"/>
              </a:rPr>
              <a:t>Is vibe coding agile without discipline, or is it the absence of a process? Our Ch3 prompt is required to say the second. Is that fair?</a:t>
            </a:r>
            <a:endParaRPr lang="en-US" sz="1600" dirty="0"/>
          </a:p>
        </p:txBody>
      </p:sp>
      <p:sp>
        <p:nvSpPr>
          <p:cNvPr id="8" name="Text 6"/>
          <p:cNvSpPr txBox="1"/>
          <p:nvPr/>
        </p:nvSpPr>
        <p:spPr>
          <a:xfrm>
            <a:off x="594360" y="4754880"/>
            <a:ext cx="457200" cy="365760"/>
          </a:xfrm>
          <a:prstGeom prst="rect">
            <a:avLst/>
          </a:prstGeom>
          <a:noFill/>
          <a:ln/>
        </p:spPr>
        <p:txBody>
          <a:bodyPr wrap="square" lIns="0" tIns="0" rIns="0" bIns="0" rtlCol="0" anchor="t"/>
          <a:lstStyle/>
          <a:p>
            <a:pPr indent="0" marL="0">
              <a:buNone/>
            </a:pPr>
            <a:r>
              <a:rPr lang="en-US" sz="2000" b="1" dirty="0">
                <a:solidFill>
                  <a:srgbClr val="A85A08"/>
                </a:solidFill>
                <a:latin typeface="Cambria" pitchFamily="34" charset="0"/>
                <a:ea typeface="Cambria" pitchFamily="34" charset="-122"/>
                <a:cs typeface="Cambria" pitchFamily="34" charset="-120"/>
              </a:rPr>
              <a:t>3</a:t>
            </a:r>
            <a:endParaRPr lang="en-US" sz="2000" dirty="0"/>
          </a:p>
        </p:txBody>
      </p:sp>
      <p:sp>
        <p:nvSpPr>
          <p:cNvPr id="9" name="Text 7"/>
          <p:cNvSpPr txBox="1"/>
          <p:nvPr/>
        </p:nvSpPr>
        <p:spPr>
          <a:xfrm>
            <a:off x="1188720" y="4754880"/>
            <a:ext cx="10058400" cy="1005840"/>
          </a:xfrm>
          <a:prstGeom prst="rect">
            <a:avLst/>
          </a:prstGeom>
          <a:noFill/>
          <a:ln/>
        </p:spPr>
        <p:txBody>
          <a:bodyPr wrap="square" lIns="0" tIns="0" rIns="0" bIns="0" rtlCol="0" anchor="t"/>
          <a:lstStyle/>
          <a:p>
            <a:pPr indent="0" marL="0">
              <a:lnSpc>
                <a:spcPct val="125000"/>
              </a:lnSpc>
              <a:buNone/>
            </a:pPr>
            <a:r>
              <a:rPr lang="en-US" sz="1600" dirty="0">
                <a:solidFill>
                  <a:srgbClr val="D7DDE3"/>
                </a:solidFill>
                <a:latin typeface="Calibri" pitchFamily="34" charset="0"/>
                <a:ea typeface="Calibri" pitchFamily="34" charset="-122"/>
                <a:cs typeface="Calibri" pitchFamily="34" charset="-120"/>
              </a:rPr>
              <a:t>If an AI cannot interview, observe, or negotiate — is "requirements engineering" even the right name for what Ch4 does? What should we call it?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Three Chapters, Three Different Jobs</dc:title>
  <dc:subject>PptxGenJS Presentation</dc:subject>
  <dc:creator>Software Engineering — Structured Prompt Library</dc:creator>
  <cp:lastModifiedBy>Software Engineering — Structured Prompt Library</cp:lastModifiedBy>
  <cp:revision>1</cp:revision>
  <dcterms:created xsi:type="dcterms:W3CDTF">2026-09-17T02:28:14Z</dcterms:created>
  <dcterms:modified xsi:type="dcterms:W3CDTF">2026-09-17T02:28:14Z</dcterms:modified>
</cp:coreProperties>
</file>