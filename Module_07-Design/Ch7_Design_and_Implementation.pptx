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27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.jp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348472" y="1737360"/>
            <a:ext cx="365760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48640" y="2450592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26060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</a:t>
            </a:r>
            <a:endParaRPr lang="en-US" sz="4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 using the UML, design patterns, implementation issues, and open-source development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Engineering, 10th Edition  •  Ian Sommerville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CSCE 5565 — Software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Overview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51206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188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Understand the most important activities in a general, object-oriented design process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Understand some of the different models used to document an object-oriented design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Know about design patterns and how they are a way of reusing design knowledge and experience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Be introduced to key issues in implementing software, including software reuse and open-source development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188720"/>
            <a:ext cx="51206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309360" y="1188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7.1  Object-oriented design using the UML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7.2  Design patterns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7.3  Implementation issues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7.4  Open source development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21945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Design Using the UML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context, architecture, object classes, design models, and interfaces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Object-Oriented Design Using the UML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Are Interleaved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 Design &amp; Implementation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Design is the creative activity of identifying software components and their relationships, based on customer requirements</a:t>
            </a:r>
            <a:endParaRPr lang="en-US" sz="14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Implementation realizes the design as an executable program</a:t>
            </a:r>
            <a:endParaRPr lang="en-US" sz="14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Sometimes design is modeled and documented separately; other times it exists only in the programmer's head or a rough sketch</a:t>
            </a:r>
            <a:endParaRPr lang="en-US" sz="14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Design and implementation are closely linked, and implementation issues should be considered when developing a design</a:t>
            </a:r>
            <a:endParaRPr lang="en-US" sz="14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UML documentation suits an object-oriented language like Java or C#</a:t>
            </a:r>
            <a:endParaRPr lang="en-US" sz="14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It is less useful for a dynamically typed language like Python, and makes no sense for configuring an off-the-shelf package</a:t>
            </a:r>
            <a:endParaRPr lang="en-US" sz="14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key early decision: buy or build?</a:t>
            </a:r>
            <a:endParaRPr lang="en-US" sz="14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Commercial off-the-shelf (COTS) systems can be adapted and tailored to requirements</a:t>
            </a:r>
            <a:endParaRPr lang="en-US" sz="14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Can be cheaper and faster than developing from scratch — design then focuses on configuring the COTS system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Concept to Object-Oriented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 Design Process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617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3761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62456" y="1234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Context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4242816" y="1234440"/>
            <a:ext cx="7397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define the context and the external interactions with the system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4485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48640" y="22448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362456" y="2103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Architecture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242816" y="2103120"/>
            <a:ext cx="7397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overall system architecture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1353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8640" y="31135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62456" y="2971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Objects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4242816" y="2971800"/>
            <a:ext cx="7397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principal objects in the system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98221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48640" y="39822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362456" y="3840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Models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4242816" y="3840480"/>
            <a:ext cx="7397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design models showing object classes and their relationships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485089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48640" y="48508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362456" y="4709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Interfaces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4242816" y="4709160"/>
            <a:ext cx="7397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interfaces between the components in the design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The Wireless Weather Station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 Case Study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Design is not a clear-cut, sequential process</a:t>
            </a:r>
            <a:endParaRPr lang="en-US" sz="15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You develop a design by getting ideas, proposing solutions, and refining them as information becomes available</a:t>
            </a:r>
            <a:endParaRPr lang="en-US" sz="15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All five activities are interleaved and influence each other — expect to backtrack and retry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Sommerville illustrates the process using the wilderness weather station introduced in Chapter 1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Weather stations are deployed in remote areas; each records local weather information and periodically transfers it to a weather information system via a satellite link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This case study is used throughout the rest of the chapter to show context models, architecture, objects, design models, and interfaces in practice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7.1.1 System Context &amp; Interactions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88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system context model is a structural model demonstrating the other systems in the environment of the system being designed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An interaction model is a dynamic model showing how the system interacts with its environment as it is used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context may be shown as a simple block diagram, with associations and cardinality between entities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955280" y="155448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95528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560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035040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869680" y="2560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869680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52360" y="374904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452360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 flipH="1">
            <a:off x="6949440" y="2148840"/>
            <a:ext cx="1188720" cy="41148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686800" y="2148840"/>
            <a:ext cx="822960" cy="41148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949440" y="3246120"/>
            <a:ext cx="2834640" cy="9144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223760" y="3246120"/>
            <a:ext cx="914400" cy="50292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H="1">
            <a:off x="8686800" y="3246120"/>
            <a:ext cx="822960" cy="50292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7.1 — System context for the weather station (cardinalities omitted for clarity)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7.1.1 System Context &amp; Interactions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8872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Interactions with the environment are modeled abstractly using a use case model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Each possible interaction is named in an ellipse; the external entity is a stick figure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weather station interacts with the Weather Information System to report data and status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Control System issues specific weather station control commands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A"/>
                </a:solidFill>
              </a:rPr>
              <a:t>●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Info.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138160" y="11887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13816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Weather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138160" y="178308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13816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Status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 flipV="1">
            <a:off x="6858000" y="1417320"/>
            <a:ext cx="1280160" cy="45720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58000" y="1463040"/>
            <a:ext cx="1280160" cy="548640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67512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A"/>
                </a:solidFill>
              </a:rPr>
              <a:t>●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138160" y="265176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13816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 flipV="1">
            <a:off x="6858000" y="2852928"/>
            <a:ext cx="1280160" cy="393192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138160" y="31546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13816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58000" y="3246120"/>
            <a:ext cx="1280160" cy="109728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138160" y="365760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8138160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58000" y="3246120"/>
            <a:ext cx="1280160" cy="612648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138160" y="416052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8138160" y="416052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Powersave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858000" y="3246120"/>
            <a:ext cx="1280160" cy="1115568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138160" y="466344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8138160" y="466344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58000" y="3246120"/>
            <a:ext cx="1280160" cy="1618488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5486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7.2 — Weather station use cases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Describing Use Cases in Structured 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7.1.1 System Context &amp; Interactions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887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should be described in structured natural language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helps designers identify objects in the system and understand what it is intended to 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format identifies: what information is exchanged, how the interaction is initiated, and so 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173736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0" y="2743200"/>
            <a:ext cx="9354312" cy="411480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286000" y="2743200"/>
            <a:ext cx="9354312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station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173736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0" y="3154680"/>
            <a:ext cx="9354312" cy="411480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2286000" y="3154680"/>
            <a:ext cx="9354312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weather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66160"/>
            <a:ext cx="173736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286000" y="3566160"/>
            <a:ext cx="9354312" cy="411480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2286000" y="3566160"/>
            <a:ext cx="9354312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information system, Weather station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977640"/>
            <a:ext cx="1737360" cy="64008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0" y="3977640"/>
            <a:ext cx="9354312" cy="640080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2286000" y="3977640"/>
            <a:ext cx="935431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Max/min/average ground &amp; air temperatures, pressures, wind speeds; total rainfall; wind direction at 5-minute intervals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617720"/>
            <a:ext cx="173736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48640" y="4617720"/>
            <a:ext cx="1737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86000" y="4617720"/>
            <a:ext cx="9354312" cy="502920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286000" y="4617720"/>
            <a:ext cx="935431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information system establishes a satellite link and requests transmission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5120640"/>
            <a:ext cx="173736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5120640"/>
            <a:ext cx="1737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286000" y="5120640"/>
            <a:ext cx="9354312" cy="411480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2286000" y="5120640"/>
            <a:ext cx="9354312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summarized data is sent to the weather information system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48640" y="5532120"/>
            <a:ext cx="173736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548640" y="5532120"/>
            <a:ext cx="1737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286000" y="5532120"/>
            <a:ext cx="9354312" cy="502920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2286000" y="5532120"/>
            <a:ext cx="935431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usually report once per hour, but frequency may differ and be modified in future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7.3 — Use case description: Report weather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7.1.2 Architectural Design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887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Once interactions with the environment are defined, this becomes the basis for designing the system architecture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Identify major components and organize them using an architectural pattern (e.g., layered, client-server)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weather station is composed of independent subsystems that communicate by broadcasting messages on a common infrastructure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920240" y="301752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920240" y="3017520"/>
            <a:ext cx="1874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«subsystem»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023360" y="301752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023360" y="3017520"/>
            <a:ext cx="1874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«subsystem»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301752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126480" y="3017520"/>
            <a:ext cx="1874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«subsystem»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11091672" cy="4114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48640" y="38862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Link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920240" y="457200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920240" y="4572000"/>
            <a:ext cx="1874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«subsystem»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857500" y="3566160"/>
            <a:ext cx="9144" cy="32004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857500" y="4297680"/>
            <a:ext cx="9144" cy="27432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023360" y="457200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023360" y="4572000"/>
            <a:ext cx="1874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«subsystem»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60620" y="3566160"/>
            <a:ext cx="9144" cy="32004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960620" y="4297680"/>
            <a:ext cx="9144" cy="27432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126480" y="457200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126480" y="4572000"/>
            <a:ext cx="1874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«subsystem»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063740" y="3566160"/>
            <a:ext cx="9144" cy="32004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063740" y="4297680"/>
            <a:ext cx="9144" cy="27432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48640" y="5303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7.4 — High-level architecture of the weather station: independent subsystems broadcast on a shared communication link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easy to support different subsystem configurations — the sender does not need to address a message to a particular subsystem.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Subsystem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7.1.2 Architectural Design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8872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Figure 7.5 zooms into the Data Collection subsystem from Figure 7.4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Transmitter and Receiver objects manage communications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WeatherData object encapsulates the information collected from the instruments and transmitted to the weather information system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This arrangement follows the producer–consumer pattern (discussed later, Chapter 20)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49440" y="1463040"/>
            <a:ext cx="31089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49440" y="1463040"/>
            <a:ext cx="31089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0" name="Shape 7"/>
          <p:cNvSpPr/>
          <p:nvPr/>
        </p:nvSpPr>
        <p:spPr>
          <a:xfrm>
            <a:off x="6949440" y="1463040"/>
            <a:ext cx="1280160" cy="3657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94944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0" y="20116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13232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0" y="20116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68680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63840" y="288036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86384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WeatherData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 flipV="1">
            <a:off x="7726680" y="2514600"/>
            <a:ext cx="411480" cy="3657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H="1" flipV="1">
            <a:off x="8869680" y="2514600"/>
            <a:ext cx="365760" cy="3657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486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7.5 — Architecture of the data collection subsystem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Object Classes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7.1.3 Object Class Identification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By this stage in the design process, you should have ideas about the essential objects, refined as understanding develops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There have been various proposals for identifying object classes: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Grammatical analysis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Analyze a natural-language description: objects/attributes are nouns, operations/services are verbs (Abbott, 1983)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Tangible entities in the application domain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Things like aircraft, roles like manager or doctor, events like requests, locations like offices, organizational units like companies (Coad &amp; Yourdon; Shlaer &amp; Mellor; Wirfs-Brock et al.)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Scenario-based analysis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Identify and analyze scenarios of system use; as each scenario is analyzed, identify required objects, attributes, and operations (Beck &amp; Cunningham, 1989)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 practice, you use several knowledge sources together — the informal description, domain knowledge, and scenario analysis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Station Object Classes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7.1.3 Object Class Identification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194560" y="1188720"/>
            <a:ext cx="237744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194560" y="1188720"/>
            <a:ext cx="2377440" cy="2926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19456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WeatherStation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267712" y="1481328"/>
            <a:ext cx="2231136" cy="192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94560" y="1673328"/>
            <a:ext cx="2377440" cy="9144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2267712" y="1673328"/>
            <a:ext cx="2231136" cy="13441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reportWeather()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reportStatus()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powerSave(instr)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remoteControl(cmd)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reconfigure(cmd)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restart(instr)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shutdown(instr)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029200" y="1188720"/>
            <a:ext cx="237744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029200" y="1188720"/>
            <a:ext cx="2377440" cy="2926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02920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WeatherData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102352" y="1481328"/>
            <a:ext cx="2231136" cy="84342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airTemperatures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groundTemperatures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windSpeeds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windDirections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029200" y="2324757"/>
            <a:ext cx="2377440" cy="9144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102352" y="2324757"/>
            <a:ext cx="2231136" cy="28128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collect()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summarize()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" y="3337560"/>
            <a:ext cx="20574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3337560"/>
            <a:ext cx="2057400" cy="420624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333756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Thermometer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" y="3758184"/>
            <a:ext cx="1911096" cy="3839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gt_Ident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48640" y="4142136"/>
            <a:ext cx="2057400" cy="9144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21792" y="4142136"/>
            <a:ext cx="1911096" cy="3841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834640" y="3337560"/>
            <a:ext cx="20574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834640" y="3337560"/>
            <a:ext cx="2057400" cy="2926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834640" y="33375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Anemometer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2907792" y="3630168"/>
            <a:ext cx="1911096" cy="537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an_Ident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windSpeed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windDirection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834640" y="4167728"/>
            <a:ext cx="2057400" cy="9144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2907792" y="4167728"/>
            <a:ext cx="1911096" cy="3585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120640" y="3337560"/>
            <a:ext cx="20574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120640" y="3337560"/>
            <a:ext cx="2057400" cy="2926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5120640" y="33375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Barometer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93792" y="3630168"/>
            <a:ext cx="1911096" cy="537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bar_Ident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120640" y="4167728"/>
            <a:ext cx="2057400" cy="9144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5193792" y="4167728"/>
            <a:ext cx="1911096" cy="3585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test()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7635240" y="333756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WeatherStation provides the basic interface with its environment (operations reflect Figure 7.2)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WeatherData processes the Report Weather command, sending summarized data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Ground thermometer, Anemometer, and Barometer are tangible instrument classes that collect data autonomously and store it locally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7.6 — Weather station objects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Models: Structural &amp; Dynamic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7.1.4 Design Models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Design models are the bridge between system requirements and implementation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Abstract enough to hide unnecessary detail, but detailed enough for programmers to make implementation decisions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UML supports 13 types of models — you rarely need them all; minimize the models you produce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Two kinds of design model: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Structural models</a:t>
            </a:r>
            <a:endParaRPr lang="en-US" sz="13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Describe the static structure using object classes and relationships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Generalization (inheritance), uses/used-by, and composition relationships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Dynamic models</a:t>
            </a:r>
            <a:endParaRPr lang="en-US" sz="13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Describe the dynamic structure and interactions between objects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Sequence of service requests, and state changes triggered by those interactions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Three models especially useful early on: subsystem models, sequence models, and state machine models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7.1.4 Design Models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430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Sequence models are dynamic models showing the sequence of object interactions for each mode of interaction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Produce one sequence model per significant interaction / use case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Read top to bottom: an external request triggers a chain of synchronous and asynchronous messages across objects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28600" y="237744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2860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:WeatherInfoSys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9144" cy="3200400"/>
          </a:xfrm>
          <a:prstGeom prst="line">
            <a:avLst/>
          </a:prstGeom>
          <a:noFill/>
          <a:ln w="15875">
            <a:solidFill>
              <a:srgbClr val="C9D4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148840" y="237744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21488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:SatComms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43200" y="2743200"/>
            <a:ext cx="9144" cy="3200400"/>
          </a:xfrm>
          <a:prstGeom prst="line">
            <a:avLst/>
          </a:prstGeom>
          <a:noFill/>
          <a:ln w="15875">
            <a:solidFill>
              <a:srgbClr val="C9D4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34840" y="237744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4348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:WeatherStation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0" y="2743200"/>
            <a:ext cx="9144" cy="3200400"/>
          </a:xfrm>
          <a:prstGeom prst="line">
            <a:avLst/>
          </a:prstGeom>
          <a:noFill/>
          <a:ln w="15875">
            <a:solidFill>
              <a:srgbClr val="C9D4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20840" y="237744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7208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:Commslink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315200" y="2743200"/>
            <a:ext cx="9144" cy="3200400"/>
          </a:xfrm>
          <a:prstGeom prst="line">
            <a:avLst/>
          </a:prstGeom>
          <a:noFill/>
          <a:ln w="15875">
            <a:solidFill>
              <a:srgbClr val="C9D4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732520" y="237744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73252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:WeatherData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326880" y="2743200"/>
            <a:ext cx="9144" cy="3200400"/>
          </a:xfrm>
          <a:prstGeom prst="line">
            <a:avLst/>
          </a:prstGeom>
          <a:noFill/>
          <a:ln w="15875">
            <a:solidFill>
              <a:srgbClr val="C9D4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22960" y="3063240"/>
            <a:ext cx="1920240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822960" y="28254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request(report)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0" y="3566160"/>
            <a:ext cx="2286000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2743200" y="33284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reportWeather()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029200" y="4069080"/>
            <a:ext cx="2286000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029200" y="38313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get(summary)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315200" y="4572000"/>
            <a:ext cx="2011680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315200" y="43342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summarize()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0" y="5394960"/>
            <a:ext cx="2286000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2743200" y="51572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send(report)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22960" y="5760720"/>
            <a:ext cx="1920240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822960" y="55229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reply(report)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7.7 — Sequence diagram describing data collection (simplified)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Machine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7.1.4 Design Models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515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machine model shows how an object changes state in response to messages/events, using UML state diagrams (Harel, 1987)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a high-level summary — not every object needs one; most are simple enough that a state model adds unnecessary detail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30175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30175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2918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42062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42976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29184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1840" y="53035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291840" y="53035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44805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85216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52160" y="30175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85216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91840" y="21031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32918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 flipV="1">
            <a:off x="1508760" y="2788920"/>
            <a:ext cx="9144" cy="22860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194560" y="3246120"/>
            <a:ext cx="1097280" cy="914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219456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restart()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822960" y="3474720"/>
            <a:ext cx="9144" cy="7315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5720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reconfigure()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powerSave()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977640" y="3474720"/>
            <a:ext cx="9144" cy="8229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023360" y="3493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977640" y="4754880"/>
            <a:ext cx="9144" cy="5486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06908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reportWeather()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 flipV="1">
            <a:off x="4663440" y="4754880"/>
            <a:ext cx="1188720" cy="6400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 flipV="1">
            <a:off x="6537960" y="3474720"/>
            <a:ext cx="9144" cy="10058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58368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complete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 flipH="1">
            <a:off x="4663440" y="3246120"/>
            <a:ext cx="1188720" cy="914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475488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reportStatus()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 flipV="1">
            <a:off x="3977640" y="2560320"/>
            <a:ext cx="9144" cy="3657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4069080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remoteControl()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7.8 — Weather station state diagram (simplified): Shutdown → Running → {Collecting → Summarizing → Transmitting} / {Testing → Transmitting} / Configuring / Controlled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Specification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7.1.5 Interface Specification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8872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Specifying interfaces lets objects and subsystems be designed in parallel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Once an interface is specified, other developers may assume it will be implemented as specified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Interfaces are specified in the UML using class-diagram notation, but with no attribute section and the «interface» stereotype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Don't include data representation details — this keeps the design maintainable, since the representation can change without affecting users of the interface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There isn't a simple 1:1 relationship between objects and interfaces — the same object may expose several interfaces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4663440" cy="4114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4114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85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" y="4526280"/>
            <a:ext cx="4663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40080" y="4526280"/>
            <a:ext cx="4480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weatherReport(WS-Ident): Wreport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statusReport(WS-Ident): Sreport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17920" y="4114800"/>
            <a:ext cx="4663440" cy="4114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217920" y="4114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85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217920" y="4526280"/>
            <a:ext cx="4663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309360" y="4526280"/>
            <a:ext cx="4480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startInstrument(instrument): iStatus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stopInstrument(instrument): iStatus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collectData(instrument): iStatus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provideData(instrument): string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86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7.9 — Weather station interfaces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21945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design knowledge and experience across problems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Design Patterns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Design Pattern?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7.2 Design Patterns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Design patterns originate from Christopher Alexander's idea of common, pleasing, effective patterns in building design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pattern is a description of a problem and the essence of its solution, so the solution may be reused in different settings — not a detailed specification, but accumulated wisdom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'Gang of Four' (Gamma et al., 1995) defined four essential elements of a design pattern: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Name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 meaningful reference to the pattern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Problem description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Explains when the pattern may be applied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Solution description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parts of the design solution, their relationships and responsibilities — a reusable template, often expressed graphically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Consequences</a:t>
            </a:r>
            <a:endParaRPr lang="en-US" sz="13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results and trade-offs of applying the pattern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The Observer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7.2 Observer Pattern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Name: Observer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Description</a:t>
            </a:r>
            <a:endParaRPr lang="en-US" sz="12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Separates the display of an object's state from the object itself, and allows alternative displays. When state changes, all displays are automatically notified and updated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Problem</a:t>
            </a:r>
            <a:endParaRPr lang="en-US" sz="12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You must provide multiple displays of state information (e.g., graphical and tabular); all displays must stay updated when state changes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Solution</a:t>
            </a:r>
            <a:endParaRPr lang="en-US" sz="12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Two abstract classes: Subject and Observer, plus concrete classes ConcreteSubject and ConcreteObserver</a:t>
            </a:r>
            <a:endParaRPr lang="en-US" sz="125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ConcreteSubject maintains the state and notifies registered Observers of changes</a:t>
            </a:r>
            <a:endParaRPr lang="en-US" sz="12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ConcreteObserver keeps a copy of the state and implements Update() to refresh its display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Consequences</a:t>
            </a:r>
            <a:endParaRPr lang="en-US" sz="12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subject only knows the abstract Observer — minimal coupling, but optimizations across display types are impractical; may generate unnecessary updates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 Pattern: UML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7.2 Design Patterns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05840" y="1280160"/>
            <a:ext cx="23774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05840" y="1280160"/>
            <a:ext cx="237744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00584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78992" y="1600200"/>
            <a:ext cx="2231136" cy="5212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Attach(Observer)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Detach(Observer)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Notify()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120640" y="1280160"/>
            <a:ext cx="23774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120640" y="1280160"/>
            <a:ext cx="237744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12064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193792" y="1600200"/>
            <a:ext cx="2231136" cy="3566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 flipV="1">
            <a:off x="3383280" y="1737360"/>
            <a:ext cx="1737360" cy="1371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3017520"/>
            <a:ext cx="265176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3017520"/>
            <a:ext cx="265176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40080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ConcreteSubject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" y="3337560"/>
            <a:ext cx="2505456" cy="5212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GetState()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3858768"/>
            <a:ext cx="2651760" cy="9144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13232" y="3858768"/>
            <a:ext cx="250545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subjectState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3017520"/>
            <a:ext cx="29260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54880" y="3017520"/>
            <a:ext cx="2926080" cy="3200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7548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ConcreteObserver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828032" y="3337560"/>
            <a:ext cx="2779776" cy="5212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54880" y="3858768"/>
            <a:ext cx="2926080" cy="9144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828032" y="3858768"/>
            <a:ext cx="27797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observerState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 flipV="1">
            <a:off x="1920240" y="2468880"/>
            <a:ext cx="274320" cy="5486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 flipV="1">
            <a:off x="6035040" y="2194560"/>
            <a:ext cx="274320" cy="8229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356616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o in observers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-&gt; Update()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observerState =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-&gt; GetState()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44805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Subject knows only the abstract Observer interface (loose coupling)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ConcreteSubject holds subjectState and notifies via inherited Attach/Detach/Notify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ConcreteObserver implements Update() and pulls the latest state from the subject it observes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7.12 — A UML model of the Observer pattern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Patterns: Benefits &amp; Challenges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7.2 Design Patterns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Support high-level, concept reuse — you reuse the idea, but adapt the implementation to your system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Give designers a shared vocabulary for describing a design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Avoid the constraints of reusing executable components, whose algorithms and interfaces may conflict with your requirements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Examples: Observer (notify of state change), Façade (tidy up related interfaces), Iterator (standard way to access a collection), Decorator (extend functionality at run time)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323076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Patterns require software design experience to use effectively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Inexperienced programmers struggle to recognize when a pattern applies, even having read the pattern books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Hard to know in advance which pattern you'll need — often you design, hit a problem, then recognize a pattern fits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Hundreds of published patterns exist beyond the 23 'Gang of Four' general-purpose patterns, making the right choice harder to find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21945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Issues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Reuse, configuration management, and host-target development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Implementation Issues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Issues Beyond Programming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7.3 Implementation Issues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This chapter is language-independent, so it does not cover good programming practice — instead it highlights issues often missing from programming texts: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Reuse</a:t>
            </a:r>
            <a:endParaRPr lang="en-US" sz="150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Most modern software is constructed by reusing existing components or systems — make as much use of existing code as possible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Configuration management</a:t>
            </a:r>
            <a:endParaRPr lang="en-US" sz="150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Many versions of each component are created during development; without tracking them, you risk including the wrong versions in your system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Host-target development</a:t>
            </a:r>
            <a:endParaRPr lang="en-US" sz="150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Production software usually doesn't execute on the same computer used to develop it — you develop on a host system and execute on a separate target system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of Software Reuse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7.3.1 Reuse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4475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444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62456" y="12344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 Level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4242816" y="1234440"/>
            <a:ext cx="7397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reuse software directly, but reuse knowledge of successful abstractions — design patterns and architectural patterns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45059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48640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362456" y="2240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Level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242816" y="2240280"/>
            <a:ext cx="7397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reuse objects from a library (e.g., a JavaMail library for processing mail messages in Java)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45643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8640" y="3456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62456" y="3246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Level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4242816" y="3246120"/>
            <a:ext cx="7397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collections of objects/classes that operate together, often adapting and extending with your own code (e.g., a UI framework)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46227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48640" y="4462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362456" y="4251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Level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4242816" y="4251960"/>
            <a:ext cx="7397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entire application systems — typically COTS systems that are configured, adapted, and sometimes integrated together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Reuse: Benefits vs. Costs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7.3.1 Reuse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Develop new systems more quickly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Fewer development risks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Lower overall development costs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Reused software has already been tested in other applications, so it should be more reliable than new code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323076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Time spent searching for and assessing reusable software against your needs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Possibly testing the software to confirm it works in your environment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Buying the reusable software, where applicable — large COTS systems can be very expensive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Adapting and configuring reusable components or systems to your requirements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Integrating reusable elements with each other and with new code — especially hard when providers make conflicting assumptions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7.3.2 Configuration Management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 software development, change happens all the time — change management is absolutely essential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Configuration management supports the system integration process so that all developers can access project code and documents in a controlled way, track changes, and compile/link components to create a system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Three fundamental activities: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Version management</a:t>
            </a:r>
            <a:endParaRPr lang="en-US" sz="12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Keep track of different versions of each software component; coordinate development so one programmer doesn't overwrite another's submitted work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System integration</a:t>
            </a:r>
            <a:endParaRPr lang="en-US" sz="12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Define what versions of components are used to create each version of a system; build the system automatically by compiling and linking the required components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Problem tracking</a:t>
            </a:r>
            <a:endParaRPr lang="en-US" sz="125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Allow users to report bugs and other problems, and let all developers see who is working on them and when they're fixed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Tools: integrated systems like ClearCase, or separate tools such as Subversion (version management), the GNU build system / Unix make (integration), and Bugzilla (problem tracking)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Host-Target Development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7.3.3 Host-Target Development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Most software development is based on a host-target model: software is developed on one computer (the host) and runs on a separate machine (the target)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platform is more than hardware — it includes the installed OS plus supporting software (e.g., a DBMS, or an IDE for development platforms)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Simulators are often used for embedded systems</a:t>
            </a:r>
            <a:endParaRPr lang="en-US" sz="120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Simulate hardware devices (sensors) and environmental events</a:t>
            </a:r>
            <a:endParaRPr lang="en-US" sz="1200" dirty="0"/>
          </a:p>
          <a:p>
            <a:pPr marL="0" lvl="1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Speed up development since each developer can have their own execution platform</a:t>
            </a:r>
            <a:endParaRPr lang="en-US" sz="120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Expensive to develop — only usually available for the most popular hardware architectures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development platform should provide: an integrated compiler/editor, a debugger, graphical UML editing tools, testing tools (e.g., JUnit), and project support tools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Tools are often grouped into an Integrated Development Environment (IDE)</a:t>
            </a:r>
            <a:endParaRPr lang="en-US" sz="120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best-known general-purpose IDE is Eclipse, based on a plug-in architecture so it can be specialized for different languages and domains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Deployment decisions consider: hardware/software requirements of a component, availability requirements (redundant platforms), and component communications (co-locate high-traffic components) — documented using UML deployment diagrams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21945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 Development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source code and inviting volunteer participation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Open Source Development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Open Source Development?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7.4 Open Source Development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An approach to software development in which the source code of a system is published, and volunteers are invited to participate in the development process (Raymond, 2001)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Roots: the Free Software Foundation — source code should not be proprietary and should always be available for users to examine and modify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Open source extended this by using the Internet to recruit a much larger population of volunteer developers; many are also users of the code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 principle, any contributor may report and fix bugs and propose new features — in practice, successful projects still rely on a core group of developers who control changes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Best-known examples: Linux, Java, the Apache web server, and MySQL — major players like IBM and Sun support and base software on open source products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Benefits: usually free or cheap to acquire; mature projects tend to be very reliable, since a large user population finds and fixes bugs faster than typical proprietary release cycles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 Decisions &amp; Licensing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7.4.1 Open Source Licensing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4300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Two questions a company must answer: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Should the product being developed make use of open source components?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Should an open source approach be used for the software's own development?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Source code being free does not mean anyone can do as they wish with it — the developer still legally owns the code and can place binding conditions in an open source license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514344" cy="5029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3200400"/>
            <a:ext cx="3514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3514344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58368" y="3794760"/>
            <a:ext cx="3294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General Public License</a:t>
            </a:r>
            <a:endParaRPr lang="en-US" sz="10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Reciprocal: if you use GPL-licensed software to build a new system, that system must also be made open source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37304" y="3200400"/>
            <a:ext cx="3514344" cy="5029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337304" y="3200400"/>
            <a:ext cx="3514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LGPL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337304" y="3703320"/>
            <a:ext cx="3514344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447032" y="3794760"/>
            <a:ext cx="3294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Lesser General Public License</a:t>
            </a:r>
            <a:endParaRPr lang="en-US" sz="10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variant of GPL: you can link to open source code without publishing your own source — unless you change the licensed component itself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25968" y="3200400"/>
            <a:ext cx="3514344" cy="5029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125968" y="3200400"/>
            <a:ext cx="3514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BSD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125968" y="3703320"/>
            <a:ext cx="3514344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235696" y="3794760"/>
            <a:ext cx="3294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Standard Distribution License</a:t>
            </a:r>
            <a:endParaRPr lang="en-US" sz="10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Non-reciprocal: you are not obliged to republish changes; code can be included in proprietary systems sold commercially (with attribution)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16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Software design and implementation are interleaved activities; the level of design detail depends on the system type and whether you use a plan-driven or agile approach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object-oriented design process includes designing the system architecture, identifying objects, describing the design with different object models, and documenting component interfaces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Design models include static models (class, generalization, association) and dynamic models (sequence, state machine)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Component interfaces must be defined precisely so other objects can use them; the UML «interface» stereotype is used to define interfaces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design pattern is a reusable description of a problem and the essence of its solution — it supports high-level, concept reuse and gives designers a shared vocabulary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Always consider reusing existing software — as components, services, or complete systems — before building from scratch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Configuration management (version management, system integration, problem tracking) is essential whenever a team cooperates on evolving software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Most development is host-target development: you develop on a host machine and transfer to a target machine for execution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Open source development makes source code publicly available so that many people can propose changes and improvements — but usage is still governed by licensing terms (GPL, LGPL, BSD)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Design and Implementation   •   Key Points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3938</Words>
  <Application>Microsoft Office PowerPoint</Application>
  <PresentationFormat>Custom</PresentationFormat>
  <Paragraphs>496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Whitworth, Clifford</cp:lastModifiedBy>
  <cp:revision>2</cp:revision>
  <dcterms:created xsi:type="dcterms:W3CDTF">2026-10-08T02:46:24Z</dcterms:created>
  <dcterms:modified xsi:type="dcterms:W3CDTF">2026-10-08T02:52:25Z</dcterms:modified>
</cp:coreProperties>
</file>